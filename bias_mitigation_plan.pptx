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9"/>
    <p:sldId id="269" r:id="rId20"/>
    <p:sldId id="270" r:id="rId21"/>
    <p:sldId id="271" r:id="rId22"/>
    <p:sldId id="272" r:id="rId23"/>
    <p:sldId id="273" r:id="rId24"/>
    <p:sldId id="274" r:id="rId2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Actual rate in the data</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Sheet1!$B$2:$B$3</c:f>
              <c:numCache>
                <c:formatCode>General</c:formatCode>
                <c:ptCount val="2"/>
                <c:pt idx="0">
                  <c:v>0.3125</c:v>
                </c:pt>
                <c:pt idx="1">
                  <c:v>0.1136</c:v>
                </c:pt>
              </c:numCache>
            </c:numRef>
          </c:val>
          <c:extLst>
            <c:ext xmlns:c16="http://schemas.microsoft.com/office/drawing/2014/chart" uri="{C3380CC4-5D6E-409C-BE32-E72D297353CC}">
              <c16:uniqueId val="{00000000-5D59-450D-AF6F-7F1F205983AF}"/>
            </c:ext>
          </c:extLst>
        </c:ser>
        <c:ser>
          <c:idx val="1"/>
          <c:order val="1"/>
          <c:tx>
            <c:strRef>
              <c:f>Sheet1!$C$1</c:f>
              <c:strCache>
                <c:ptCount val="1"/>
                <c:pt idx="0">
                  <c:v>Baseline model's predicted rate</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Sheet1!$C$2:$C$3</c:f>
              <c:numCache>
                <c:formatCode>General</c:formatCode>
                <c:ptCount val="2"/>
                <c:pt idx="0">
                  <c:v>0.2668</c:v>
                </c:pt>
                <c:pt idx="1">
                  <c:v>0.0801</c:v>
                </c:pt>
              </c:numCache>
            </c:numRef>
          </c:val>
          <c:extLst>
            <c:ext xmlns:c16="http://schemas.microsoft.com/office/drawing/2014/chart" uri="{C3380CC4-5D6E-409C-BE32-E72D297353CC}">
              <c16:uniqueId val="{00000000-5D59-450D-AF6F-7F1F205983AF}"/>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legend>
      <c:overlay val="0"/>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Achievable frontier</c:v>
                </c:pt>
              </c:strCache>
            </c:strRef>
          </c:tx>
          <c:spPr>
            <a:ln w="38100" cap="flat">
              <a:solidFill>
                <a:srgbClr val="E8A33D"/>
              </a:solidFill>
              <a:prstDash val="solid"/>
              <a:round/>
            </a:ln>
            <a:effectLst/>
          </c:spPr>
          <c:marker>
            <c:symbol val="circle"/>
            <c:size val="7"/>
            <c:spPr>
              <a:solidFill>
                <a:srgbClr val="E8A33D"/>
              </a:solidFill>
              <a:ln w="9525" cap="flat">
                <a:solidFill>
                  <a:srgbClr val="E8A33D"/>
                </a:solidFill>
                <a:prstDash val="solid"/>
                <a:round/>
              </a:ln>
              <a:effectLst/>
            </c:spPr>
          </c:marker>
          <c:dLbls>
            <c:numFmt formatCode="0%" sourceLinked="0"/>
            <c:spPr>
              <a:noFill/>
              <a:ln>
                <a:noFill/>
              </a:ln>
              <a:effectLst/>
            </c:spPr>
            <c:txPr>
              <a:bodyPr/>
              <a:lstStyle/>
              <a:p>
                <a:pPr>
                  <a:defRPr sz="1000" b="0" i="0" u="none" strike="noStrike">
                    <a:solidFill>
                      <a:srgbClr val="1E2761"/>
                    </a:solidFill>
                    <a:latin typeface="Aria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ε=0.02</c:v>
                </c:pt>
                <c:pt idx="1">
                  <c:v>ε=0.05</c:v>
                </c:pt>
                <c:pt idx="2">
                  <c:v>ε=0.10</c:v>
                </c:pt>
                <c:pt idx="3">
                  <c:v>ε=0.20</c:v>
                </c:pt>
                <c:pt idx="4">
                  <c:v>Unconstrained</c:v>
                </c:pt>
              </c:strCache>
            </c:strRef>
          </c:cat>
          <c:val>
            <c:numRef>
              <c:f>Sheet1!$B$2:$B$6</c:f>
              <c:numCache>
                <c:formatCode>General</c:formatCode>
                <c:ptCount val="5"/>
                <c:pt idx="0">
                  <c:v>0.79</c:v>
                </c:pt>
                <c:pt idx="1">
                  <c:v>0.81499999999999995</c:v>
                </c:pt>
                <c:pt idx="2">
                  <c:v>0.83499999999999996</c:v>
                </c:pt>
                <c:pt idx="3">
                  <c:v>0.84699999999999998</c:v>
                </c:pt>
                <c:pt idx="4">
                  <c:v>0.85499999999999998</c:v>
                </c:pt>
              </c:numCache>
            </c:numRef>
          </c:val>
          <c:smooth val="0"/>
          <c:extLst>
            <c:ext xmlns:c16="http://schemas.microsoft.com/office/drawing/2014/chart" uri="{C3380CC4-5D6E-409C-BE32-E72D297353CC}">
              <c16:uniqueId val="{00000000-BE20-4B7E-ACDD-B182465962EC}"/>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70963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2103120"/>
            <a:ext cx="5943600" cy="5943600"/>
          </a:xfrm>
          <a:prstGeom prst="ellipse">
            <a:avLst/>
          </a:prstGeom>
          <a:solidFill>
            <a:srgbClr val="26307A"/>
          </a:solidFill>
          <a:ln/>
        </p:spPr>
        <p:txBody>
          <a:bodyPr/>
          <a:lstStyle/>
          <a:p>
            <a:endParaRPr lang="en-US"/>
          </a:p>
        </p:txBody>
      </p:sp>
      <p:sp>
        <p:nvSpPr>
          <p:cNvPr id="3" name="Shape 1"/>
          <p:cNvSpPr/>
          <p:nvPr/>
        </p:nvSpPr>
        <p:spPr>
          <a:xfrm>
            <a:off x="-2560320" y="4572000"/>
            <a:ext cx="4754880" cy="4754880"/>
          </a:xfrm>
          <a:prstGeom prst="ellipse">
            <a:avLst/>
          </a:prstGeom>
          <a:solidFill>
            <a:srgbClr val="26307A"/>
          </a:solidFill>
          <a:ln/>
        </p:spPr>
        <p:txBody>
          <a:bodyPr/>
          <a:lstStyle/>
          <a:p>
            <a:endParaRPr lang="en-US"/>
          </a:p>
        </p:txBody>
      </p:sp>
      <p:sp>
        <p:nvSpPr>
          <p:cNvPr id="4" name="Text 2"/>
          <p:cNvSpPr/>
          <p:nvPr/>
        </p:nvSpPr>
        <p:spPr>
          <a:xfrm>
            <a:off x="822960" y="2331720"/>
            <a:ext cx="10515600" cy="914400"/>
          </a:xfrm>
          <a:prstGeom prst="rect">
            <a:avLst/>
          </a:prstGeom>
          <a:noFill/>
          <a:ln/>
        </p:spPr>
        <p:txBody>
          <a:bodyPr wrap="square"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ALGORITHMIC BIAS MITIGATION</a:t>
            </a:r>
            <a:endParaRPr lang="en-US" sz="4000" dirty="0"/>
          </a:p>
        </p:txBody>
      </p:sp>
      <p:sp>
        <p:nvSpPr>
          <p:cNvPr id="5" name="Text 3"/>
          <p:cNvSpPr/>
          <p:nvPr/>
        </p:nvSpPr>
        <p:spPr>
          <a:xfrm>
            <a:off x="822960" y="3200400"/>
            <a:ext cx="9601200" cy="914400"/>
          </a:xfrm>
          <a:prstGeom prst="rect">
            <a:avLst/>
          </a:prstGeom>
          <a:noFill/>
          <a:ln/>
        </p:spPr>
        <p:txBody>
          <a:bodyPr wrap="square" rtlCol="0" anchor="ctr"/>
          <a:lstStyle/>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An In-Processing, Algorithm-First Approach on the</a:t>
            </a:r>
            <a:endParaRPr lang="en-US" sz="1800" dirty="0"/>
          </a:p>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Adult Census Income Dataset</a:t>
            </a:r>
            <a:endParaRPr lang="en-US" sz="1800" dirty="0"/>
          </a:p>
        </p:txBody>
      </p:sp>
      <p:sp>
        <p:nvSpPr>
          <p:cNvPr id="6" name="Shape 4"/>
          <p:cNvSpPr/>
          <p:nvPr/>
        </p:nvSpPr>
        <p:spPr>
          <a:xfrm>
            <a:off x="822960" y="4251960"/>
            <a:ext cx="502920" cy="54864"/>
          </a:xfrm>
          <a:prstGeom prst="rect">
            <a:avLst/>
          </a:prstGeom>
          <a:solidFill>
            <a:srgbClr val="E8A33D"/>
          </a:solidFill>
          <a:ln/>
        </p:spPr>
        <p:txBody>
          <a:bodyPr/>
          <a:lstStyle/>
          <a:p>
            <a:endParaRPr lang="en-US"/>
          </a:p>
        </p:txBody>
      </p:sp>
      <p:sp>
        <p:nvSpPr>
          <p:cNvPr id="7" name="Text 5"/>
          <p:cNvSpPr/>
          <p:nvPr/>
        </p:nvSpPr>
        <p:spPr>
          <a:xfrm>
            <a:off x="822960" y="4434840"/>
            <a:ext cx="9601200" cy="365760"/>
          </a:xfrm>
          <a:prstGeom prst="rect">
            <a:avLst/>
          </a:prstGeom>
          <a:noFill/>
          <a:ln/>
        </p:spPr>
        <p:txBody>
          <a:bodyPr wrap="square"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Base paper · Agarwal et al. (2018), A Reductions Approach to Fair Classification</a:t>
            </a:r>
            <a:endParaRPr lang="en-US" sz="1300" dirty="0"/>
          </a:p>
        </p:txBody>
      </p:sp>
      <p:sp>
        <p:nvSpPr>
          <p:cNvPr id="8" name="Text 6"/>
          <p:cNvSpPr/>
          <p:nvPr/>
        </p:nvSpPr>
        <p:spPr>
          <a:xfrm>
            <a:off x="822960" y="6035040"/>
            <a:ext cx="9144000" cy="365760"/>
          </a:xfrm>
          <a:prstGeom prst="rect">
            <a:avLst/>
          </a:prstGeom>
          <a:noFill/>
          <a:ln/>
        </p:spPr>
        <p:txBody>
          <a:bodyPr wrap="square" rtlCol="0" anchor="ctr"/>
          <a:lstStyle/>
          <a:p>
            <a:pPr marL="0" indent="0">
              <a:buNone/>
            </a:pPr>
            <a:r>
              <a:rPr lang="en-US" sz="1200" dirty="0">
                <a:solidFill>
                  <a:srgbClr val="8E9BD4"/>
                </a:solidFill>
                <a:latin typeface="Calibri" pitchFamily="34" charset="0"/>
                <a:ea typeface="Calibri" pitchFamily="34" charset="-122"/>
                <a:cs typeface="Calibri" pitchFamily="34" charset="-120"/>
              </a:rPr>
              <a:t>Protected attribute: Sex   ·   Task: Income &gt;$50K vs ≤$50K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Why Algorithmic Bias Matters</a:t>
            </a:r>
            <a:endParaRPr lang="en-US" sz="3000" dirty="0"/>
          </a:p>
        </p:txBody>
      </p:sp>
      <p:sp>
        <p:nvSpPr>
          <p:cNvPr id="3" name="Text 1"/>
          <p:cNvSpPr/>
          <p:nvPr/>
        </p:nvSpPr>
        <p:spPr>
          <a:xfrm>
            <a:off x="640080" y="1097280"/>
            <a:ext cx="10515600" cy="457200"/>
          </a:xfrm>
          <a:prstGeom prst="rect">
            <a:avLst/>
          </a:prstGeom>
          <a:noFill/>
          <a:ln/>
        </p:spPr>
        <p:txBody>
          <a:bodyPr wrap="square" rtlCol="0" anchor="ctr"/>
          <a:lstStyle/>
          <a:p>
            <a:pPr marL="0" indent="0">
              <a:buNone/>
            </a:pPr>
            <a:r>
              <a:rPr lang="en-US" sz="1500" dirty="0">
                <a:solidFill>
                  <a:srgbClr val="5A6270"/>
                </a:solidFill>
                <a:latin typeface="Calibri" pitchFamily="34" charset="0"/>
                <a:ea typeface="Calibri" pitchFamily="34" charset="-122"/>
                <a:cs typeface="Calibri" pitchFamily="34" charset="-120"/>
              </a:rPr>
              <a:t>The same failure pattern repeats wherever a model gates access to something valuable.</a:t>
            </a:r>
            <a:endParaRPr lang="en-US" sz="1500" dirty="0"/>
          </a:p>
        </p:txBody>
      </p:sp>
      <p:sp>
        <p:nvSpPr>
          <p:cNvPr id="4" name="Shape 2"/>
          <p:cNvSpPr/>
          <p:nvPr/>
        </p:nvSpPr>
        <p:spPr>
          <a:xfrm>
            <a:off x="64008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5" name="Shape 3"/>
          <p:cNvSpPr/>
          <p:nvPr/>
        </p:nvSpPr>
        <p:spPr>
          <a:xfrm>
            <a:off x="1828800" y="2560320"/>
            <a:ext cx="1005840" cy="1005840"/>
          </a:xfrm>
          <a:prstGeom prst="ellipse">
            <a:avLst/>
          </a:prstGeom>
          <a:solidFill>
            <a:srgbClr val="1E2761"/>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2110435" y="2841955"/>
            <a:ext cx="442570" cy="442570"/>
          </a:xfrm>
          <a:prstGeom prst="rect">
            <a:avLst/>
          </a:prstGeom>
        </p:spPr>
      </p:pic>
      <p:sp>
        <p:nvSpPr>
          <p:cNvPr id="7" name="Text 4"/>
          <p:cNvSpPr/>
          <p:nvPr/>
        </p:nvSpPr>
        <p:spPr>
          <a:xfrm>
            <a:off x="86868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Loan Approvals</a:t>
            </a:r>
            <a:endParaRPr lang="en-US" sz="1700" dirty="0"/>
          </a:p>
        </p:txBody>
      </p:sp>
      <p:sp>
        <p:nvSpPr>
          <p:cNvPr id="8" name="Text 5"/>
          <p:cNvSpPr/>
          <p:nvPr/>
        </p:nvSpPr>
        <p:spPr>
          <a:xfrm>
            <a:off x="96012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Equally qualified applicants get different credit decisions based on a protected attribute.</a:t>
            </a:r>
            <a:endParaRPr lang="en-US" sz="1250" dirty="0"/>
          </a:p>
        </p:txBody>
      </p:sp>
      <p:sp>
        <p:nvSpPr>
          <p:cNvPr id="9" name="Shape 6"/>
          <p:cNvSpPr/>
          <p:nvPr/>
        </p:nvSpPr>
        <p:spPr>
          <a:xfrm>
            <a:off x="434340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0" name="Shape 7"/>
          <p:cNvSpPr/>
          <p:nvPr/>
        </p:nvSpPr>
        <p:spPr>
          <a:xfrm>
            <a:off x="5532120" y="2560320"/>
            <a:ext cx="1005840" cy="100584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5813755" y="2841955"/>
            <a:ext cx="442570" cy="442570"/>
          </a:xfrm>
          <a:prstGeom prst="rect">
            <a:avLst/>
          </a:prstGeom>
        </p:spPr>
      </p:pic>
      <p:sp>
        <p:nvSpPr>
          <p:cNvPr id="12" name="Text 8"/>
          <p:cNvSpPr/>
          <p:nvPr/>
        </p:nvSpPr>
        <p:spPr>
          <a:xfrm>
            <a:off x="457200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Hiring Models</a:t>
            </a:r>
            <a:endParaRPr lang="en-US" sz="1700" dirty="0"/>
          </a:p>
        </p:txBody>
      </p:sp>
      <p:sp>
        <p:nvSpPr>
          <p:cNvPr id="13" name="Text 9"/>
          <p:cNvSpPr/>
          <p:nvPr/>
        </p:nvSpPr>
        <p:spPr>
          <a:xfrm>
            <a:off x="466344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A resume-screening model favors one group over another with comparable qualifications.</a:t>
            </a:r>
            <a:endParaRPr lang="en-US" sz="1250" dirty="0"/>
          </a:p>
        </p:txBody>
      </p:sp>
      <p:sp>
        <p:nvSpPr>
          <p:cNvPr id="14" name="Shape 10"/>
          <p:cNvSpPr/>
          <p:nvPr/>
        </p:nvSpPr>
        <p:spPr>
          <a:xfrm>
            <a:off x="804672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5" name="Shape 11"/>
          <p:cNvSpPr/>
          <p:nvPr/>
        </p:nvSpPr>
        <p:spPr>
          <a:xfrm>
            <a:off x="9235440" y="2560320"/>
            <a:ext cx="1005840" cy="1005840"/>
          </a:xfrm>
          <a:prstGeom prst="ellipse">
            <a:avLst/>
          </a:prstGeom>
          <a:solidFill>
            <a:srgbClr val="1E2761"/>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9517075" y="2841955"/>
            <a:ext cx="442570" cy="442570"/>
          </a:xfrm>
          <a:prstGeom prst="rect">
            <a:avLst/>
          </a:prstGeom>
        </p:spPr>
      </p:pic>
      <p:sp>
        <p:nvSpPr>
          <p:cNvPr id="17" name="Text 12"/>
          <p:cNvSpPr/>
          <p:nvPr/>
        </p:nvSpPr>
        <p:spPr>
          <a:xfrm>
            <a:off x="827532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Insurance Pricing</a:t>
            </a:r>
            <a:endParaRPr lang="en-US" sz="1700" dirty="0"/>
          </a:p>
        </p:txBody>
      </p:sp>
      <p:sp>
        <p:nvSpPr>
          <p:cNvPr id="18" name="Text 13"/>
          <p:cNvSpPr/>
          <p:nvPr/>
        </p:nvSpPr>
        <p:spPr>
          <a:xfrm>
            <a:off x="836676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Premiums or coverage decisions correlate with group membership rather than risk alone.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Is Algorithmic Bias?</a:t>
            </a:r>
            <a:endParaRPr lang="en-US" sz="3000" dirty="0"/>
          </a:p>
        </p:txBody>
      </p:sp>
      <p:sp>
        <p:nvSpPr>
          <p:cNvPr id="3" name="Text 1"/>
          <p:cNvSpPr/>
          <p:nvPr/>
        </p:nvSpPr>
        <p:spPr>
          <a:xfrm>
            <a:off x="640080" y="1371600"/>
            <a:ext cx="5212080" cy="2926080"/>
          </a:xfrm>
          <a:prstGeom prst="rect">
            <a:avLst/>
          </a:prstGeom>
          <a:noFill/>
          <a:ln/>
        </p:spPr>
        <p:txBody>
          <a:bodyPr wrap="square" rtlCol="0" anchor="t"/>
          <a:lstStyle/>
          <a:p>
            <a:pPr marL="0" indent="0">
              <a:lnSpc>
                <a:spcPct val="130000"/>
              </a:lnSpc>
              <a:buNone/>
            </a:pPr>
            <a:r>
              <a:rPr lang="en-US" sz="1550" dirty="0">
                <a:solidFill>
                  <a:srgbClr val="1B1B1F"/>
                </a:solidFill>
                <a:latin typeface="Calibri" pitchFamily="34" charset="0"/>
                <a:ea typeface="Calibri" pitchFamily="34" charset="-122"/>
                <a:cs typeface="Calibri" pitchFamily="34" charset="-120"/>
              </a:rPr>
              <a:t>A model makes systematically unfair predictions for certain groups because it learned biased patterns from training data not from any deliberate design choice.
</a:t>
            </a:r>
            <a:r>
              <a:rPr lang="en-US" sz="1550" dirty="0">
                <a:solidFill>
                  <a:srgbClr val="5A6270"/>
                </a:solidFill>
                <a:latin typeface="Calibri" pitchFamily="34" charset="0"/>
                <a:ea typeface="Calibri" pitchFamily="34" charset="-122"/>
                <a:cs typeface="Calibri" pitchFamily="34" charset="-120"/>
              </a:rPr>
              <a:t>In the Adult Census dataset, historically more men are recorded with income &gt;$50K than women. A classifier trained only to minimize error can absorb that base-rate gap as a shortcut.</a:t>
            </a:r>
            <a:endParaRPr lang="en-US" sz="1550" dirty="0"/>
          </a:p>
        </p:txBody>
      </p:sp>
      <p:sp>
        <p:nvSpPr>
          <p:cNvPr id="4" name="Shape 2"/>
          <p:cNvSpPr/>
          <p:nvPr/>
        </p:nvSpPr>
        <p:spPr>
          <a:xfrm>
            <a:off x="640080" y="4343400"/>
            <a:ext cx="5212080" cy="1691640"/>
          </a:xfrm>
          <a:prstGeom prst="roundRect">
            <a:avLst>
              <a:gd name="adj" fmla="val 5405"/>
            </a:avLst>
          </a:prstGeom>
          <a:solidFill>
            <a:srgbClr val="FBF1E1"/>
          </a:solidFill>
          <a:ln/>
        </p:spPr>
        <p:txBody>
          <a:bodyPr/>
          <a:lstStyle/>
          <a:p>
            <a:endParaRPr lang="en-US"/>
          </a:p>
        </p:txBody>
      </p:sp>
      <p:sp>
        <p:nvSpPr>
          <p:cNvPr id="5" name="Text 3"/>
          <p:cNvSpPr/>
          <p:nvPr/>
        </p:nvSpPr>
        <p:spPr>
          <a:xfrm>
            <a:off x="914400" y="4526280"/>
            <a:ext cx="4709160" cy="1371600"/>
          </a:xfrm>
          <a:prstGeom prst="rect">
            <a:avLst/>
          </a:prstGeom>
          <a:noFill/>
          <a:ln/>
        </p:spPr>
        <p:txBody>
          <a:bodyPr wrap="square" rtlCol="0" anchor="ctr"/>
          <a:lstStyle/>
          <a:p>
            <a:pPr marL="0" indent="0">
              <a:buNone/>
            </a:pPr>
            <a:r>
              <a:rPr lang="en-US" sz="1350" i="1" dirty="0">
                <a:solidFill>
                  <a:srgbClr val="6B4A18"/>
                </a:solidFill>
                <a:latin typeface="Calibri" pitchFamily="34" charset="0"/>
                <a:ea typeface="Calibri" pitchFamily="34" charset="-122"/>
                <a:cs typeface="Calibri" pitchFamily="34" charset="-120"/>
              </a:rPr>
              <a:t>“A hiring model prefers men over women even when qualifications are similar.”</a:t>
            </a:r>
            <a:endParaRPr lang="en-US" sz="1350" dirty="0"/>
          </a:p>
        </p:txBody>
      </p:sp>
      <p:sp>
        <p:nvSpPr>
          <p:cNvPr id="6" name="Text 4"/>
          <p:cNvSpPr/>
          <p:nvPr/>
        </p:nvSpPr>
        <p:spPr>
          <a:xfrm>
            <a:off x="6263640" y="1371600"/>
            <a:ext cx="5303520" cy="45720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Who the data says earns &gt;$50K, and who the model says does</a:t>
            </a:r>
            <a:endParaRPr lang="en-US" sz="1250" dirty="0"/>
          </a:p>
        </p:txBody>
      </p:sp>
      <p:graphicFrame>
        <p:nvGraphicFramePr>
          <p:cNvPr id="7" name="Chart 0"/>
          <p:cNvGraphicFramePr/>
          <p:nvPr/>
        </p:nvGraphicFramePr>
        <p:xfrm>
          <a:off x="6263640" y="1874520"/>
          <a:ext cx="53035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6263640" y="4754880"/>
            <a:ext cx="5303520" cy="36576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figures — data base rates vs. the unmitigated logistic regression, seed 0. The model widens the gap it learned from: a 0.36 ratio in the data becomes 0.30 in its predictions.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Dataset</a:t>
            </a:r>
            <a:endParaRPr lang="en-US" sz="3000" dirty="0"/>
          </a:p>
        </p:txBody>
      </p:sp>
      <p:sp>
        <p:nvSpPr>
          <p:cNvPr id="3" name="Text 1"/>
          <p:cNvSpPr/>
          <p:nvPr/>
        </p:nvSpPr>
        <p:spPr>
          <a:xfrm>
            <a:off x="640080" y="1097280"/>
            <a:ext cx="100584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UCI Adult Census Income — archive.ics.uci.edu/dataset/2/adult</a:t>
            </a:r>
            <a:endParaRPr lang="en-US" sz="1400" dirty="0"/>
          </a:p>
        </p:txBody>
      </p:sp>
      <p:sp>
        <p:nvSpPr>
          <p:cNvPr id="4" name="Shape 2"/>
          <p:cNvSpPr/>
          <p:nvPr/>
        </p:nvSpPr>
        <p:spPr>
          <a:xfrm>
            <a:off x="640080" y="1965960"/>
            <a:ext cx="3291840" cy="1737360"/>
          </a:xfrm>
          <a:prstGeom prst="roundRect">
            <a:avLst>
              <a:gd name="adj" fmla="val 5263"/>
            </a:avLst>
          </a:prstGeom>
          <a:solidFill>
            <a:srgbClr val="1E2761"/>
          </a:solidFill>
          <a:ln/>
        </p:spPr>
        <p:txBody>
          <a:bodyPr/>
          <a:lstStyle/>
          <a:p>
            <a:endParaRPr lang="en-US"/>
          </a:p>
        </p:txBody>
      </p:sp>
      <p:sp>
        <p:nvSpPr>
          <p:cNvPr id="5" name="Text 3"/>
          <p:cNvSpPr/>
          <p:nvPr/>
        </p:nvSpPr>
        <p:spPr>
          <a:xfrm>
            <a:off x="6400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Binary</a:t>
            </a:r>
            <a:endParaRPr lang="en-US" sz="3000" dirty="0"/>
          </a:p>
        </p:txBody>
      </p:sp>
      <p:sp>
        <p:nvSpPr>
          <p:cNvPr id="6" name="Text 4"/>
          <p:cNvSpPr/>
          <p:nvPr/>
        </p:nvSpPr>
        <p:spPr>
          <a:xfrm>
            <a:off x="8229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Classification task</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Income &gt;$50K vs ≤$50K</a:t>
            </a:r>
            <a:endParaRPr lang="en-US" sz="1150" dirty="0"/>
          </a:p>
        </p:txBody>
      </p:sp>
      <p:sp>
        <p:nvSpPr>
          <p:cNvPr id="7" name="Shape 5"/>
          <p:cNvSpPr/>
          <p:nvPr/>
        </p:nvSpPr>
        <p:spPr>
          <a:xfrm>
            <a:off x="4297680" y="1965960"/>
            <a:ext cx="3291840" cy="1737360"/>
          </a:xfrm>
          <a:prstGeom prst="roundRect">
            <a:avLst>
              <a:gd name="adj" fmla="val 5263"/>
            </a:avLst>
          </a:prstGeom>
          <a:solidFill>
            <a:srgbClr val="1E2761"/>
          </a:solidFill>
          <a:ln/>
        </p:spPr>
        <p:txBody>
          <a:bodyPr/>
          <a:lstStyle/>
          <a:p>
            <a:endParaRPr lang="en-US"/>
          </a:p>
        </p:txBody>
      </p:sp>
      <p:sp>
        <p:nvSpPr>
          <p:cNvPr id="8" name="Text 6"/>
          <p:cNvSpPr/>
          <p:nvPr/>
        </p:nvSpPr>
        <p:spPr>
          <a:xfrm>
            <a:off x="42976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Sex</a:t>
            </a:r>
            <a:endParaRPr lang="en-US" sz="3000" dirty="0"/>
          </a:p>
        </p:txBody>
      </p:sp>
      <p:sp>
        <p:nvSpPr>
          <p:cNvPr id="9" name="Text 7"/>
          <p:cNvSpPr/>
          <p:nvPr/>
        </p:nvSpPr>
        <p:spPr>
          <a:xfrm>
            <a:off x="44805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Protected attribute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Male / Female</a:t>
            </a:r>
            <a:endParaRPr lang="en-US" sz="1150" dirty="0"/>
          </a:p>
        </p:txBody>
      </p:sp>
      <p:sp>
        <p:nvSpPr>
          <p:cNvPr id="10" name="Shape 8"/>
          <p:cNvSpPr/>
          <p:nvPr/>
        </p:nvSpPr>
        <p:spPr>
          <a:xfrm>
            <a:off x="7955280" y="1965960"/>
            <a:ext cx="3291840" cy="1737360"/>
          </a:xfrm>
          <a:prstGeom prst="roundRect">
            <a:avLst>
              <a:gd name="adj" fmla="val 5263"/>
            </a:avLst>
          </a:prstGeom>
          <a:solidFill>
            <a:srgbClr val="1E2761"/>
          </a:solidFill>
          <a:ln/>
        </p:spPr>
        <p:txBody>
          <a:bodyPr/>
          <a:lstStyle/>
          <a:p>
            <a:endParaRPr lang="en-US"/>
          </a:p>
        </p:txBody>
      </p:sp>
      <p:sp>
        <p:nvSpPr>
          <p:cNvPr id="11" name="Text 9"/>
          <p:cNvSpPr/>
          <p:nvPr/>
        </p:nvSpPr>
        <p:spPr>
          <a:xfrm>
            <a:off x="79552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48K+</a:t>
            </a:r>
            <a:endParaRPr lang="en-US" sz="3000" dirty="0"/>
          </a:p>
        </p:txBody>
      </p:sp>
      <p:sp>
        <p:nvSpPr>
          <p:cNvPr id="12" name="Text 10"/>
          <p:cNvSpPr/>
          <p:nvPr/>
        </p:nvSpPr>
        <p:spPr>
          <a:xfrm>
            <a:off x="81381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Records in the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full dataset</a:t>
            </a:r>
            <a:endParaRPr lang="en-US" sz="1150" dirty="0"/>
          </a:p>
        </p:txBody>
      </p:sp>
      <p:sp>
        <p:nvSpPr>
          <p:cNvPr id="13" name="Text 11"/>
          <p:cNvSpPr/>
          <p:nvPr/>
        </p:nvSpPr>
        <p:spPr>
          <a:xfrm>
            <a:off x="640080" y="4069080"/>
            <a:ext cx="73152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Baseline pipeline scaffold</a:t>
            </a:r>
            <a:endParaRPr lang="en-US" sz="1500" dirty="0"/>
          </a:p>
        </p:txBody>
      </p:sp>
      <p:sp>
        <p:nvSpPr>
          <p:cNvPr id="14" name="Shape 12"/>
          <p:cNvSpPr/>
          <p:nvPr/>
        </p:nvSpPr>
        <p:spPr>
          <a:xfrm>
            <a:off x="64008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5" name="Text 13"/>
          <p:cNvSpPr/>
          <p:nvPr/>
        </p:nvSpPr>
        <p:spPr>
          <a:xfrm>
            <a:off x="73152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1</a:t>
            </a:r>
            <a:endParaRPr lang="en-US" sz="1300" dirty="0"/>
          </a:p>
        </p:txBody>
      </p:sp>
      <p:sp>
        <p:nvSpPr>
          <p:cNvPr id="16" name="Text 14"/>
          <p:cNvSpPr/>
          <p:nvPr/>
        </p:nvSpPr>
        <p:spPr>
          <a:xfrm>
            <a:off x="73152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Load &amp; clean</a:t>
            </a:r>
            <a:endParaRPr lang="en-US" sz="1050" dirty="0"/>
          </a:p>
        </p:txBody>
      </p:sp>
      <p:sp>
        <p:nvSpPr>
          <p:cNvPr id="17" name="Text 15"/>
          <p:cNvSpPr/>
          <p:nvPr/>
        </p:nvSpPr>
        <p:spPr>
          <a:xfrm>
            <a:off x="272491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83464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9" name="Text 17"/>
          <p:cNvSpPr/>
          <p:nvPr/>
        </p:nvSpPr>
        <p:spPr>
          <a:xfrm>
            <a:off x="292608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2</a:t>
            </a:r>
            <a:endParaRPr lang="en-US" sz="1300" dirty="0"/>
          </a:p>
        </p:txBody>
      </p:sp>
      <p:sp>
        <p:nvSpPr>
          <p:cNvPr id="20" name="Text 18"/>
          <p:cNvSpPr/>
          <p:nvPr/>
        </p:nvSpPr>
        <p:spPr>
          <a:xfrm>
            <a:off x="292608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Encode categoricals</a:t>
            </a:r>
            <a:endParaRPr lang="en-US" sz="1050" dirty="0"/>
          </a:p>
        </p:txBody>
      </p:sp>
      <p:sp>
        <p:nvSpPr>
          <p:cNvPr id="21" name="Text 19"/>
          <p:cNvSpPr/>
          <p:nvPr/>
        </p:nvSpPr>
        <p:spPr>
          <a:xfrm>
            <a:off x="491947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02920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3" name="Text 21"/>
          <p:cNvSpPr/>
          <p:nvPr/>
        </p:nvSpPr>
        <p:spPr>
          <a:xfrm>
            <a:off x="512064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3</a:t>
            </a:r>
            <a:endParaRPr lang="en-US" sz="1300" dirty="0"/>
          </a:p>
        </p:txBody>
      </p:sp>
      <p:sp>
        <p:nvSpPr>
          <p:cNvPr id="24" name="Text 22"/>
          <p:cNvSpPr/>
          <p:nvPr/>
        </p:nvSpPr>
        <p:spPr>
          <a:xfrm>
            <a:off x="512064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 test split</a:t>
            </a:r>
            <a:endParaRPr lang="en-US" sz="1050" dirty="0"/>
          </a:p>
        </p:txBody>
      </p:sp>
      <p:sp>
        <p:nvSpPr>
          <p:cNvPr id="25" name="Text 23"/>
          <p:cNvSpPr/>
          <p:nvPr/>
        </p:nvSpPr>
        <p:spPr>
          <a:xfrm>
            <a:off x="711403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6" name="Shape 24"/>
          <p:cNvSpPr/>
          <p:nvPr/>
        </p:nvSpPr>
        <p:spPr>
          <a:xfrm>
            <a:off x="722376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7" name="Text 25"/>
          <p:cNvSpPr/>
          <p:nvPr/>
        </p:nvSpPr>
        <p:spPr>
          <a:xfrm>
            <a:off x="731520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4</a:t>
            </a:r>
            <a:endParaRPr lang="en-US" sz="1300" dirty="0"/>
          </a:p>
        </p:txBody>
      </p:sp>
      <p:sp>
        <p:nvSpPr>
          <p:cNvPr id="28" name="Text 26"/>
          <p:cNvSpPr/>
          <p:nvPr/>
        </p:nvSpPr>
        <p:spPr>
          <a:xfrm>
            <a:off x="731520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Decision Tree</a:t>
            </a:r>
            <a:endParaRPr lang="en-US" sz="1050" dirty="0"/>
          </a:p>
        </p:txBody>
      </p:sp>
      <p:sp>
        <p:nvSpPr>
          <p:cNvPr id="29" name="Text 27"/>
          <p:cNvSpPr/>
          <p:nvPr/>
        </p:nvSpPr>
        <p:spPr>
          <a:xfrm>
            <a:off x="930859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30" name="Shape 28"/>
          <p:cNvSpPr/>
          <p:nvPr/>
        </p:nvSpPr>
        <p:spPr>
          <a:xfrm>
            <a:off x="941832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31" name="Text 29"/>
          <p:cNvSpPr/>
          <p:nvPr/>
        </p:nvSpPr>
        <p:spPr>
          <a:xfrm>
            <a:off x="950976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50976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Predict &amp; evaluate</a:t>
            </a:r>
            <a:endParaRPr lang="en-US" sz="1050" dirty="0"/>
          </a:p>
        </p:txBody>
      </p:sp>
      <p:sp>
        <p:nvSpPr>
          <p:cNvPr id="33" name="Text 31"/>
          <p:cNvSpPr/>
          <p:nvPr/>
        </p:nvSpPr>
        <p:spPr>
          <a:xfrm>
            <a:off x="640080" y="5532120"/>
            <a:ext cx="10515600" cy="45720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Scaffold adapted from the “Adult Census Income Project” (JcFreya, GitHub) — the fairness layer is what this project adds on top.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Problem Formulation — the Baseline</a:t>
            </a:r>
            <a:endParaRPr lang="en-US" sz="2800" dirty="0"/>
          </a:p>
        </p:txBody>
      </p:sp>
      <p:sp>
        <p:nvSpPr>
          <p:cNvPr id="3" name="Shape 1"/>
          <p:cNvSpPr/>
          <p:nvPr/>
        </p:nvSpPr>
        <p:spPr>
          <a:xfrm>
            <a:off x="640080" y="1417320"/>
            <a:ext cx="10881360" cy="1188720"/>
          </a:xfrm>
          <a:prstGeom prst="roundRect">
            <a:avLst>
              <a:gd name="adj" fmla="val 6154"/>
            </a:avLst>
          </a:prstGeom>
          <a:solidFill>
            <a:srgbClr val="141A4D"/>
          </a:solidFill>
          <a:ln/>
        </p:spPr>
        <p:txBody>
          <a:bodyPr/>
          <a:lstStyle/>
          <a:p>
            <a:endParaRPr lang="en-US"/>
          </a:p>
        </p:txBody>
      </p:sp>
      <p:sp>
        <p:nvSpPr>
          <p:cNvPr id="4" name="Text 2"/>
          <p:cNvSpPr/>
          <p:nvPr/>
        </p:nvSpPr>
        <p:spPr>
          <a:xfrm>
            <a:off x="914400" y="1600200"/>
            <a:ext cx="10332720" cy="822960"/>
          </a:xfrm>
          <a:prstGeom prst="rect">
            <a:avLst/>
          </a:prstGeom>
          <a:noFill/>
          <a:ln/>
        </p:spPr>
        <p:txBody>
          <a:bodyPr wrap="square" rtlCol="0" anchor="ctr"/>
          <a:lstStyle/>
          <a:p>
            <a:pPr marL="0" indent="0">
              <a:buNone/>
            </a:pPr>
            <a:r>
              <a:rPr lang="en-US" sz="2200" dirty="0">
                <a:solidFill>
                  <a:srgbClr val="E8A33D"/>
                </a:solidFill>
                <a:latin typeface="Courier New" pitchFamily="34" charset="0"/>
                <a:ea typeface="Courier New" pitchFamily="34" charset="-122"/>
                <a:cs typeface="Courier New" pitchFamily="34" charset="-120"/>
              </a:rPr>
              <a:t>minₕ  E₍ₓ,ᵧ₎~D [ 𝟙{h(x) ≠ y} ]</a:t>
            </a:r>
            <a:endParaRPr lang="en-US" sz="2200" dirty="0"/>
          </a:p>
        </p:txBody>
      </p:sp>
      <p:sp>
        <p:nvSpPr>
          <p:cNvPr id="5" name="Text 3"/>
          <p:cNvSpPr/>
          <p:nvPr/>
        </p:nvSpPr>
        <p:spPr>
          <a:xfrm>
            <a:off x="640080" y="2880360"/>
            <a:ext cx="10881360" cy="2011680"/>
          </a:xfrm>
          <a:prstGeom prst="rect">
            <a:avLst/>
          </a:prstGeom>
          <a:noFill/>
          <a:ln/>
        </p:spPr>
        <p:txBody>
          <a:bodyPr wrap="square" rtlCol="0" anchor="t"/>
          <a:lstStyle/>
          <a:p>
            <a:pPr marL="0" indent="0">
              <a:lnSpc>
                <a:spcPct val="135000"/>
              </a:lnSpc>
              <a:buNone/>
            </a:pPr>
            <a:r>
              <a:rPr lang="en-US" sz="1500" b="1" dirty="0">
                <a:solidFill>
                  <a:srgbClr val="FFFFFF"/>
                </a:solidFill>
                <a:latin typeface="Calibri" pitchFamily="34" charset="0"/>
                <a:ea typeface="Calibri" pitchFamily="34" charset="-122"/>
                <a:cs typeface="Calibri" pitchFamily="34" charset="-120"/>
              </a:rPr>
              <a:t>D = { (xᵢ, aᵢ, yᵢ) }  — x = features, a ∈ {0,1} = protected attribute (Sex), y ∈ {0,1} = income label
This objective never references a, and in this project a is removed from the feature matrix entirely — no model here can read Sex. But because P(y=1 | a=Male) ≫ P(y=1 | a=Female) in the data, the model reconstructs the gap from proxies: relationship (whose levels are Husband and Wife), marital-status, occupation. Removing the attribute does not remove the information.</a:t>
            </a:r>
            <a:endParaRPr lang="en-US" sz="1500" dirty="0"/>
          </a:p>
        </p:txBody>
      </p:sp>
      <p:sp>
        <p:nvSpPr>
          <p:cNvPr id="6" name="Shape 4"/>
          <p:cNvSpPr/>
          <p:nvPr/>
        </p:nvSpPr>
        <p:spPr>
          <a:xfrm>
            <a:off x="640080" y="5074920"/>
            <a:ext cx="10881360" cy="1051560"/>
          </a:xfrm>
          <a:prstGeom prst="roundRect">
            <a:avLst>
              <a:gd name="adj" fmla="val 6957"/>
            </a:avLst>
          </a:prstGeom>
          <a:solidFill>
            <a:srgbClr val="26307A"/>
          </a:solidFill>
          <a:ln/>
        </p:spPr>
        <p:txBody>
          <a:bodyPr/>
          <a:lstStyle/>
          <a:p>
            <a:endParaRPr lang="en-US"/>
          </a:p>
        </p:txBody>
      </p:sp>
      <p:sp>
        <p:nvSpPr>
          <p:cNvPr id="7" name="Text 5"/>
          <p:cNvSpPr/>
          <p:nvPr/>
        </p:nvSpPr>
        <p:spPr>
          <a:xfrm>
            <a:off x="914400" y="5074920"/>
            <a:ext cx="10332720" cy="1051560"/>
          </a:xfrm>
          <a:prstGeom prst="rect">
            <a:avLst/>
          </a:prstGeom>
          <a:noFill/>
          <a:ln/>
        </p:spPr>
        <p:txBody>
          <a:bodyPr wrap="square"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Nothing malicious in the algorithm, it is plain empirical risk minimization on data with unequal base rates across groups. That gap is the entire source of the bias.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Measuring Bias: Fairness Metrics</a:t>
            </a:r>
            <a:endParaRPr lang="en-US" sz="30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φ(h) quantifies how much predictions depend on the protected attribute a.</a:t>
            </a:r>
            <a:endParaRPr lang="en-US" sz="1400" dirty="0"/>
          </a:p>
        </p:txBody>
      </p:sp>
      <p:sp>
        <p:nvSpPr>
          <p:cNvPr id="4" name="Shape 2"/>
          <p:cNvSpPr/>
          <p:nvPr/>
        </p:nvSpPr>
        <p:spPr>
          <a:xfrm>
            <a:off x="640080"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5" name="Shape 3"/>
          <p:cNvSpPr/>
          <p:nvPr/>
        </p:nvSpPr>
        <p:spPr>
          <a:xfrm>
            <a:off x="914400" y="2148840"/>
            <a:ext cx="457200" cy="54864"/>
          </a:xfrm>
          <a:prstGeom prst="rect">
            <a:avLst/>
          </a:prstGeom>
          <a:solidFill>
            <a:srgbClr val="E8A33D"/>
          </a:solidFill>
          <a:ln/>
        </p:spPr>
        <p:txBody>
          <a:bodyPr/>
          <a:lstStyle/>
          <a:p>
            <a:endParaRPr lang="en-US"/>
          </a:p>
        </p:txBody>
      </p:sp>
      <p:sp>
        <p:nvSpPr>
          <p:cNvPr id="6" name="Text 4"/>
          <p:cNvSpPr/>
          <p:nvPr/>
        </p:nvSpPr>
        <p:spPr>
          <a:xfrm>
            <a:off x="914400"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Demographic Parity</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7" name="Shape 5"/>
          <p:cNvSpPr/>
          <p:nvPr/>
        </p:nvSpPr>
        <p:spPr>
          <a:xfrm>
            <a:off x="914400" y="3246120"/>
            <a:ext cx="2880360" cy="1051560"/>
          </a:xfrm>
          <a:prstGeom prst="roundRect">
            <a:avLst>
              <a:gd name="adj" fmla="val 5217"/>
            </a:avLst>
          </a:prstGeom>
          <a:solidFill>
            <a:srgbClr val="1E2761"/>
          </a:solidFill>
          <a:ln/>
        </p:spPr>
        <p:txBody>
          <a:bodyPr/>
          <a:lstStyle/>
          <a:p>
            <a:endParaRPr lang="en-US"/>
          </a:p>
        </p:txBody>
      </p:sp>
      <p:sp>
        <p:nvSpPr>
          <p:cNvPr id="8" name="Text 6"/>
          <p:cNvSpPr/>
          <p:nvPr/>
        </p:nvSpPr>
        <p:spPr>
          <a:xfrm>
            <a:off x="1024128"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 P(h(x)=1|a=1)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p:txBody>
      </p:sp>
      <p:sp>
        <p:nvSpPr>
          <p:cNvPr id="9" name="Text 7"/>
          <p:cNvSpPr/>
          <p:nvPr/>
        </p:nvSpPr>
        <p:spPr>
          <a:xfrm>
            <a:off x="914400"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positive-prediction rate between groups.</a:t>
            </a:r>
            <a:endParaRPr lang="en-US" sz="1200" dirty="0"/>
          </a:p>
        </p:txBody>
      </p:sp>
      <p:sp>
        <p:nvSpPr>
          <p:cNvPr id="10" name="Shape 8"/>
          <p:cNvSpPr/>
          <p:nvPr/>
        </p:nvSpPr>
        <p:spPr>
          <a:xfrm>
            <a:off x="4361688"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1" name="Shape 9"/>
          <p:cNvSpPr/>
          <p:nvPr/>
        </p:nvSpPr>
        <p:spPr>
          <a:xfrm>
            <a:off x="4636008" y="2148840"/>
            <a:ext cx="457200" cy="54864"/>
          </a:xfrm>
          <a:prstGeom prst="rect">
            <a:avLst/>
          </a:prstGeom>
          <a:solidFill>
            <a:srgbClr val="E8A33D"/>
          </a:solidFill>
          <a:ln/>
        </p:spPr>
        <p:txBody>
          <a:bodyPr/>
          <a:lstStyle/>
          <a:p>
            <a:endParaRPr lang="en-US"/>
          </a:p>
        </p:txBody>
      </p:sp>
      <p:sp>
        <p:nvSpPr>
          <p:cNvPr id="12" name="Text 10"/>
          <p:cNvSpPr/>
          <p:nvPr/>
        </p:nvSpPr>
        <p:spPr>
          <a:xfrm>
            <a:off x="4636008"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Equalized Odds</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13" name="Shape 11"/>
          <p:cNvSpPr/>
          <p:nvPr/>
        </p:nvSpPr>
        <p:spPr>
          <a:xfrm>
            <a:off x="4636008" y="3246120"/>
            <a:ext cx="2880360" cy="1051560"/>
          </a:xfrm>
          <a:prstGeom prst="roundRect">
            <a:avLst>
              <a:gd name="adj" fmla="val 5217"/>
            </a:avLst>
          </a:prstGeom>
          <a:solidFill>
            <a:srgbClr val="1E2761"/>
          </a:solidFill>
          <a:ln/>
        </p:spPr>
        <p:txBody>
          <a:bodyPr/>
          <a:lstStyle/>
          <a:p>
            <a:endParaRPr lang="en-US"/>
          </a:p>
        </p:txBody>
      </p:sp>
      <p:sp>
        <p:nvSpPr>
          <p:cNvPr id="14" name="Text 12"/>
          <p:cNvSpPr/>
          <p:nvPr/>
        </p:nvSpPr>
        <p:spPr>
          <a:xfrm>
            <a:off x="4745736"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max gap in TPR</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and FPR across groups</a:t>
            </a:r>
            <a:endParaRPr lang="en-US" sz="1200" dirty="0"/>
          </a:p>
        </p:txBody>
      </p:sp>
      <p:sp>
        <p:nvSpPr>
          <p:cNvPr id="15" name="Text 13"/>
          <p:cNvSpPr/>
          <p:nvPr/>
        </p:nvSpPr>
        <p:spPr>
          <a:xfrm>
            <a:off x="4636008"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true/false positive rates, conditioned on the real label.</a:t>
            </a:r>
            <a:endParaRPr lang="en-US" sz="1200" dirty="0"/>
          </a:p>
        </p:txBody>
      </p:sp>
      <p:sp>
        <p:nvSpPr>
          <p:cNvPr id="16" name="Shape 14"/>
          <p:cNvSpPr/>
          <p:nvPr/>
        </p:nvSpPr>
        <p:spPr>
          <a:xfrm>
            <a:off x="8083296"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7" name="Shape 15"/>
          <p:cNvSpPr/>
          <p:nvPr/>
        </p:nvSpPr>
        <p:spPr>
          <a:xfrm>
            <a:off x="8357616" y="2148840"/>
            <a:ext cx="457200" cy="54864"/>
          </a:xfrm>
          <a:prstGeom prst="rect">
            <a:avLst/>
          </a:prstGeom>
          <a:solidFill>
            <a:srgbClr val="E8A33D"/>
          </a:solidFill>
          <a:ln/>
        </p:spPr>
        <p:txBody>
          <a:bodyPr/>
          <a:lstStyle/>
          <a:p>
            <a:endParaRPr lang="en-US"/>
          </a:p>
        </p:txBody>
      </p:sp>
      <p:sp>
        <p:nvSpPr>
          <p:cNvPr id="18" name="Text 16"/>
          <p:cNvSpPr/>
          <p:nvPr/>
        </p:nvSpPr>
        <p:spPr>
          <a:xfrm>
            <a:off x="8357616"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Disparate Impact</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(ratio form)</a:t>
            </a:r>
            <a:endParaRPr lang="en-US" sz="1600" dirty="0"/>
          </a:p>
        </p:txBody>
      </p:sp>
      <p:sp>
        <p:nvSpPr>
          <p:cNvPr id="19" name="Shape 17"/>
          <p:cNvSpPr/>
          <p:nvPr/>
        </p:nvSpPr>
        <p:spPr>
          <a:xfrm>
            <a:off x="8357616" y="3246120"/>
            <a:ext cx="2880360" cy="1051560"/>
          </a:xfrm>
          <a:prstGeom prst="roundRect">
            <a:avLst>
              <a:gd name="adj" fmla="val 5217"/>
            </a:avLst>
          </a:prstGeom>
          <a:solidFill>
            <a:srgbClr val="1E2761"/>
          </a:solidFill>
          <a:ln/>
        </p:spPr>
        <p:txBody>
          <a:bodyPr/>
          <a:lstStyle/>
          <a:p>
            <a:endParaRPr lang="en-US"/>
          </a:p>
        </p:txBody>
      </p:sp>
      <p:sp>
        <p:nvSpPr>
          <p:cNvPr id="20" name="Text 18"/>
          <p:cNvSpPr/>
          <p:nvPr/>
        </p:nvSpPr>
        <p:spPr>
          <a:xfrm>
            <a:off x="8467344"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P(h(x)=1|a=1)</a:t>
            </a:r>
            <a:endParaRPr lang="en-US" sz="1200" dirty="0"/>
          </a:p>
        </p:txBody>
      </p:sp>
      <p:sp>
        <p:nvSpPr>
          <p:cNvPr id="21" name="Text 19"/>
          <p:cNvSpPr/>
          <p:nvPr/>
        </p:nvSpPr>
        <p:spPr>
          <a:xfrm>
            <a:off x="8357616"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Ratio version of demographic parity; 1.0 is exact parity.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Reframing as Constrained Optimization</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This reframing is what makes the whole project purely algorithmic.</a:t>
            </a:r>
            <a:endParaRPr lang="en-US" sz="1400" dirty="0"/>
          </a:p>
        </p:txBody>
      </p:sp>
      <p:sp>
        <p:nvSpPr>
          <p:cNvPr id="4" name="Shape 2"/>
          <p:cNvSpPr/>
          <p:nvPr/>
        </p:nvSpPr>
        <p:spPr>
          <a:xfrm>
            <a:off x="1280160" y="1828800"/>
            <a:ext cx="9601200" cy="1371600"/>
          </a:xfrm>
          <a:prstGeom prst="roundRect">
            <a:avLst>
              <a:gd name="adj" fmla="val 6667"/>
            </a:avLst>
          </a:prstGeom>
          <a:solidFill>
            <a:srgbClr val="1E2761"/>
          </a:solidFill>
          <a:ln/>
        </p:spPr>
        <p:txBody>
          <a:bodyPr/>
          <a:lstStyle/>
          <a:p>
            <a:endParaRPr lang="en-US"/>
          </a:p>
        </p:txBody>
      </p:sp>
      <p:sp>
        <p:nvSpPr>
          <p:cNvPr id="5" name="Text 3"/>
          <p:cNvSpPr/>
          <p:nvPr/>
        </p:nvSpPr>
        <p:spPr>
          <a:xfrm>
            <a:off x="1554480" y="1828800"/>
            <a:ext cx="9052560" cy="1371600"/>
          </a:xfrm>
          <a:prstGeom prst="rect">
            <a:avLst/>
          </a:prstGeom>
          <a:noFill/>
          <a:ln/>
        </p:spPr>
        <p:txBody>
          <a:bodyPr wrap="square" rtlCol="0" anchor="ctr"/>
          <a:lstStyle/>
          <a:p>
            <a:pPr marL="0" indent="0" algn="ctr">
              <a:buNone/>
            </a:pPr>
            <a:r>
              <a:rPr lang="en-US" sz="2400" dirty="0">
                <a:solidFill>
                  <a:srgbClr val="E8A33D"/>
                </a:solidFill>
                <a:latin typeface="Courier New" pitchFamily="34" charset="0"/>
                <a:ea typeface="Courier New" pitchFamily="34" charset="-122"/>
                <a:cs typeface="Courier New" pitchFamily="34" charset="-120"/>
              </a:rPr>
              <a:t>minₕ  E[𝟙{h(x) ≠ y}]     subject to     φ(h) ≤ ε</a:t>
            </a:r>
            <a:endParaRPr lang="en-US" sz="2400" dirty="0"/>
          </a:p>
        </p:txBody>
      </p:sp>
      <p:sp>
        <p:nvSpPr>
          <p:cNvPr id="6" name="Shape 4"/>
          <p:cNvSpPr/>
          <p:nvPr/>
        </p:nvSpPr>
        <p:spPr>
          <a:xfrm>
            <a:off x="640080" y="3703320"/>
            <a:ext cx="822960" cy="822960"/>
          </a:xfrm>
          <a:prstGeom prst="ellipse">
            <a:avLst/>
          </a:prstGeom>
          <a:solidFill>
            <a:srgbClr val="1E2761"/>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70509" y="3933749"/>
            <a:ext cx="362102" cy="362102"/>
          </a:xfrm>
          <a:prstGeom prst="rect">
            <a:avLst/>
          </a:prstGeom>
        </p:spPr>
      </p:pic>
      <p:sp>
        <p:nvSpPr>
          <p:cNvPr id="8" name="Text 5"/>
          <p:cNvSpPr/>
          <p:nvPr/>
        </p:nvSpPr>
        <p:spPr>
          <a:xfrm>
            <a:off x="164592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Data untouched</a:t>
            </a:r>
            <a:endParaRPr lang="en-US" sz="1450" dirty="0"/>
          </a:p>
        </p:txBody>
      </p:sp>
      <p:sp>
        <p:nvSpPr>
          <p:cNvPr id="9" name="Text 6"/>
          <p:cNvSpPr/>
          <p:nvPr/>
        </p:nvSpPr>
        <p:spPr>
          <a:xfrm>
            <a:off x="64008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D is never edited, reweighted-in-place, or filtered. The training set stays exactly as collected.</a:t>
            </a:r>
            <a:endParaRPr lang="en-US" sz="1200" dirty="0"/>
          </a:p>
        </p:txBody>
      </p:sp>
      <p:sp>
        <p:nvSpPr>
          <p:cNvPr id="10" name="Shape 7"/>
          <p:cNvSpPr/>
          <p:nvPr/>
        </p:nvSpPr>
        <p:spPr>
          <a:xfrm>
            <a:off x="4343400" y="3703320"/>
            <a:ext cx="822960" cy="82296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4573829" y="3933749"/>
            <a:ext cx="362102" cy="362102"/>
          </a:xfrm>
          <a:prstGeom prst="rect">
            <a:avLst/>
          </a:prstGeom>
        </p:spPr>
      </p:pic>
      <p:sp>
        <p:nvSpPr>
          <p:cNvPr id="12" name="Text 8"/>
          <p:cNvSpPr/>
          <p:nvPr/>
        </p:nvSpPr>
        <p:spPr>
          <a:xfrm>
            <a:off x="534924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Objective changes</a:t>
            </a:r>
            <a:endParaRPr lang="en-US" sz="1450" dirty="0"/>
          </a:p>
        </p:txBody>
      </p:sp>
      <p:sp>
        <p:nvSpPr>
          <p:cNvPr id="13" name="Text 9"/>
          <p:cNvSpPr/>
          <p:nvPr/>
        </p:nvSpPr>
        <p:spPr>
          <a:xfrm>
            <a:off x="434340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A constraint region φ(h) ≤ ε is added; the search is now for the best classifier inside that region.</a:t>
            </a:r>
            <a:endParaRPr lang="en-US" sz="1200" dirty="0"/>
          </a:p>
        </p:txBody>
      </p:sp>
      <p:sp>
        <p:nvSpPr>
          <p:cNvPr id="14" name="Shape 10"/>
          <p:cNvSpPr/>
          <p:nvPr/>
        </p:nvSpPr>
        <p:spPr>
          <a:xfrm>
            <a:off x="8046720" y="3703320"/>
            <a:ext cx="822960" cy="822960"/>
          </a:xfrm>
          <a:prstGeom prst="ellipse">
            <a:avLst/>
          </a:prstGeom>
          <a:solidFill>
            <a:srgbClr val="1E2761"/>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8277149" y="3933749"/>
            <a:ext cx="362102" cy="362102"/>
          </a:xfrm>
          <a:prstGeom prst="rect">
            <a:avLst/>
          </a:prstGeom>
        </p:spPr>
      </p:pic>
      <p:sp>
        <p:nvSpPr>
          <p:cNvPr id="16" name="Text 11"/>
          <p:cNvSpPr/>
          <p:nvPr/>
        </p:nvSpPr>
        <p:spPr>
          <a:xfrm>
            <a:off x="905256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Trade-off is explicit</a:t>
            </a:r>
            <a:endParaRPr lang="en-US" sz="1450" dirty="0"/>
          </a:p>
        </p:txBody>
      </p:sp>
      <p:sp>
        <p:nvSpPr>
          <p:cNvPr id="17" name="Text 12"/>
          <p:cNvSpPr/>
          <p:nvPr/>
        </p:nvSpPr>
        <p:spPr>
          <a:xfrm>
            <a:off x="804672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Every method here trades some accuracy for lower φ(h) — the size of that trade-off is the result.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 Paper: A Reductions Approach</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i="1" dirty="0">
                <a:solidFill>
                  <a:srgbClr val="5A6270"/>
                </a:solidFill>
                <a:latin typeface="Calibri" pitchFamily="34" charset="0"/>
                <a:ea typeface="Calibri" pitchFamily="34" charset="-122"/>
                <a:cs typeface="Calibri" pitchFamily="34" charset="-120"/>
              </a:rPr>
              <a:t>Agarwal, Beygelzimer, Dudík, Langford &amp; Wallach (2018) — ICML</a:t>
            </a:r>
            <a:endParaRPr lang="en-US" sz="1400" dirty="0"/>
          </a:p>
        </p:txBody>
      </p:sp>
      <p:sp>
        <p:nvSpPr>
          <p:cNvPr id="4" name="Text 2"/>
          <p:cNvSpPr/>
          <p:nvPr/>
        </p:nvSpPr>
        <p:spPr>
          <a:xfrm>
            <a:off x="640080" y="1691640"/>
            <a:ext cx="10515600" cy="365760"/>
          </a:xfrm>
          <a:prstGeom prst="rect">
            <a:avLst/>
          </a:prstGeom>
          <a:noFill/>
          <a:ln/>
        </p:spPr>
        <p:txBody>
          <a:bodyPr wrap="square" rtlCol="0" anchor="ctr"/>
          <a:lstStyle/>
          <a:p>
            <a:pPr marL="0" indent="0">
              <a:buNone/>
            </a:pPr>
            <a:r>
              <a:rPr lang="en-US" sz="1400" dirty="0">
                <a:solidFill>
                  <a:srgbClr val="1B1B1F"/>
                </a:solidFill>
                <a:latin typeface="Calibri" pitchFamily="34" charset="0"/>
                <a:ea typeface="Calibri" pitchFamily="34" charset="-122"/>
                <a:cs typeface="Calibri" pitchFamily="34" charset="-120"/>
              </a:rPr>
              <a:t>Solves the constrained problem as a two-player zero-sum game:</a:t>
            </a:r>
            <a:endParaRPr lang="en-US" sz="1400" dirty="0"/>
          </a:p>
        </p:txBody>
      </p:sp>
      <p:sp>
        <p:nvSpPr>
          <p:cNvPr id="5" name="Shape 3"/>
          <p:cNvSpPr/>
          <p:nvPr/>
        </p:nvSpPr>
        <p:spPr>
          <a:xfrm>
            <a:off x="640080" y="2103120"/>
            <a:ext cx="10881360" cy="1005840"/>
          </a:xfrm>
          <a:prstGeom prst="roundRect">
            <a:avLst>
              <a:gd name="adj" fmla="val 7273"/>
            </a:avLst>
          </a:prstGeom>
          <a:solidFill>
            <a:srgbClr val="1E2761"/>
          </a:solidFill>
          <a:ln/>
        </p:spPr>
        <p:txBody>
          <a:bodyPr/>
          <a:lstStyle/>
          <a:p>
            <a:endParaRPr lang="en-US"/>
          </a:p>
        </p:txBody>
      </p:sp>
      <p:sp>
        <p:nvSpPr>
          <p:cNvPr id="6" name="Text 4"/>
          <p:cNvSpPr/>
          <p:nvPr/>
        </p:nvSpPr>
        <p:spPr>
          <a:xfrm>
            <a:off x="914400" y="2103120"/>
            <a:ext cx="10332720" cy="1005840"/>
          </a:xfrm>
          <a:prstGeom prst="rect">
            <a:avLst/>
          </a:prstGeom>
          <a:noFill/>
          <a:ln/>
        </p:spPr>
        <p:txBody>
          <a:bodyPr wrap="square" rtlCol="0" anchor="ctr"/>
          <a:lstStyle/>
          <a:p>
            <a:pPr marL="0" indent="0">
              <a:buNone/>
            </a:pPr>
            <a:r>
              <a:rPr lang="en-US" sz="2000" dirty="0">
                <a:solidFill>
                  <a:srgbClr val="E8A33D"/>
                </a:solidFill>
                <a:latin typeface="Courier New" pitchFamily="34" charset="0"/>
                <a:ea typeface="Courier New" pitchFamily="34" charset="-122"/>
                <a:cs typeface="Courier New" pitchFamily="34" charset="-120"/>
              </a:rPr>
              <a:t>minₕ maxλ   error(h) + λᵀ (φ(h) − ε)</a:t>
            </a:r>
            <a:endParaRPr lang="en-US" sz="2000" dirty="0"/>
          </a:p>
        </p:txBody>
      </p:sp>
      <p:sp>
        <p:nvSpPr>
          <p:cNvPr id="7" name="Shape 5"/>
          <p:cNvSpPr/>
          <p:nvPr/>
        </p:nvSpPr>
        <p:spPr>
          <a:xfrm>
            <a:off x="640080" y="3337560"/>
            <a:ext cx="5257800" cy="1097280"/>
          </a:xfrm>
          <a:prstGeom prst="roundRect">
            <a:avLst>
              <a:gd name="adj" fmla="val 6667"/>
            </a:avLst>
          </a:prstGeom>
          <a:solidFill>
            <a:srgbClr val="F4F6FB"/>
          </a:solidFill>
          <a:ln/>
        </p:spPr>
        <p:txBody>
          <a:bodyPr/>
          <a:lstStyle/>
          <a:p>
            <a:endParaRPr lang="en-US"/>
          </a:p>
        </p:txBody>
      </p:sp>
      <p:sp>
        <p:nvSpPr>
          <p:cNvPr id="8" name="Text 6"/>
          <p:cNvSpPr/>
          <p:nvPr/>
        </p:nvSpPr>
        <p:spPr>
          <a:xfrm>
            <a:off x="91440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Learner:  </a:t>
            </a:r>
            <a:r>
              <a:rPr lang="en-US" sz="1300" dirty="0">
                <a:solidFill>
                  <a:srgbClr val="5A6270"/>
                </a:solidFill>
                <a:latin typeface="Calibri" pitchFamily="34" charset="0"/>
                <a:ea typeface="Calibri" pitchFamily="34" charset="-122"/>
                <a:cs typeface="Calibri" pitchFamily="34" charset="-120"/>
              </a:rPr>
              <a:t>Picks h to minimize error minus a fairness penalty.</a:t>
            </a:r>
            <a:endParaRPr lang="en-US" sz="1300" dirty="0"/>
          </a:p>
        </p:txBody>
      </p:sp>
      <p:sp>
        <p:nvSpPr>
          <p:cNvPr id="9" name="Shape 7"/>
          <p:cNvSpPr/>
          <p:nvPr/>
        </p:nvSpPr>
        <p:spPr>
          <a:xfrm>
            <a:off x="6217920" y="3337560"/>
            <a:ext cx="5257800" cy="1097280"/>
          </a:xfrm>
          <a:prstGeom prst="roundRect">
            <a:avLst>
              <a:gd name="adj" fmla="val 6667"/>
            </a:avLst>
          </a:prstGeom>
          <a:solidFill>
            <a:srgbClr val="F4F6FB"/>
          </a:solidFill>
          <a:ln/>
        </p:spPr>
        <p:txBody>
          <a:bodyPr/>
          <a:lstStyle/>
          <a:p>
            <a:endParaRPr lang="en-US"/>
          </a:p>
        </p:txBody>
      </p:sp>
      <p:sp>
        <p:nvSpPr>
          <p:cNvPr id="10" name="Text 8"/>
          <p:cNvSpPr/>
          <p:nvPr/>
        </p:nvSpPr>
        <p:spPr>
          <a:xfrm>
            <a:off x="649224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Regulator:  </a:t>
            </a:r>
            <a:r>
              <a:rPr lang="en-US" sz="1300" dirty="0">
                <a:solidFill>
                  <a:srgbClr val="5A6270"/>
                </a:solidFill>
                <a:latin typeface="Calibri" pitchFamily="34" charset="0"/>
                <a:ea typeface="Calibri" pitchFamily="34" charset="-122"/>
                <a:cs typeface="Calibri" pitchFamily="34" charset="-120"/>
              </a:rPr>
              <a:t>Picks Lagrange multipliers λ, penalizing violations harder as h gets less fair.</a:t>
            </a:r>
            <a:endParaRPr lang="en-US" sz="1300" dirty="0"/>
          </a:p>
        </p:txBody>
      </p:sp>
      <p:sp>
        <p:nvSpPr>
          <p:cNvPr id="11" name="Text 9"/>
          <p:cNvSpPr/>
          <p:nvPr/>
        </p:nvSpPr>
        <p:spPr>
          <a:xfrm>
            <a:off x="640080" y="4617720"/>
            <a:ext cx="10881360" cy="548640"/>
          </a:xfrm>
          <a:prstGeom prst="rect">
            <a:avLst/>
          </a:prstGeom>
          <a:noFill/>
          <a:ln/>
        </p:spPr>
        <p:txBody>
          <a:bodyPr wrap="square" rtlCol="0" anchor="ctr"/>
          <a:lstStyle/>
          <a:p>
            <a:pPr marL="0" indent="0">
              <a:buNone/>
            </a:pPr>
            <a:r>
              <a:rPr lang="en-US" sz="1300" i="1" dirty="0">
                <a:solidFill>
                  <a:srgbClr val="5A6270"/>
                </a:solidFill>
                <a:latin typeface="Calibri" pitchFamily="34" charset="0"/>
                <a:ea typeface="Calibri" pitchFamily="34" charset="-122"/>
                <a:cs typeface="Calibri" pitchFamily="34" charset="-120"/>
              </a:rPr>
              <a:t>Practically: iteratively reweight training examples and retrain the base classifier — wraps around any classifier without touching the dataset.</a:t>
            </a:r>
            <a:endParaRPr lang="en-US" sz="1300" dirty="0"/>
          </a:p>
        </p:txBody>
      </p:sp>
      <p:sp>
        <p:nvSpPr>
          <p:cNvPr id="12" name="Shape 10"/>
          <p:cNvSpPr/>
          <p:nvPr/>
        </p:nvSpPr>
        <p:spPr>
          <a:xfrm>
            <a:off x="640080" y="5349240"/>
            <a:ext cx="10881360" cy="914400"/>
          </a:xfrm>
          <a:prstGeom prst="roundRect">
            <a:avLst>
              <a:gd name="adj" fmla="val 8000"/>
            </a:avLst>
          </a:prstGeom>
          <a:solidFill>
            <a:srgbClr val="FBF1E1"/>
          </a:solidFill>
          <a:ln/>
        </p:spPr>
        <p:txBody>
          <a:bodyPr/>
          <a:lstStyle/>
          <a:p>
            <a:endParaRPr lang="en-US"/>
          </a:p>
        </p:txBody>
      </p:sp>
      <p:sp>
        <p:nvSpPr>
          <p:cNvPr id="13" name="Text 11"/>
          <p:cNvSpPr/>
          <p:nvPr/>
        </p:nvSpPr>
        <p:spPr>
          <a:xfrm>
            <a:off x="914400" y="5349240"/>
            <a:ext cx="10332720" cy="914400"/>
          </a:xfrm>
          <a:prstGeom prst="rect">
            <a:avLst/>
          </a:prstGeom>
          <a:noFill/>
          <a:ln/>
        </p:spPr>
        <p:txBody>
          <a:bodyPr wrap="square" rtlCol="0" anchor="ctr"/>
          <a:lstStyle/>
          <a:p>
            <a:pPr marL="0" indent="0">
              <a:buNone/>
            </a:pPr>
            <a:r>
              <a:rPr lang="en-US" sz="1350" b="1" dirty="0">
                <a:solidFill>
                  <a:srgbClr val="6B4A18"/>
                </a:solidFill>
                <a:latin typeface="Calibri" pitchFamily="34" charset="0"/>
                <a:ea typeface="Calibri" pitchFamily="34" charset="-122"/>
                <a:cs typeface="Calibri" pitchFamily="34" charset="-120"/>
              </a:rPr>
              <a:t>Reference implementation:  </a:t>
            </a:r>
            <a:r>
              <a:rPr lang="en-US" sz="1350" dirty="0">
                <a:solidFill>
                  <a:srgbClr val="6B4A18"/>
                </a:solidFill>
                <a:latin typeface="Courier New" pitchFamily="34" charset="0"/>
                <a:ea typeface="Courier New" pitchFamily="34" charset="-122"/>
                <a:cs typeface="Courier New" pitchFamily="34" charset="-120"/>
              </a:rPr>
              <a:t>fairlearn.reductions.ExponentiatedGradient</a:t>
            </a:r>
            <a:r>
              <a:rPr lang="en-US" sz="1350" dirty="0">
                <a:solidFill>
                  <a:srgbClr val="6B4A18"/>
                </a:solidFill>
                <a:latin typeface="Calibri" pitchFamily="34" charset="0"/>
                <a:ea typeface="Calibri" pitchFamily="34" charset="-122"/>
                <a:cs typeface="Calibri" pitchFamily="34" charset="-120"/>
              </a:rPr>
              <a:t>  and  </a:t>
            </a:r>
            <a:r>
              <a:rPr lang="en-US" sz="1350" dirty="0">
                <a:solidFill>
                  <a:srgbClr val="6B4A18"/>
                </a:solidFill>
                <a:latin typeface="Courier New" pitchFamily="34" charset="0"/>
                <a:ea typeface="Courier New" pitchFamily="34" charset="-122"/>
                <a:cs typeface="Courier New" pitchFamily="34" charset="-120"/>
              </a:rPr>
              <a:t>GridSearch</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Base-Paper Track: Deliverables</a:t>
            </a:r>
            <a:endParaRPr lang="en-US" sz="2800" dirty="0"/>
          </a:p>
        </p:txBody>
      </p:sp>
      <p:sp>
        <p:nvSpPr>
          <p:cNvPr id="3" name="Shape 1"/>
          <p:cNvSpPr/>
          <p:nvPr/>
        </p:nvSpPr>
        <p:spPr>
          <a:xfrm>
            <a:off x="640080" y="155448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4" name="Shape 2"/>
          <p:cNvSpPr/>
          <p:nvPr/>
        </p:nvSpPr>
        <p:spPr>
          <a:xfrm>
            <a:off x="914400" y="1805940"/>
            <a:ext cx="640080" cy="640080"/>
          </a:xfrm>
          <a:prstGeom prst="ellipse">
            <a:avLst/>
          </a:prstGeom>
          <a:solidFill>
            <a:srgbClr val="1E2761"/>
          </a:solidFill>
          <a:ln/>
        </p:spPr>
        <p:txBody>
          <a:bodyPr/>
          <a:lstStyle/>
          <a:p>
            <a:endParaRPr lang="en-US"/>
          </a:p>
        </p:txBody>
      </p:sp>
      <p:sp>
        <p:nvSpPr>
          <p:cNvPr id="5" name="Text 3"/>
          <p:cNvSpPr/>
          <p:nvPr/>
        </p:nvSpPr>
        <p:spPr>
          <a:xfrm>
            <a:off x="914400" y="180594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783080" y="166420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Baseline Decision Tree</a:t>
            </a:r>
            <a:endParaRPr lang="en-US" sz="1600" dirty="0"/>
          </a:p>
        </p:txBody>
      </p:sp>
      <p:sp>
        <p:nvSpPr>
          <p:cNvPr id="7" name="Text 5"/>
          <p:cNvSpPr/>
          <p:nvPr/>
        </p:nvSpPr>
        <p:spPr>
          <a:xfrm>
            <a:off x="1783080" y="212140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Accuracy + all three fairness metrics, no mitigation.</a:t>
            </a:r>
            <a:endParaRPr lang="en-US" sz="1250" dirty="0"/>
          </a:p>
        </p:txBody>
      </p:sp>
      <p:sp>
        <p:nvSpPr>
          <p:cNvPr id="8" name="Shape 6"/>
          <p:cNvSpPr/>
          <p:nvPr/>
        </p:nvSpPr>
        <p:spPr>
          <a:xfrm>
            <a:off x="640080" y="283464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9" name="Shape 7"/>
          <p:cNvSpPr/>
          <p:nvPr/>
        </p:nvSpPr>
        <p:spPr>
          <a:xfrm>
            <a:off x="914400" y="3086100"/>
            <a:ext cx="640080" cy="640080"/>
          </a:xfrm>
          <a:prstGeom prst="ellipse">
            <a:avLst/>
          </a:prstGeom>
          <a:solidFill>
            <a:srgbClr val="1E2761"/>
          </a:solidFill>
          <a:ln/>
        </p:spPr>
        <p:txBody>
          <a:bodyPr/>
          <a:lstStyle/>
          <a:p>
            <a:endParaRPr lang="en-US"/>
          </a:p>
        </p:txBody>
      </p:sp>
      <p:sp>
        <p:nvSpPr>
          <p:cNvPr id="10" name="Text 8"/>
          <p:cNvSpPr/>
          <p:nvPr/>
        </p:nvSpPr>
        <p:spPr>
          <a:xfrm>
            <a:off x="914400" y="308610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783080" y="294436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Demographic Parity</a:t>
            </a:r>
            <a:endParaRPr lang="en-US" sz="1600" dirty="0"/>
          </a:p>
        </p:txBody>
      </p:sp>
      <p:sp>
        <p:nvSpPr>
          <p:cNvPr id="12" name="Text 10"/>
          <p:cNvSpPr/>
          <p:nvPr/>
        </p:nvSpPr>
        <p:spPr>
          <a:xfrm>
            <a:off x="1783080" y="340156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 demographic-parity constraint.</a:t>
            </a:r>
            <a:endParaRPr lang="en-US" sz="1250" dirty="0"/>
          </a:p>
        </p:txBody>
      </p:sp>
      <p:sp>
        <p:nvSpPr>
          <p:cNvPr id="13" name="Shape 11"/>
          <p:cNvSpPr/>
          <p:nvPr/>
        </p:nvSpPr>
        <p:spPr>
          <a:xfrm>
            <a:off x="640080" y="411480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14" name="Shape 12"/>
          <p:cNvSpPr/>
          <p:nvPr/>
        </p:nvSpPr>
        <p:spPr>
          <a:xfrm>
            <a:off x="914400" y="4366260"/>
            <a:ext cx="640080" cy="640080"/>
          </a:xfrm>
          <a:prstGeom prst="ellipse">
            <a:avLst/>
          </a:prstGeom>
          <a:solidFill>
            <a:srgbClr val="1E2761"/>
          </a:solidFill>
          <a:ln/>
        </p:spPr>
        <p:txBody>
          <a:bodyPr/>
          <a:lstStyle/>
          <a:p>
            <a:endParaRPr lang="en-US"/>
          </a:p>
        </p:txBody>
      </p:sp>
      <p:sp>
        <p:nvSpPr>
          <p:cNvPr id="15" name="Text 13"/>
          <p:cNvSpPr/>
          <p:nvPr/>
        </p:nvSpPr>
        <p:spPr>
          <a:xfrm>
            <a:off x="914400" y="436626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3</a:t>
            </a:r>
            <a:endParaRPr lang="en-US" sz="2000" dirty="0"/>
          </a:p>
        </p:txBody>
      </p:sp>
      <p:sp>
        <p:nvSpPr>
          <p:cNvPr id="16" name="Text 14"/>
          <p:cNvSpPr/>
          <p:nvPr/>
        </p:nvSpPr>
        <p:spPr>
          <a:xfrm>
            <a:off x="1783080" y="422452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Equalized Odds</a:t>
            </a:r>
            <a:endParaRPr lang="en-US" sz="1600" dirty="0"/>
          </a:p>
        </p:txBody>
      </p:sp>
      <p:sp>
        <p:nvSpPr>
          <p:cNvPr id="17" name="Text 15"/>
          <p:cNvSpPr/>
          <p:nvPr/>
        </p:nvSpPr>
        <p:spPr>
          <a:xfrm>
            <a:off x="1783080" y="468172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an equalized-odds constraint instead.</a:t>
            </a:r>
            <a:endParaRPr lang="en-US" sz="1250" dirty="0"/>
          </a:p>
        </p:txBody>
      </p:sp>
      <p:sp>
        <p:nvSpPr>
          <p:cNvPr id="18" name="Shape 16"/>
          <p:cNvSpPr/>
          <p:nvPr/>
        </p:nvSpPr>
        <p:spPr>
          <a:xfrm>
            <a:off x="640080" y="539496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19" name="Shape 17"/>
          <p:cNvSpPr/>
          <p:nvPr/>
        </p:nvSpPr>
        <p:spPr>
          <a:xfrm>
            <a:off x="914400" y="5646420"/>
            <a:ext cx="640080" cy="640080"/>
          </a:xfrm>
          <a:prstGeom prst="ellipse">
            <a:avLst/>
          </a:prstGeom>
          <a:solidFill>
            <a:srgbClr val="1E2761"/>
          </a:solidFill>
          <a:ln/>
        </p:spPr>
        <p:txBody>
          <a:bodyPr/>
          <a:lstStyle/>
          <a:p>
            <a:endParaRPr lang="en-US"/>
          </a:p>
        </p:txBody>
      </p:sp>
      <p:sp>
        <p:nvSpPr>
          <p:cNvPr id="20" name="Text 18"/>
          <p:cNvSpPr/>
          <p:nvPr/>
        </p:nvSpPr>
        <p:spPr>
          <a:xfrm>
            <a:off x="914400" y="564642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4</a:t>
            </a:r>
            <a:endParaRPr lang="en-US" sz="2000" dirty="0"/>
          </a:p>
        </p:txBody>
      </p:sp>
      <p:sp>
        <p:nvSpPr>
          <p:cNvPr id="21" name="Text 19"/>
          <p:cNvSpPr/>
          <p:nvPr/>
        </p:nvSpPr>
        <p:spPr>
          <a:xfrm>
            <a:off x="1783080" y="550468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GridSearch Pareto Sweep</a:t>
            </a:r>
            <a:endParaRPr lang="en-US" sz="1600" dirty="0"/>
          </a:p>
        </p:txBody>
      </p:sp>
      <p:sp>
        <p:nvSpPr>
          <p:cNvPr id="22" name="Text 20"/>
          <p:cNvSpPr/>
          <p:nvPr/>
        </p:nvSpPr>
        <p:spPr>
          <a:xfrm>
            <a:off x="1783080" y="596188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Sweep of λ values plotted as an accuracy-vs-fairness frontier.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Ablation Study: Swapping the Mitigation Method</a:t>
            </a:r>
            <a:endParaRPr lang="en-US" sz="2600" dirty="0"/>
          </a:p>
        </p:txBody>
      </p:sp>
      <p:sp>
        <p:nvSpPr>
          <p:cNvPr id="3" name="Text 1"/>
          <p:cNvSpPr/>
          <p:nvPr/>
        </p:nvSpPr>
        <p:spPr>
          <a:xfrm>
            <a:off x="640080" y="1051560"/>
            <a:ext cx="10515600" cy="365760"/>
          </a:xfrm>
          <a:prstGeom prst="rect">
            <a:avLst/>
          </a:prstGeom>
          <a:noFill/>
          <a:ln/>
        </p:spPr>
        <p:txBody>
          <a:bodyPr wrap="square" rtlCol="0" anchor="ctr"/>
          <a:lstStyle/>
          <a:p>
            <a:pPr marL="0" indent="0">
              <a:buNone/>
            </a:pPr>
            <a:r>
              <a:rPr lang="en-US" sz="1350" dirty="0">
                <a:solidFill>
                  <a:srgbClr val="5A6270"/>
                </a:solidFill>
                <a:latin typeface="Calibri" pitchFamily="34" charset="0"/>
                <a:ea typeface="Calibri" pitchFamily="34" charset="-122"/>
                <a:cs typeface="Calibri" pitchFamily="34" charset="-120"/>
              </a:rPr>
              <a:t>Same data, same base classifier, same metrics — only the mitigation algorithm changes.</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4114800"/>
        </p:xfrm>
        <a:graphic>
          <a:graphicData uri="http://schemas.openxmlformats.org/drawingml/2006/table">
            <a:tbl>
              <a:tblPr/>
              <a:tblGrid>
                <a:gridCol w="27432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6858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Mechanism</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No mitigation</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50" b="1" dirty="0">
                          <a:solidFill>
                            <a:srgbClr val="1B1B1F"/>
                          </a:solidFill>
                          <a:latin typeface="Calibri" pitchFamily="34" charset="0"/>
                          <a:ea typeface="Calibri" pitchFamily="34" charset="-122"/>
                          <a:cs typeface="Calibri" pitchFamily="34" charset="-120"/>
                        </a:rPr>
                        <a:t>Exponentiated Gradient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Lagrangian game, reweight-and-retrain loop</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GridSearch</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Sweep fixed λ values, select Pareto-frontier model</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Prejudice Remover</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Fairness penalty folded directly into the loss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4"/>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Adversarial Debiasing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Adversary predicts a from h(x); predictor is penalized when it succeeds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640080" y="5852160"/>
            <a:ext cx="10515600" cy="36576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Bolded row = the base-paper method (Agarwal et al., 2018).</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Tooling &amp; Pipeline</a:t>
            </a:r>
            <a:endParaRPr lang="en-US" sz="3000" dirty="0"/>
          </a:p>
        </p:txBody>
      </p:sp>
      <p:sp>
        <p:nvSpPr>
          <p:cNvPr id="3" name="Shape 1"/>
          <p:cNvSpPr/>
          <p:nvPr/>
        </p:nvSpPr>
        <p:spPr>
          <a:xfrm>
            <a:off x="640080" y="1920240"/>
            <a:ext cx="2514600" cy="3657600"/>
          </a:xfrm>
          <a:prstGeom prst="roundRect">
            <a:avLst>
              <a:gd name="adj" fmla="val 3636"/>
            </a:avLst>
          </a:prstGeom>
          <a:solidFill>
            <a:srgbClr val="141A4D"/>
          </a:solidFill>
          <a:ln/>
        </p:spPr>
        <p:txBody>
          <a:bodyPr/>
          <a:lstStyle/>
          <a:p>
            <a:endParaRPr lang="en-US"/>
          </a:p>
        </p:txBody>
      </p:sp>
      <p:sp>
        <p:nvSpPr>
          <p:cNvPr id="4" name="Shape 2"/>
          <p:cNvSpPr/>
          <p:nvPr/>
        </p:nvSpPr>
        <p:spPr>
          <a:xfrm>
            <a:off x="1440180" y="2286000"/>
            <a:ext cx="914400" cy="914400"/>
          </a:xfrm>
          <a:prstGeom prst="ellipse">
            <a:avLst/>
          </a:prstGeom>
          <a:solidFill>
            <a:srgbClr val="CADCFC"/>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1659636" y="2505456"/>
            <a:ext cx="475488" cy="475488"/>
          </a:xfrm>
          <a:prstGeom prst="rect">
            <a:avLst/>
          </a:prstGeom>
        </p:spPr>
      </p:pic>
      <p:sp>
        <p:nvSpPr>
          <p:cNvPr id="6" name="Text 3"/>
          <p:cNvSpPr/>
          <p:nvPr/>
        </p:nvSpPr>
        <p:spPr>
          <a:xfrm>
            <a:off x="777240"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fairlearn</a:t>
            </a:r>
            <a:endParaRPr lang="en-US" sz="1500" dirty="0"/>
          </a:p>
        </p:txBody>
      </p:sp>
      <p:sp>
        <p:nvSpPr>
          <p:cNvPr id="7" name="Text 4"/>
          <p:cNvSpPr/>
          <p:nvPr/>
        </p:nvSpPr>
        <p:spPr>
          <a:xfrm>
            <a:off x="868680"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ExponentiatedGradient, GridSearch, MetricFrame reporting/plots</a:t>
            </a:r>
            <a:endParaRPr lang="en-US" sz="1100" dirty="0"/>
          </a:p>
        </p:txBody>
      </p:sp>
      <p:sp>
        <p:nvSpPr>
          <p:cNvPr id="8" name="Shape 5"/>
          <p:cNvSpPr/>
          <p:nvPr/>
        </p:nvSpPr>
        <p:spPr>
          <a:xfrm>
            <a:off x="3410712" y="1920240"/>
            <a:ext cx="2514600" cy="3657600"/>
          </a:xfrm>
          <a:prstGeom prst="roundRect">
            <a:avLst>
              <a:gd name="adj" fmla="val 3636"/>
            </a:avLst>
          </a:prstGeom>
          <a:solidFill>
            <a:srgbClr val="141A4D"/>
          </a:solidFill>
          <a:ln/>
        </p:spPr>
        <p:txBody>
          <a:bodyPr/>
          <a:lstStyle/>
          <a:p>
            <a:endParaRPr lang="en-US"/>
          </a:p>
        </p:txBody>
      </p:sp>
      <p:sp>
        <p:nvSpPr>
          <p:cNvPr id="9" name="Shape 6"/>
          <p:cNvSpPr/>
          <p:nvPr/>
        </p:nvSpPr>
        <p:spPr>
          <a:xfrm>
            <a:off x="4210812" y="2286000"/>
            <a:ext cx="914400" cy="914400"/>
          </a:xfrm>
          <a:prstGeom prst="ellipse">
            <a:avLst/>
          </a:prstGeom>
          <a:solidFill>
            <a:srgbClr val="CADCFC"/>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4430268" y="2505456"/>
            <a:ext cx="475488" cy="475488"/>
          </a:xfrm>
          <a:prstGeom prst="rect">
            <a:avLst/>
          </a:prstGeom>
        </p:spPr>
      </p:pic>
      <p:sp>
        <p:nvSpPr>
          <p:cNvPr id="11" name="Text 7"/>
          <p:cNvSpPr/>
          <p:nvPr/>
        </p:nvSpPr>
        <p:spPr>
          <a:xfrm>
            <a:off x="3547872"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PyTorch</a:t>
            </a:r>
            <a:endParaRPr lang="en-US" sz="1500" dirty="0"/>
          </a:p>
        </p:txBody>
      </p:sp>
      <p:sp>
        <p:nvSpPr>
          <p:cNvPr id="12" name="Text 8"/>
          <p:cNvSpPr/>
          <p:nvPr/>
        </p:nvSpPr>
        <p:spPr>
          <a:xfrm>
            <a:off x="3639312"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Prejudice Remover and Adversarial Debiasing implemented from their papers — aif360 was rejected (TF1 chain; temp-file subprocess). Verified by degenerate-case tests.</a:t>
            </a:r>
            <a:endParaRPr lang="en-US" sz="1100" dirty="0"/>
          </a:p>
        </p:txBody>
      </p:sp>
      <p:sp>
        <p:nvSpPr>
          <p:cNvPr id="13" name="Shape 9"/>
          <p:cNvSpPr/>
          <p:nvPr/>
        </p:nvSpPr>
        <p:spPr>
          <a:xfrm>
            <a:off x="6181344" y="1920240"/>
            <a:ext cx="2514600" cy="3657600"/>
          </a:xfrm>
          <a:prstGeom prst="roundRect">
            <a:avLst>
              <a:gd name="adj" fmla="val 3636"/>
            </a:avLst>
          </a:prstGeom>
          <a:solidFill>
            <a:srgbClr val="141A4D"/>
          </a:solidFill>
          <a:ln/>
        </p:spPr>
        <p:txBody>
          <a:bodyPr/>
          <a:lstStyle/>
          <a:p>
            <a:endParaRPr lang="en-US"/>
          </a:p>
        </p:txBody>
      </p:sp>
      <p:sp>
        <p:nvSpPr>
          <p:cNvPr id="14" name="Shape 10"/>
          <p:cNvSpPr/>
          <p:nvPr/>
        </p:nvSpPr>
        <p:spPr>
          <a:xfrm>
            <a:off x="6981444" y="2286000"/>
            <a:ext cx="914400" cy="914400"/>
          </a:xfrm>
          <a:prstGeom prst="ellipse">
            <a:avLst/>
          </a:prstGeom>
          <a:solidFill>
            <a:srgbClr val="CADCFC"/>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7200900" y="2505456"/>
            <a:ext cx="475488" cy="475488"/>
          </a:xfrm>
          <a:prstGeom prst="rect">
            <a:avLst/>
          </a:prstGeom>
        </p:spPr>
      </p:pic>
      <p:sp>
        <p:nvSpPr>
          <p:cNvPr id="16" name="Text 11"/>
          <p:cNvSpPr/>
          <p:nvPr/>
        </p:nvSpPr>
        <p:spPr>
          <a:xfrm>
            <a:off x="6318504"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scikit-learn</a:t>
            </a:r>
            <a:endParaRPr lang="en-US" sz="1500" dirty="0"/>
          </a:p>
        </p:txBody>
      </p:sp>
      <p:sp>
        <p:nvSpPr>
          <p:cNvPr id="17" name="Text 12"/>
          <p:cNvSpPr/>
          <p:nvPr/>
        </p:nvSpPr>
        <p:spPr>
          <a:xfrm>
            <a:off x="6409944"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Decision tree and logistic regression, split, encoding</a:t>
            </a:r>
            <a:endParaRPr lang="en-US" sz="1100" dirty="0"/>
          </a:p>
        </p:txBody>
      </p:sp>
      <p:sp>
        <p:nvSpPr>
          <p:cNvPr id="18" name="Shape 13"/>
          <p:cNvSpPr/>
          <p:nvPr/>
        </p:nvSpPr>
        <p:spPr>
          <a:xfrm>
            <a:off x="8951976" y="1920240"/>
            <a:ext cx="2514600" cy="3657600"/>
          </a:xfrm>
          <a:prstGeom prst="roundRect">
            <a:avLst>
              <a:gd name="adj" fmla="val 3636"/>
            </a:avLst>
          </a:prstGeom>
          <a:solidFill>
            <a:srgbClr val="141A4D"/>
          </a:solidFill>
          <a:ln/>
        </p:spPr>
        <p:txBody>
          <a:bodyPr/>
          <a:lstStyle/>
          <a:p>
            <a:endParaRPr lang="en-US"/>
          </a:p>
        </p:txBody>
      </p:sp>
      <p:sp>
        <p:nvSpPr>
          <p:cNvPr id="19" name="Shape 14"/>
          <p:cNvSpPr/>
          <p:nvPr/>
        </p:nvSpPr>
        <p:spPr>
          <a:xfrm>
            <a:off x="9752076" y="2286000"/>
            <a:ext cx="914400" cy="914400"/>
          </a:xfrm>
          <a:prstGeom prst="ellipse">
            <a:avLst/>
          </a:prstGeom>
          <a:solidFill>
            <a:srgbClr val="CADCFC"/>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9971532" y="2505456"/>
            <a:ext cx="475488" cy="475488"/>
          </a:xfrm>
          <a:prstGeom prst="rect">
            <a:avLst/>
          </a:prstGeom>
        </p:spPr>
      </p:pic>
      <p:sp>
        <p:nvSpPr>
          <p:cNvPr id="21" name="Text 15"/>
          <p:cNvSpPr/>
          <p:nvPr/>
        </p:nvSpPr>
        <p:spPr>
          <a:xfrm>
            <a:off x="9089136"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shap</a:t>
            </a:r>
            <a:endParaRPr lang="en-US" sz="1500" dirty="0"/>
          </a:p>
        </p:txBody>
      </p:sp>
      <p:sp>
        <p:nvSpPr>
          <p:cNvPr id="22" name="Text 16"/>
          <p:cNvSpPr/>
          <p:nvPr/>
        </p:nvSpPr>
        <p:spPr>
          <a:xfrm>
            <a:off x="9180576"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Before/after attribution — stretch goal, completed. It refuted our own prediction.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Definition of Done — all three met</a:t>
            </a:r>
            <a:endParaRPr lang="en-US" sz="3000" dirty="0"/>
          </a:p>
        </p:txBody>
      </p:sp>
      <p:sp>
        <p:nvSpPr>
          <p:cNvPr id="3" name="Text 1"/>
          <p:cNvSpPr/>
          <p:nvPr/>
        </p:nvSpPr>
        <p:spPr>
          <a:xfrm>
            <a:off x="640080" y="1143000"/>
            <a:ext cx="5577840" cy="36576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Accuracy vs. demographic parity violation — measured</a:t>
            </a:r>
            <a:endParaRPr lang="en-US" sz="1250" dirty="0"/>
          </a:p>
        </p:txBody>
      </p:sp>
      <p:sp>
        <p:nvSpPr>
          <p:cNvPr id="5" name="Text 2"/>
          <p:cNvSpPr/>
          <p:nvPr/>
        </p:nvSpPr>
        <p:spPr>
          <a:xfrm>
            <a:off x="640080" y="4251960"/>
            <a:ext cx="5577840" cy="32004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GridSearch sweep, 15 λ values. Open rings mark the non-dominated frontier; dominated points are shown too.</a:t>
            </a:r>
            <a:endParaRPr lang="en-US" sz="1050" dirty="0"/>
          </a:p>
        </p:txBody>
      </p:sp>
      <p:sp>
        <p:nvSpPr>
          <p:cNvPr id="6" name="Shape 3"/>
          <p:cNvSpPr/>
          <p:nvPr/>
        </p:nvSpPr>
        <p:spPr>
          <a:xfrm>
            <a:off x="6446520" y="1143000"/>
            <a:ext cx="5074920" cy="3017520"/>
          </a:xfrm>
          <a:prstGeom prst="roundRect">
            <a:avLst>
              <a:gd name="adj" fmla="val 3030"/>
            </a:avLst>
          </a:prstGeom>
          <a:solidFill>
            <a:srgbClr val="F4F6FB"/>
          </a:solidFill>
          <a:ln/>
        </p:spPr>
        <p:txBody>
          <a:bodyPr/>
          <a:lstStyle/>
          <a:p>
            <a:endParaRPr lang="en-US"/>
          </a:p>
        </p:txBody>
      </p:sp>
      <p:sp>
        <p:nvSpPr>
          <p:cNvPr id="7" name="Shape 4"/>
          <p:cNvSpPr/>
          <p:nvPr/>
        </p:nvSpPr>
        <p:spPr>
          <a:xfrm>
            <a:off x="6675120" y="1371600"/>
            <a:ext cx="594360" cy="594360"/>
          </a:xfrm>
          <a:prstGeom prst="ellipse">
            <a:avLst/>
          </a:prstGeom>
          <a:solidFill>
            <a:srgbClr val="1E2761"/>
          </a:solidFill>
          <a:ln/>
        </p:spPr>
        <p:txBody>
          <a:bodyPr/>
          <a:lstStyle/>
          <a:p>
            <a:endParaRPr lang="en-US"/>
          </a:p>
        </p:txBody>
      </p:sp>
      <p:pic>
        <p:nvPicPr>
          <p:cNvPr id="8" name="Image 0" descr="preencoded.png"/>
          <p:cNvPicPr>
            <a:picLocks noChangeAspect="1"/>
          </p:cNvPicPr>
          <p:nvPr/>
        </p:nvPicPr>
        <p:blipFill>
          <a:blip r:embed="rId4"/>
          <a:stretch>
            <a:fillRect/>
          </a:stretch>
        </p:blipFill>
        <p:spPr>
          <a:xfrm>
            <a:off x="6805879" y="1502359"/>
            <a:ext cx="332842" cy="332842"/>
          </a:xfrm>
          <a:prstGeom prst="rect">
            <a:avLst/>
          </a:prstGeom>
        </p:spPr>
      </p:pic>
      <p:sp>
        <p:nvSpPr>
          <p:cNvPr id="9" name="Text 5"/>
          <p:cNvSpPr/>
          <p:nvPr/>
        </p:nvSpPr>
        <p:spPr>
          <a:xfrm>
            <a:off x="7406640" y="1371600"/>
            <a:ext cx="3931920" cy="5943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Results table</a:t>
            </a:r>
            <a:endParaRPr lang="en-US" sz="1500" dirty="0"/>
          </a:p>
        </p:txBody>
      </p:sp>
      <p:sp>
        <p:nvSpPr>
          <p:cNvPr id="10" name="Text 6"/>
          <p:cNvSpPr/>
          <p:nvPr/>
        </p:nvSpPr>
        <p:spPr>
          <a:xfrm>
            <a:off x="6675120" y="2103120"/>
            <a:ext cx="4572000" cy="1920240"/>
          </a:xfrm>
          <a:prstGeom prst="rect">
            <a:avLst/>
          </a:prstGeom>
          <a:noFill/>
          <a:ln/>
        </p:spPr>
        <p:txBody>
          <a:bodyPr wrap="square" rtlCol="0" anchor="t"/>
          <a:lstStyle/>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Rows: Baseline, Exp. Gradient (DP), Exp. Gradient (EO), GridSearch, Prejudice Remover, Adversarial Debiasing</a:t>
            </a:r>
            <a:endParaRPr lang="en-US" sz="1150" dirty="0"/>
          </a:p>
          <a:p>
            <a:pPr marL="0" indent="0">
              <a:lnSpc>
                <a:spcPct val="125000"/>
              </a:lnSpc>
              <a:buNone/>
            </a:pPr>
            <a:endParaRPr lang="en-US" sz="1150" dirty="0"/>
          </a:p>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Columns: Accuracy, Demographic Parity Diff, Equalized Odds Diff, Disparate Impact</a:t>
            </a:r>
            <a:endParaRPr lang="en-US" sz="1150" dirty="0"/>
          </a:p>
        </p:txBody>
      </p:sp>
      <p:sp>
        <p:nvSpPr>
          <p:cNvPr id="11" name="Text 7"/>
          <p:cNvSpPr/>
          <p:nvPr/>
        </p:nvSpPr>
        <p:spPr>
          <a:xfrm>
            <a:off x="640080" y="4526280"/>
            <a:ext cx="105156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The three ablation questions — answered</a:t>
            </a:r>
            <a:endParaRPr lang="en-US" sz="1500" dirty="0"/>
          </a:p>
        </p:txBody>
      </p:sp>
      <p:sp>
        <p:nvSpPr>
          <p:cNvPr id="12" name="Shape 8"/>
          <p:cNvSpPr/>
          <p:nvPr/>
        </p:nvSpPr>
        <p:spPr>
          <a:xfrm>
            <a:off x="640080" y="5029200"/>
            <a:ext cx="201168" cy="201168"/>
          </a:xfrm>
          <a:prstGeom prst="ellipse">
            <a:avLst/>
          </a:prstGeom>
          <a:solidFill>
            <a:srgbClr val="E8A33D"/>
          </a:solidFill>
          <a:ln/>
        </p:spPr>
        <p:txBody>
          <a:bodyPr/>
          <a:lstStyle/>
          <a:p>
            <a:endParaRPr lang="en-US"/>
          </a:p>
        </p:txBody>
      </p:sp>
      <p:sp>
        <p:nvSpPr>
          <p:cNvPr id="13" name="Text 9"/>
          <p:cNvSpPr/>
          <p:nvPr/>
        </p:nvSpPr>
        <p:spPr>
          <a:xfrm>
            <a:off x="1005840" y="498348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Closest to zero bias per accuracy point? Prejudice Remover (11.7 pts/pt) — but GridSearch reaches the lowest absolute gap.</a:t>
            </a:r>
            <a:endParaRPr lang="en-US" sz="1300" dirty="0"/>
          </a:p>
        </p:txBody>
      </p:sp>
      <p:sp>
        <p:nvSpPr>
          <p:cNvPr id="14" name="Shape 10"/>
          <p:cNvSpPr/>
          <p:nvPr/>
        </p:nvSpPr>
        <p:spPr>
          <a:xfrm>
            <a:off x="640080" y="5532120"/>
            <a:ext cx="201168" cy="201168"/>
          </a:xfrm>
          <a:prstGeom prst="ellipse">
            <a:avLst/>
          </a:prstGeom>
          <a:solidFill>
            <a:srgbClr val="E8A33D"/>
          </a:solidFill>
          <a:ln/>
        </p:spPr>
        <p:txBody>
          <a:bodyPr/>
          <a:lstStyle/>
          <a:p>
            <a:endParaRPr lang="en-US"/>
          </a:p>
        </p:txBody>
      </p:sp>
      <p:sp>
        <p:nvSpPr>
          <p:cNvPr id="15" name="Text 11"/>
          <p:cNvSpPr/>
          <p:nvPr/>
        </p:nvSpPr>
        <p:spPr>
          <a:xfrm>
            <a:off x="1005840" y="548640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Most stable? Adversarial Debiasing — the opposite of what we predicted. GridSearch is the least stable, by 6×.</a:t>
            </a:r>
            <a:endParaRPr lang="en-US" sz="1300" dirty="0"/>
          </a:p>
        </p:txBody>
      </p:sp>
      <p:sp>
        <p:nvSpPr>
          <p:cNvPr id="16" name="Shape 12"/>
          <p:cNvSpPr/>
          <p:nvPr/>
        </p:nvSpPr>
        <p:spPr>
          <a:xfrm>
            <a:off x="640080" y="6035040"/>
            <a:ext cx="201168" cy="201168"/>
          </a:xfrm>
          <a:prstGeom prst="ellipse">
            <a:avLst/>
          </a:prstGeom>
          <a:solidFill>
            <a:srgbClr val="E8A33D"/>
          </a:solidFill>
          <a:ln/>
        </p:spPr>
        <p:txBody>
          <a:bodyPr/>
          <a:lstStyle/>
          <a:p>
            <a:endParaRPr lang="en-US"/>
          </a:p>
        </p:txBody>
      </p:sp>
      <p:sp>
        <p:nvSpPr>
          <p:cNvPr id="17" name="Text 13"/>
          <p:cNvSpPr/>
          <p:nvPr/>
        </p:nvSpPr>
        <p:spPr>
          <a:xfrm>
            <a:off x="1005840" y="598932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Does the ranking change by metric? It inverts. Four of five methods are worse than no mitigation on equalized odds.</a:t>
            </a:r>
            <a:endParaRPr lang="en-US" sz="1300" dirty="0"/>
          </a:p>
        </p:txBody>
      </p:sp>
      <p:pic>
        <p:nvPicPr>
          <p:cNvPr id="18" name="Picture 17" descr="pareto_demographic_parity.png"/>
          <p:cNvPicPr>
            <a:picLocks noChangeAspect="1"/>
          </p:cNvPicPr>
          <p:nvPr/>
        </p:nvPicPr>
        <p:blipFill>
          <a:blip r:embed="rId5"/>
          <a:stretch>
            <a:fillRect/>
          </a:stretch>
        </p:blipFill>
        <p:spPr>
          <a:xfrm>
            <a:off x="640080" y="1554480"/>
            <a:ext cx="5577840" cy="379466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1 — The Unmitigated Baseline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5 random seeds, mean ± std. This is what there is to fix.</a:t>
            </a:r>
          </a:p>
        </p:txBody>
      </p:sp>
      <p:graphicFrame>
        <p:nvGraphicFramePr>
          <p:cNvPr id="4" name="Table 3"/>
          <p:cNvGraphicFramePr>
            <a:graphicFrameLocks noGrp="1"/>
          </p:cNvGraphicFramePr>
          <p:nvPr/>
        </p:nvGraphicFramePr>
        <p:xfrm>
          <a:off x="640080" y="1645920"/>
          <a:ext cx="10881360" cy="1042416"/>
        </p:xfrm>
        <a:graphic>
          <a:graphicData uri="http://schemas.openxmlformats.org/drawingml/2006/table">
            <a:tbl>
              <a:tblPr firstRow="1">
                <a:tableStyleId>{5C22544A-7EE6-4342-B048-85BDC9FD1C3A}</a:tableStyleId>
              </a:tblPr>
              <a:tblGrid>
                <a:gridCol w="2720340"/>
                <a:gridCol w="1994916"/>
                <a:gridCol w="1994916"/>
                <a:gridCol w="1994916"/>
                <a:gridCol w="2176272"/>
              </a:tblGrid>
              <a:tr h="384048">
                <a:tc>
                  <a:txBody>
                    <a:bodyPr wrap="square"/>
                    <a:lstStyle/>
                    <a:p>
                      <a:pPr algn="l"/>
                      <a:r>
                        <a:rPr sz="1100" b="1">
                          <a:solidFill>
                            <a:srgbClr val="FFFFFF"/>
                          </a:solidFill>
                          <a:latin typeface="Calibri"/>
                        </a:rPr>
                        <a:t>Base classifier</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Decision tree</a:t>
                      </a:r>
                    </a:p>
                  </a:txBody>
                  <a:tcPr marL="91440" marR="73152" marT="18288" marB="18288">
                    <a:solidFill>
                      <a:srgbClr val="FFFFFF"/>
                    </a:solidFill>
                  </a:tcPr>
                </a:tc>
                <a:tc>
                  <a:txBody>
                    <a:bodyPr wrap="square"/>
                    <a:lstStyle/>
                    <a:p>
                      <a:pPr algn="r"/>
                      <a:r>
                        <a:rPr sz="1150" b="0">
                          <a:solidFill>
                            <a:srgbClr val="1B1B1F"/>
                          </a:solidFill>
                          <a:latin typeface="Calibri"/>
                        </a:rPr>
                        <a:t>0.8518</a:t>
                      </a:r>
                    </a:p>
                  </a:txBody>
                  <a:tcPr marL="91440" marR="73152" marT="18288" marB="18288">
                    <a:solidFill>
                      <a:srgbClr val="FFFFFF"/>
                    </a:solidFill>
                  </a:tcPr>
                </a:tc>
                <a:tc>
                  <a:txBody>
                    <a:bodyPr wrap="square"/>
                    <a:lstStyle/>
                    <a:p>
                      <a:pPr algn="r"/>
                      <a:r>
                        <a:rPr sz="1150" b="0">
                          <a:solidFill>
                            <a:srgbClr val="1B1B1F"/>
                          </a:solidFill>
                          <a:latin typeface="Calibri"/>
                        </a:rPr>
                        <a:t>0.1556</a:t>
                      </a:r>
                    </a:p>
                  </a:txBody>
                  <a:tcPr marL="91440" marR="73152" marT="18288" marB="18288">
                    <a:solidFill>
                      <a:srgbClr val="FFFFFF"/>
                    </a:solidFill>
                  </a:tcPr>
                </a:tc>
                <a:tc>
                  <a:txBody>
                    <a:bodyPr wrap="square"/>
                    <a:lstStyle/>
                    <a:p>
                      <a:pPr algn="r"/>
                      <a:r>
                        <a:rPr sz="1150" b="0">
                          <a:solidFill>
                            <a:srgbClr val="1B1B1F"/>
                          </a:solidFill>
                          <a:latin typeface="Calibri"/>
                        </a:rPr>
                        <a:t>0.0799</a:t>
                      </a:r>
                    </a:p>
                  </a:txBody>
                  <a:tcPr marL="91440" marR="73152" marT="18288" marB="18288">
                    <a:solidFill>
                      <a:srgbClr val="FFFFFF"/>
                    </a:solidFill>
                  </a:tcPr>
                </a:tc>
                <a:tc>
                  <a:txBody>
                    <a:bodyPr wrap="square"/>
                    <a:lstStyle/>
                    <a:p>
                      <a:pPr algn="r"/>
                      <a:r>
                        <a:rPr sz="1150" b="0">
                          <a:solidFill>
                            <a:srgbClr val="1B1B1F"/>
                          </a:solidFill>
                          <a:latin typeface="Calibri"/>
                        </a:rPr>
                        <a:t>0.3061</a:t>
                      </a:r>
                    </a:p>
                  </a:txBody>
                  <a:tcPr marL="91440" marR="73152" marT="18288" marB="18288">
                    <a:solidFill>
                      <a:srgbClr val="FFFFFF"/>
                    </a:solidFill>
                  </a:tcPr>
                </a:tc>
              </a:tr>
              <a:tr h="329184">
                <a:tc>
                  <a:txBody>
                    <a:bodyPr wrap="square"/>
                    <a:lstStyle/>
                    <a:p>
                      <a:pPr algn="l"/>
                      <a:r>
                        <a:rPr sz="1150" b="0">
                          <a:solidFill>
                            <a:srgbClr val="1B1B1F"/>
                          </a:solidFill>
                          <a:latin typeface="Calibri"/>
                        </a:rPr>
                        <a:t>Logistic regression</a:t>
                      </a:r>
                    </a:p>
                  </a:txBody>
                  <a:tcPr marL="91440" marR="73152" marT="18288" marB="18288">
                    <a:solidFill>
                      <a:srgbClr val="F4F6FA"/>
                    </a:solidFill>
                  </a:tcPr>
                </a:tc>
                <a:tc>
                  <a:txBody>
                    <a:bodyPr wrap="square"/>
                    <a:lstStyle/>
                    <a:p>
                      <a:pPr algn="r"/>
                      <a:r>
                        <a:rPr sz="1150" b="0">
                          <a:solidFill>
                            <a:srgbClr val="1B1B1F"/>
                          </a:solidFill>
                          <a:latin typeface="Calibri"/>
                        </a:rPr>
                        <a:t>0.8465</a:t>
                      </a:r>
                    </a:p>
                  </a:txBody>
                  <a:tcPr marL="91440" marR="73152" marT="18288" marB="18288">
                    <a:solidFill>
                      <a:srgbClr val="F4F6FA"/>
                    </a:solidFill>
                  </a:tcPr>
                </a:tc>
                <a:tc>
                  <a:txBody>
                    <a:bodyPr wrap="square"/>
                    <a:lstStyle/>
                    <a:p>
                      <a:pPr algn="r"/>
                      <a:r>
                        <a:rPr sz="1150" b="0">
                          <a:solidFill>
                            <a:srgbClr val="1B1B1F"/>
                          </a:solidFill>
                          <a:latin typeface="Calibri"/>
                        </a:rPr>
                        <a:t>0.1897</a:t>
                      </a:r>
                    </a:p>
                  </a:txBody>
                  <a:tcPr marL="91440" marR="73152" marT="18288" marB="18288">
                    <a:solidFill>
                      <a:srgbClr val="F4F6FA"/>
                    </a:solidFill>
                  </a:tcPr>
                </a:tc>
                <a:tc>
                  <a:txBody>
                    <a:bodyPr wrap="square"/>
                    <a:lstStyle/>
                    <a:p>
                      <a:pPr algn="r"/>
                      <a:r>
                        <a:rPr sz="1150" b="0">
                          <a:solidFill>
                            <a:srgbClr val="1B1B1F"/>
                          </a:solidFill>
                          <a:latin typeface="Calibri"/>
                        </a:rPr>
                        <a:t>0.1057</a:t>
                      </a:r>
                    </a:p>
                  </a:txBody>
                  <a:tcPr marL="91440" marR="73152" marT="18288" marB="18288">
                    <a:solidFill>
                      <a:srgbClr val="F4F6FA"/>
                    </a:solidFill>
                  </a:tcPr>
                </a:tc>
                <a:tc>
                  <a:txBody>
                    <a:bodyPr wrap="square"/>
                    <a:lstStyle/>
                    <a:p>
                      <a:pPr algn="r"/>
                      <a:r>
                        <a:rPr sz="1150" b="0">
                          <a:solidFill>
                            <a:srgbClr val="1B1B1F"/>
                          </a:solidFill>
                          <a:latin typeface="Calibri"/>
                        </a:rPr>
                        <a:t>0.2896</a:t>
                      </a:r>
                    </a:p>
                  </a:txBody>
                  <a:tcPr marL="91440" marR="73152" marT="18288" marB="18288">
                    <a:solidFill>
                      <a:srgbClr val="F4F6FA"/>
                    </a:solidFill>
                  </a:tcPr>
                </a:tc>
              </a:tr>
            </a:tbl>
          </a:graphicData>
        </a:graphic>
      </p:graphicFrame>
      <p:sp>
        <p:nvSpPr>
          <p:cNvPr id="5" name="Rounded Rectangle 4"/>
          <p:cNvSpPr/>
          <p:nvPr/>
        </p:nvSpPr>
        <p:spPr>
          <a:xfrm>
            <a:off x="640080" y="3291840"/>
            <a:ext cx="10881360" cy="12344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429000"/>
            <a:ext cx="10332720" cy="960120"/>
          </a:xfrm>
          <a:prstGeom prst="rect">
            <a:avLst/>
          </a:prstGeom>
          <a:noFill/>
        </p:spPr>
        <p:txBody>
          <a:bodyPr wrap="square">
            <a:spAutoFit/>
          </a:bodyPr>
          <a:lstStyle/>
          <a:p>
            <a:pPr algn="l">
              <a:lnSpc>
                <a:spcPct val="100000"/>
              </a:lnSpc>
            </a:pPr>
            <a:r>
              <a:rPr sz="1400" b="0">
                <a:solidFill>
                  <a:srgbClr val="1B1B1F"/>
                </a:solidFill>
                <a:latin typeface="Calibri"/>
              </a:rPr>
              <a:t>Disparate impact of 0.29–0.31 means women are selected at under a third of the male rate. The EEOC four-fifths rule flags anything below 0.80 — this is off by nearly a factor of three.</a:t>
            </a:r>
          </a:p>
        </p:txBody>
      </p:sp>
      <p:sp>
        <p:nvSpPr>
          <p:cNvPr id="7" name="TextBox 6"/>
          <p:cNvSpPr txBox="1"/>
          <p:nvPr/>
        </p:nvSpPr>
        <p:spPr>
          <a:xfrm>
            <a:off x="640080" y="480060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0.30</a:t>
            </a:r>
          </a:p>
        </p:txBody>
      </p:sp>
      <p:sp>
        <p:nvSpPr>
          <p:cNvPr id="8" name="TextBox 7"/>
          <p:cNvSpPr txBox="1"/>
          <p:nvPr/>
        </p:nvSpPr>
        <p:spPr>
          <a:xfrm>
            <a:off x="64008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(0.80 is the legal threshold)</a:t>
            </a:r>
          </a:p>
        </p:txBody>
      </p:sp>
      <p:sp>
        <p:nvSpPr>
          <p:cNvPr id="9" name="TextBox 8"/>
          <p:cNvSpPr txBox="1"/>
          <p:nvPr/>
        </p:nvSpPr>
        <p:spPr>
          <a:xfrm>
            <a:off x="443484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85%</a:t>
            </a:r>
          </a:p>
        </p:txBody>
      </p:sp>
      <p:sp>
        <p:nvSpPr>
          <p:cNvPr id="10" name="TextBox 9"/>
          <p:cNvSpPr txBox="1"/>
          <p:nvPr/>
        </p:nvSpPr>
        <p:spPr>
          <a:xfrm>
            <a:off x="443484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 the metric a team</a:t>
            </a:r>
          </a:p>
          <a:p>
            <a:pPr algn="ctr">
              <a:lnSpc>
                <a:spcPct val="95000"/>
              </a:lnSpc>
            </a:pPr>
            <a:r>
              <a:rPr sz="1100" b="0">
                <a:solidFill>
                  <a:srgbClr val="5A6270"/>
                </a:solidFill>
                <a:latin typeface="Calibri"/>
              </a:rPr>
              <a:t>would actually be watching</a:t>
            </a:r>
          </a:p>
        </p:txBody>
      </p:sp>
      <p:sp>
        <p:nvSpPr>
          <p:cNvPr id="11" name="TextBox 10"/>
          <p:cNvSpPr txBox="1"/>
          <p:nvPr/>
        </p:nvSpPr>
        <p:spPr>
          <a:xfrm>
            <a:off x="822960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0</a:t>
            </a:r>
          </a:p>
        </p:txBody>
      </p:sp>
      <p:sp>
        <p:nvSpPr>
          <p:cNvPr id="12" name="TextBox 11"/>
          <p:cNvSpPr txBox="1"/>
          <p:nvPr/>
        </p:nvSpPr>
        <p:spPr>
          <a:xfrm>
            <a:off x="822960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features naming Sex.</a:t>
            </a:r>
          </a:p>
          <a:p>
            <a:pPr algn="ctr">
              <a:lnSpc>
                <a:spcPct val="95000"/>
              </a:lnSpc>
            </a:pPr>
            <a:r>
              <a:rPr sz="1100" b="0">
                <a:solidFill>
                  <a:srgbClr val="5A6270"/>
                </a:solidFill>
                <a:latin typeface="Calibri"/>
              </a:rPr>
              <a:t>The model found it anyway.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2 — The Base Paper Works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Agarwal et al. (2018), decision tree, ε = 0.01, 5 seeds. Every claim the paper makes held up.</a:t>
            </a:r>
          </a:p>
        </p:txBody>
      </p:sp>
      <p:graphicFrame>
        <p:nvGraphicFramePr>
          <p:cNvPr id="4" name="Table 3"/>
          <p:cNvGraphicFramePr>
            <a:graphicFrameLocks noGrp="1"/>
          </p:cNvGraphicFramePr>
          <p:nvPr/>
        </p:nvGraphicFramePr>
        <p:xfrm>
          <a:off x="640080" y="1691640"/>
          <a:ext cx="10881359" cy="1371600"/>
        </p:xfrm>
        <a:graphic>
          <a:graphicData uri="http://schemas.openxmlformats.org/drawingml/2006/table">
            <a:tbl>
              <a:tblPr firstRow="1">
                <a:tableStyleId>{5C22544A-7EE6-4342-B048-85BDC9FD1C3A}</a:tableStyleId>
              </a:tblPr>
              <a:tblGrid>
                <a:gridCol w="3291840"/>
                <a:gridCol w="1828800"/>
                <a:gridCol w="1828800"/>
                <a:gridCol w="1828800"/>
                <a:gridCol w="2103119"/>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tree</a:t>
                      </a:r>
                    </a:p>
                  </a:txBody>
                  <a:tcPr marL="91440" marR="73152" marT="18288" marB="18288">
                    <a:solidFill>
                      <a:srgbClr val="FFFFFF"/>
                    </a:solidFill>
                  </a:tcPr>
                </a:tc>
                <a:tc>
                  <a:txBody>
                    <a:bodyPr wrap="square"/>
                    <a:lstStyle/>
                    <a:p>
                      <a:pPr algn="r"/>
                      <a:r>
                        <a:rPr sz="1150" b="0">
                          <a:solidFill>
                            <a:srgbClr val="1B1B1F"/>
                          </a:solidFill>
                          <a:latin typeface="Calibri"/>
                        </a:rPr>
                        <a:t>0.8517</a:t>
                      </a:r>
                    </a:p>
                  </a:txBody>
                  <a:tcPr marL="91440" marR="73152" marT="18288" marB="18288">
                    <a:solidFill>
                      <a:srgbClr val="FFFFFF"/>
                    </a:solidFill>
                  </a:tcPr>
                </a:tc>
                <a:tc>
                  <a:txBody>
                    <a:bodyPr wrap="square"/>
                    <a:lstStyle/>
                    <a:p>
                      <a:pPr algn="r"/>
                      <a:r>
                        <a:rPr sz="1150" b="0">
                          <a:solidFill>
                            <a:srgbClr val="1B1B1F"/>
                          </a:solidFill>
                          <a:latin typeface="Calibri"/>
                        </a:rPr>
                        <a:t>0.1613</a:t>
                      </a:r>
                    </a:p>
                  </a:txBody>
                  <a:tcPr marL="91440" marR="73152" marT="18288" marB="18288">
                    <a:solidFill>
                      <a:srgbClr val="FFFFFF"/>
                    </a:solidFill>
                  </a:tcPr>
                </a:tc>
                <a:tc>
                  <a:txBody>
                    <a:bodyPr wrap="square"/>
                    <a:lstStyle/>
                    <a:p>
                      <a:pPr algn="r"/>
                      <a:r>
                        <a:rPr sz="1150" b="0">
                          <a:solidFill>
                            <a:srgbClr val="1B1B1F"/>
                          </a:solidFill>
                          <a:latin typeface="Calibri"/>
                        </a:rPr>
                        <a:t>0.0831</a:t>
                      </a:r>
                    </a:p>
                  </a:txBody>
                  <a:tcPr marL="91440" marR="73152" marT="18288" marB="18288">
                    <a:solidFill>
                      <a:srgbClr val="FFFFFF"/>
                    </a:solidFill>
                  </a:tcPr>
                </a:tc>
                <a:tc>
                  <a:txBody>
                    <a:bodyPr wrap="square"/>
                    <a:lstStyle/>
                    <a:p>
                      <a:pPr algn="r"/>
                      <a:r>
                        <a:rPr sz="1150" b="0">
                          <a:solidFill>
                            <a:srgbClr val="1B1B1F"/>
                          </a:solidFill>
                          <a:latin typeface="Calibri"/>
                        </a:rPr>
                        <a:t>0.3086</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 — Demographic Parity</a:t>
                      </a:r>
                    </a:p>
                  </a:txBody>
                  <a:tcPr marL="91440" marR="73152" marT="18288" marB="18288">
                    <a:solidFill>
                      <a:srgbClr val="FDF3E2"/>
                    </a:solidFill>
                  </a:tcPr>
                </a:tc>
                <a:tc>
                  <a:txBody>
                    <a:bodyPr wrap="square"/>
                    <a:lstStyle/>
                    <a:p>
                      <a:pPr algn="r"/>
                      <a:r>
                        <a:rPr sz="1150" b="1">
                          <a:solidFill>
                            <a:srgbClr val="1B1B1F"/>
                          </a:solidFill>
                          <a:latin typeface="Calibri"/>
                        </a:rPr>
                        <a:t>0.8364</a:t>
                      </a:r>
                    </a:p>
                  </a:txBody>
                  <a:tcPr marL="91440" marR="73152" marT="18288" marB="18288">
                    <a:solidFill>
                      <a:srgbClr val="FDF3E2"/>
                    </a:solidFill>
                  </a:tcPr>
                </a:tc>
                <a:tc>
                  <a:txBody>
                    <a:bodyPr wrap="square"/>
                    <a:lstStyle/>
                    <a:p>
                      <a:pPr algn="r"/>
                      <a:r>
                        <a:rPr sz="1150" b="1">
                          <a:solidFill>
                            <a:srgbClr val="1B1B1F"/>
                          </a:solidFill>
                          <a:latin typeface="Calibri"/>
                        </a:rPr>
                        <a:t>0.0187</a:t>
                      </a:r>
                    </a:p>
                  </a:txBody>
                  <a:tcPr marL="91440" marR="73152" marT="18288" marB="18288">
                    <a:solidFill>
                      <a:srgbClr val="FDF3E2"/>
                    </a:solidFill>
                  </a:tcPr>
                </a:tc>
                <a:tc>
                  <a:txBody>
                    <a:bodyPr wrap="square"/>
                    <a:lstStyle/>
                    <a:p>
                      <a:pPr algn="r"/>
                      <a:r>
                        <a:rPr sz="1150" b="1">
                          <a:solidFill>
                            <a:srgbClr val="1B1B1F"/>
                          </a:solidFill>
                          <a:latin typeface="Calibri"/>
                        </a:rPr>
                        <a:t>0.2773</a:t>
                      </a:r>
                    </a:p>
                  </a:txBody>
                  <a:tcPr marL="91440" marR="73152" marT="18288" marB="18288">
                    <a:solidFill>
                      <a:srgbClr val="FDF3E2"/>
                    </a:solidFill>
                  </a:tcPr>
                </a:tc>
                <a:tc>
                  <a:txBody>
                    <a:bodyPr wrap="square"/>
                    <a:lstStyle/>
                    <a:p>
                      <a:pPr algn="r"/>
                      <a:r>
                        <a:rPr sz="1150" b="1">
                          <a:solidFill>
                            <a:srgbClr val="1B1B1F"/>
                          </a:solidFill>
                          <a:latin typeface="Calibri"/>
                        </a:rPr>
                        <a:t>0.8834</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 — Equalized Odds</a:t>
                      </a:r>
                    </a:p>
                  </a:txBody>
                  <a:tcPr marL="91440" marR="73152" marT="18288" marB="18288">
                    <a:solidFill>
                      <a:srgbClr val="FFFFFF"/>
                    </a:solidFill>
                  </a:tcPr>
                </a:tc>
                <a:tc>
                  <a:txBody>
                    <a:bodyPr wrap="square"/>
                    <a:lstStyle/>
                    <a:p>
                      <a:pPr algn="r"/>
                      <a:r>
                        <a:rPr sz="1150" b="0">
                          <a:solidFill>
                            <a:srgbClr val="1B1B1F"/>
                          </a:solidFill>
                          <a:latin typeface="Calibri"/>
                        </a:rPr>
                        <a:t>0.8471</a:t>
                      </a:r>
                    </a:p>
                  </a:txBody>
                  <a:tcPr marL="91440" marR="73152" marT="18288" marB="18288">
                    <a:solidFill>
                      <a:srgbClr val="FFFFFF"/>
                    </a:solidFill>
                  </a:tcPr>
                </a:tc>
                <a:tc>
                  <a:txBody>
                    <a:bodyPr wrap="square"/>
                    <a:lstStyle/>
                    <a:p>
                      <a:pPr algn="r"/>
                      <a:r>
                        <a:rPr sz="1150" b="0">
                          <a:solidFill>
                            <a:srgbClr val="1B1B1F"/>
                          </a:solidFill>
                          <a:latin typeface="Calibri"/>
                        </a:rPr>
                        <a:t>0.1125</a:t>
                      </a:r>
                    </a:p>
                  </a:txBody>
                  <a:tcPr marL="91440" marR="73152" marT="18288" marB="18288">
                    <a:solidFill>
                      <a:srgbClr val="FFFFFF"/>
                    </a:solidFill>
                  </a:tcPr>
                </a:tc>
                <a:tc>
                  <a:txBody>
                    <a:bodyPr wrap="square"/>
                    <a:lstStyle/>
                    <a:p>
                      <a:pPr algn="r"/>
                      <a:r>
                        <a:rPr sz="1150" b="0">
                          <a:solidFill>
                            <a:srgbClr val="1B1B1F"/>
                          </a:solidFill>
                          <a:latin typeface="Calibri"/>
                        </a:rPr>
                        <a:t>0.0355</a:t>
                      </a:r>
                    </a:p>
                  </a:txBody>
                  <a:tcPr marL="91440" marR="73152" marT="18288" marB="18288">
                    <a:solidFill>
                      <a:srgbClr val="FFFFFF"/>
                    </a:solidFill>
                  </a:tcPr>
                </a:tc>
                <a:tc>
                  <a:txBody>
                    <a:bodyPr wrap="square"/>
                    <a:lstStyle/>
                    <a:p>
                      <a:pPr algn="r"/>
                      <a:r>
                        <a:rPr sz="1150" b="0">
                          <a:solidFill>
                            <a:srgbClr val="1B1B1F"/>
                          </a:solidFill>
                          <a:latin typeface="Calibri"/>
                        </a:rPr>
                        <a:t>0.4573</a:t>
                      </a:r>
                    </a:p>
                  </a:txBody>
                  <a:tcPr marL="91440" marR="73152" marT="18288" marB="18288">
                    <a:solidFill>
                      <a:srgbClr val="FFFFFF"/>
                    </a:solidFill>
                  </a:tcPr>
                </a:tc>
              </a:tr>
            </a:tbl>
          </a:graphicData>
        </a:graphic>
      </p:graphicFrame>
      <p:sp>
        <p:nvSpPr>
          <p:cNvPr id="5" name="TextBox 4"/>
          <p:cNvSpPr txBox="1"/>
          <p:nvPr/>
        </p:nvSpPr>
        <p:spPr>
          <a:xfrm>
            <a:off x="640080" y="3383280"/>
            <a:ext cx="3291840" cy="566928"/>
          </a:xfrm>
          <a:prstGeom prst="rect">
            <a:avLst/>
          </a:prstGeom>
          <a:noFill/>
        </p:spPr>
        <p:txBody>
          <a:bodyPr wrap="square">
            <a:spAutoFit/>
          </a:bodyPr>
          <a:lstStyle/>
          <a:p>
            <a:pPr algn="ctr">
              <a:lnSpc>
                <a:spcPct val="100000"/>
              </a:lnSpc>
            </a:pPr>
            <a:r>
              <a:rPr sz="3000" b="1">
                <a:solidFill>
                  <a:srgbClr val="1BAF7A"/>
                </a:solidFill>
                <a:latin typeface="Cambria"/>
              </a:rPr>
              <a:t>−88%</a:t>
            </a:r>
          </a:p>
        </p:txBody>
      </p:sp>
      <p:sp>
        <p:nvSpPr>
          <p:cNvPr id="6" name="TextBox 5"/>
          <p:cNvSpPr txBox="1"/>
          <p:nvPr/>
        </p:nvSpPr>
        <p:spPr>
          <a:xfrm>
            <a:off x="64008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demographic parity violation</a:t>
            </a:r>
          </a:p>
          <a:p>
            <a:pPr algn="ctr">
              <a:lnSpc>
                <a:spcPct val="95000"/>
              </a:lnSpc>
            </a:pPr>
            <a:r>
              <a:rPr sz="1100" b="0">
                <a:solidFill>
                  <a:srgbClr val="5A6270"/>
                </a:solidFill>
                <a:latin typeface="Calibri"/>
              </a:rPr>
              <a:t>0.161 → 0.019</a:t>
            </a:r>
          </a:p>
        </p:txBody>
      </p:sp>
      <p:sp>
        <p:nvSpPr>
          <p:cNvPr id="7" name="TextBox 6"/>
          <p:cNvSpPr txBox="1"/>
          <p:nvPr/>
        </p:nvSpPr>
        <p:spPr>
          <a:xfrm>
            <a:off x="4434840" y="338328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1.5 pts</a:t>
            </a:r>
          </a:p>
        </p:txBody>
      </p:sp>
      <p:sp>
        <p:nvSpPr>
          <p:cNvPr id="8" name="TextBox 7"/>
          <p:cNvSpPr txBox="1"/>
          <p:nvPr/>
        </p:nvSpPr>
        <p:spPr>
          <a:xfrm>
            <a:off x="443484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paid for it</a:t>
            </a:r>
          </a:p>
          <a:p>
            <a:pPr algn="ctr">
              <a:lnSpc>
                <a:spcPct val="95000"/>
              </a:lnSpc>
            </a:pPr>
            <a:r>
              <a:rPr sz="1100" b="0">
                <a:solidFill>
                  <a:srgbClr val="5A6270"/>
                </a:solidFill>
                <a:latin typeface="Calibri"/>
              </a:rPr>
              <a:t>0.8517 → 0.8364</a:t>
            </a:r>
          </a:p>
        </p:txBody>
      </p:sp>
      <p:sp>
        <p:nvSpPr>
          <p:cNvPr id="9" name="TextBox 8"/>
          <p:cNvSpPr txBox="1"/>
          <p:nvPr/>
        </p:nvSpPr>
        <p:spPr>
          <a:xfrm>
            <a:off x="8229600" y="3383280"/>
            <a:ext cx="3291840" cy="566928"/>
          </a:xfrm>
          <a:prstGeom prst="rect">
            <a:avLst/>
          </a:prstGeom>
          <a:noFill/>
        </p:spPr>
        <p:txBody>
          <a:bodyPr wrap="square">
            <a:spAutoFit/>
          </a:bodyPr>
          <a:lstStyle/>
          <a:p>
            <a:pPr algn="ctr">
              <a:lnSpc>
                <a:spcPct val="100000"/>
              </a:lnSpc>
            </a:pPr>
            <a:r>
              <a:rPr sz="2600" b="1">
                <a:solidFill>
                  <a:srgbClr val="1BAF7A"/>
                </a:solidFill>
                <a:latin typeface="Cambria"/>
              </a:rPr>
              <a:t>0.31 → 0.88</a:t>
            </a:r>
          </a:p>
        </p:txBody>
      </p:sp>
      <p:sp>
        <p:nvSpPr>
          <p:cNvPr id="10" name="TextBox 9"/>
          <p:cNvSpPr txBox="1"/>
          <p:nvPr/>
        </p:nvSpPr>
        <p:spPr>
          <a:xfrm>
            <a:off x="822960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fails, then passes</a:t>
            </a:r>
          </a:p>
        </p:txBody>
      </p:sp>
      <p:sp>
        <p:nvSpPr>
          <p:cNvPr id="11" name="Rounded Rectangle 10"/>
          <p:cNvSpPr/>
          <p:nvPr/>
        </p:nvSpPr>
        <p:spPr>
          <a:xfrm>
            <a:off x="640080" y="484632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4983480"/>
            <a:ext cx="10332720" cy="1143000"/>
          </a:xfrm>
          <a:prstGeom prst="rect">
            <a:avLst/>
          </a:prstGeom>
          <a:noFill/>
        </p:spPr>
        <p:txBody>
          <a:bodyPr wrap="square">
            <a:spAutoFit/>
          </a:bodyPr>
          <a:lstStyle/>
          <a:p>
            <a:pPr algn="l">
              <a:lnSpc>
                <a:spcPct val="100000"/>
              </a:lnSpc>
            </a:pPr>
            <a:r>
              <a:rPr sz="1400" b="0">
                <a:solidFill>
                  <a:srgbClr val="1B1B1F"/>
                </a:solidFill>
                <a:latin typeface="Calibri"/>
              </a:rPr>
              <a:t>Each constraint fixes only the metric it was given: ExpGrad-DP leaves equalized odds worse than the baseline. That is correct behaviour — the algorithm does what it is asked and nothing more — and it is the seed of Result 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3 — Six Mitigations, One Table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Same data, same base classifier (logistic regression), same metrics. Only the mitigation changes. 5 seeds.</a:t>
            </a:r>
          </a:p>
        </p:txBody>
      </p:sp>
      <p:graphicFrame>
        <p:nvGraphicFramePr>
          <p:cNvPr id="4" name="Table 3"/>
          <p:cNvGraphicFramePr>
            <a:graphicFrameLocks noGrp="1"/>
          </p:cNvGraphicFramePr>
          <p:nvPr/>
        </p:nvGraphicFramePr>
        <p:xfrm>
          <a:off x="640080" y="1737360"/>
          <a:ext cx="10881360" cy="2359152"/>
        </p:xfrm>
        <a:graphic>
          <a:graphicData uri="http://schemas.openxmlformats.org/drawingml/2006/table">
            <a:tbl>
              <a:tblPr firstRow="1">
                <a:tableStyleId>{5C22544A-7EE6-4342-B048-85BDC9FD1C3A}</a:tableStyleId>
              </a:tblPr>
              <a:tblGrid>
                <a:gridCol w="3474720"/>
                <a:gridCol w="1828800"/>
                <a:gridCol w="1828800"/>
                <a:gridCol w="1828800"/>
                <a:gridCol w="1920240"/>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0.8469</a:t>
                      </a:r>
                    </a:p>
                  </a:txBody>
                  <a:tcPr marL="91440" marR="73152" marT="18288" marB="18288">
                    <a:solidFill>
                      <a:srgbClr val="FFFFFF"/>
                    </a:solidFill>
                  </a:tcPr>
                </a:tc>
                <a:tc>
                  <a:txBody>
                    <a:bodyPr wrap="square"/>
                    <a:lstStyle/>
                    <a:p>
                      <a:pPr algn="r"/>
                      <a:r>
                        <a:rPr sz="1150" b="0">
                          <a:solidFill>
                            <a:srgbClr val="1B1B1F"/>
                          </a:solidFill>
                          <a:latin typeface="Calibri"/>
                        </a:rPr>
                        <a:t>0.1861</a:t>
                      </a:r>
                    </a:p>
                  </a:txBody>
                  <a:tcPr marL="91440" marR="73152" marT="18288" marB="18288">
                    <a:solidFill>
                      <a:srgbClr val="FFFFFF"/>
                    </a:solidFill>
                  </a:tcPr>
                </a:tc>
                <a:tc>
                  <a:txBody>
                    <a:bodyPr wrap="square"/>
                    <a:lstStyle/>
                    <a:p>
                      <a:pPr algn="r"/>
                      <a:r>
                        <a:rPr sz="1150" b="0">
                          <a:solidFill>
                            <a:srgbClr val="1B1B1F"/>
                          </a:solidFill>
                          <a:latin typeface="Calibri"/>
                        </a:rPr>
                        <a:t>0.0949</a:t>
                      </a:r>
                    </a:p>
                  </a:txBody>
                  <a:tcPr marL="91440" marR="73152" marT="18288" marB="18288">
                    <a:solidFill>
                      <a:srgbClr val="FFFFFF"/>
                    </a:solidFill>
                  </a:tcPr>
                </a:tc>
                <a:tc>
                  <a:txBody>
                    <a:bodyPr wrap="square"/>
                    <a:lstStyle/>
                    <a:p>
                      <a:pPr algn="r"/>
                      <a:r>
                        <a:rPr sz="1150" b="0">
                          <a:solidFill>
                            <a:srgbClr val="1B1B1F"/>
                          </a:solidFill>
                          <a:latin typeface="Calibri"/>
                        </a:rPr>
                        <a:t>0.2996</a:t>
                      </a:r>
                    </a:p>
                  </a:txBody>
                  <a:tcPr marL="91440" marR="73152" marT="18288" marB="18288">
                    <a:solidFill>
                      <a:srgbClr val="FFFFFF"/>
                    </a:solidFill>
                  </a:tcPr>
                </a:tc>
              </a:tr>
              <a:tr h="329184">
                <a:tc>
                  <a:txBody>
                    <a:bodyPr wrap="square"/>
                    <a:lstStyle/>
                    <a:p>
                      <a:pPr algn="l"/>
                      <a:r>
                        <a:rPr sz="1150" b="1">
                          <a:solidFill>
                            <a:srgbClr val="1B1B1F"/>
                          </a:solidFill>
                          <a:latin typeface="Calibri"/>
                        </a:rPr>
                        <a:t>Exponentiated Gradient (DP)</a:t>
                      </a:r>
                    </a:p>
                  </a:txBody>
                  <a:tcPr marL="91440" marR="73152" marT="18288" marB="18288">
                    <a:solidFill>
                      <a:srgbClr val="FDF3E2"/>
                    </a:solidFill>
                  </a:tcPr>
                </a:tc>
                <a:tc>
                  <a:txBody>
                    <a:bodyPr wrap="square"/>
                    <a:lstStyle/>
                    <a:p>
                      <a:pPr algn="r"/>
                      <a:r>
                        <a:rPr sz="1150" b="1">
                          <a:solidFill>
                            <a:srgbClr val="1B1B1F"/>
                          </a:solidFill>
                          <a:latin typeface="Calibri"/>
                        </a:rPr>
                        <a:t>0.8282</a:t>
                      </a:r>
                    </a:p>
                  </a:txBody>
                  <a:tcPr marL="91440" marR="73152" marT="18288" marB="18288">
                    <a:solidFill>
                      <a:srgbClr val="FDF3E2"/>
                    </a:solidFill>
                  </a:tcPr>
                </a:tc>
                <a:tc>
                  <a:txBody>
                    <a:bodyPr wrap="square"/>
                    <a:lstStyle/>
                    <a:p>
                      <a:pPr algn="r"/>
                      <a:r>
                        <a:rPr sz="1150" b="1">
                          <a:solidFill>
                            <a:srgbClr val="1B1B1F"/>
                          </a:solidFill>
                          <a:latin typeface="Calibri"/>
                        </a:rPr>
                        <a:t>0.0178</a:t>
                      </a:r>
                    </a:p>
                  </a:txBody>
                  <a:tcPr marL="91440" marR="73152" marT="18288" marB="18288">
                    <a:solidFill>
                      <a:srgbClr val="FDF3E2"/>
                    </a:solidFill>
                  </a:tcPr>
                </a:tc>
                <a:tc>
                  <a:txBody>
                    <a:bodyPr wrap="square"/>
                    <a:lstStyle/>
                    <a:p>
                      <a:pPr algn="r"/>
                      <a:r>
                        <a:rPr sz="1150" b="1">
                          <a:solidFill>
                            <a:srgbClr val="1B1B1F"/>
                          </a:solidFill>
                          <a:latin typeface="Calibri"/>
                        </a:rPr>
                        <a:t>0.2802</a:t>
                      </a:r>
                    </a:p>
                  </a:txBody>
                  <a:tcPr marL="91440" marR="73152" marT="18288" marB="18288">
                    <a:solidFill>
                      <a:srgbClr val="FDF3E2"/>
                    </a:solidFill>
                  </a:tcPr>
                </a:tc>
                <a:tc>
                  <a:txBody>
                    <a:bodyPr wrap="square"/>
                    <a:lstStyle/>
                    <a:p>
                      <a:pPr algn="r"/>
                      <a:r>
                        <a:rPr sz="1150" b="1">
                          <a:solidFill>
                            <a:srgbClr val="1B1B1F"/>
                          </a:solidFill>
                          <a:latin typeface="Calibri"/>
                        </a:rPr>
                        <a:t>0.8951</a:t>
                      </a:r>
                    </a:p>
                  </a:txBody>
                  <a:tcPr marL="91440" marR="73152" marT="18288" marB="18288">
                    <a:solidFill>
                      <a:srgbClr val="FDF3E2"/>
                    </a:solidFill>
                  </a:tcPr>
                </a:tc>
              </a:tr>
              <a:tr h="329184">
                <a:tc>
                  <a:txBody>
                    <a:bodyPr wrap="square"/>
                    <a:lstStyle/>
                    <a:p>
                      <a:pPr algn="l"/>
                      <a:r>
                        <a:rPr sz="1150" b="0">
                          <a:solidFill>
                            <a:srgbClr val="1B1B1F"/>
                          </a:solidFill>
                          <a:latin typeface="Calibri"/>
                        </a:rPr>
                        <a:t>Exponentiated Gradient (EO)</a:t>
                      </a:r>
                    </a:p>
                  </a:txBody>
                  <a:tcPr marL="91440" marR="73152" marT="18288" marB="18288">
                    <a:solidFill>
                      <a:srgbClr val="FFFFFF"/>
                    </a:solidFill>
                  </a:tcPr>
                </a:tc>
                <a:tc>
                  <a:txBody>
                    <a:bodyPr wrap="square"/>
                    <a:lstStyle/>
                    <a:p>
                      <a:pPr algn="r"/>
                      <a:r>
                        <a:rPr sz="1150" b="0">
                          <a:solidFill>
                            <a:srgbClr val="1B1B1F"/>
                          </a:solidFill>
                          <a:latin typeface="Calibri"/>
                        </a:rPr>
                        <a:t>0.8361</a:t>
                      </a:r>
                    </a:p>
                  </a:txBody>
                  <a:tcPr marL="91440" marR="73152" marT="18288" marB="18288">
                    <a:solidFill>
                      <a:srgbClr val="FFFFFF"/>
                    </a:solidFill>
                  </a:tcPr>
                </a:tc>
                <a:tc>
                  <a:txBody>
                    <a:bodyPr wrap="square"/>
                    <a:lstStyle/>
                    <a:p>
                      <a:pPr algn="r"/>
                      <a:r>
                        <a:rPr sz="1150" b="0">
                          <a:solidFill>
                            <a:srgbClr val="1B1B1F"/>
                          </a:solidFill>
                          <a:latin typeface="Calibri"/>
                        </a:rPr>
                        <a:t>0.1072</a:t>
                      </a:r>
                    </a:p>
                  </a:txBody>
                  <a:tcPr marL="91440" marR="73152" marT="18288" marB="18288">
                    <a:solidFill>
                      <a:srgbClr val="FFFFFF"/>
                    </a:solidFill>
                  </a:tcPr>
                </a:tc>
                <a:tc>
                  <a:txBody>
                    <a:bodyPr wrap="square"/>
                    <a:lstStyle/>
                    <a:p>
                      <a:pPr algn="r"/>
                      <a:r>
                        <a:rPr sz="1150" b="0">
                          <a:solidFill>
                            <a:srgbClr val="1B1B1F"/>
                          </a:solidFill>
                          <a:latin typeface="Calibri"/>
                        </a:rPr>
                        <a:t>0.0320</a:t>
                      </a:r>
                    </a:p>
                  </a:txBody>
                  <a:tcPr marL="91440" marR="73152" marT="18288" marB="18288">
                    <a:solidFill>
                      <a:srgbClr val="FFFFFF"/>
                    </a:solidFill>
                  </a:tcPr>
                </a:tc>
                <a:tc>
                  <a:txBody>
                    <a:bodyPr wrap="square"/>
                    <a:lstStyle/>
                    <a:p>
                      <a:pPr algn="r"/>
                      <a:r>
                        <a:rPr sz="1150" b="0">
                          <a:solidFill>
                            <a:srgbClr val="1B1B1F"/>
                          </a:solidFill>
                          <a:latin typeface="Calibri"/>
                        </a:rPr>
                        <a:t>0.5214</a:t>
                      </a:r>
                    </a:p>
                  </a:txBody>
                  <a:tcPr marL="91440" marR="73152" marT="18288" marB="18288">
                    <a:solidFill>
                      <a:srgbClr val="FFFFFF"/>
                    </a:solidFill>
                  </a:tcPr>
                </a:tc>
              </a:tr>
              <a:tr h="329184">
                <a:tc>
                  <a:txBody>
                    <a:bodyPr wrap="square"/>
                    <a:lstStyle/>
                    <a:p>
                      <a:pPr algn="l"/>
                      <a:r>
                        <a:rPr sz="1150" b="0">
                          <a:solidFill>
                            <a:srgbClr val="1B1B1F"/>
                          </a:solidFill>
                          <a:latin typeface="Calibri"/>
                        </a:rPr>
                        <a:t>GridSearch (DP)</a:t>
                      </a:r>
                    </a:p>
                  </a:txBody>
                  <a:tcPr marL="91440" marR="73152" marT="18288" marB="18288">
                    <a:solidFill>
                      <a:srgbClr val="F4F6FA"/>
                    </a:solidFill>
                  </a:tcPr>
                </a:tc>
                <a:tc>
                  <a:txBody>
                    <a:bodyPr wrap="square"/>
                    <a:lstStyle/>
                    <a:p>
                      <a:pPr algn="r"/>
                      <a:r>
                        <a:rPr sz="1150" b="0">
                          <a:solidFill>
                            <a:srgbClr val="1B1B1F"/>
                          </a:solidFill>
                          <a:latin typeface="Calibri"/>
                        </a:rPr>
                        <a:t>0.8265</a:t>
                      </a:r>
                    </a:p>
                  </a:txBody>
                  <a:tcPr marL="91440" marR="73152" marT="18288" marB="18288">
                    <a:solidFill>
                      <a:srgbClr val="F4F6FA"/>
                    </a:solidFill>
                  </a:tcPr>
                </a:tc>
                <a:tc>
                  <a:txBody>
                    <a:bodyPr wrap="square"/>
                    <a:lstStyle/>
                    <a:p>
                      <a:pPr algn="r"/>
                      <a:r>
                        <a:rPr sz="1150" b="0">
                          <a:solidFill>
                            <a:srgbClr val="1B1B1F"/>
                          </a:solidFill>
                          <a:latin typeface="Calibri"/>
                        </a:rPr>
                        <a:t>0.0150</a:t>
                      </a:r>
                    </a:p>
                  </a:txBody>
                  <a:tcPr marL="91440" marR="73152" marT="18288" marB="18288">
                    <a:solidFill>
                      <a:srgbClr val="F4F6FA"/>
                    </a:solidFill>
                  </a:tcPr>
                </a:tc>
                <a:tc>
                  <a:txBody>
                    <a:bodyPr wrap="square"/>
                    <a:lstStyle/>
                    <a:p>
                      <a:pPr algn="r"/>
                      <a:r>
                        <a:rPr sz="1150" b="0">
                          <a:solidFill>
                            <a:srgbClr val="1B1B1F"/>
                          </a:solidFill>
                          <a:latin typeface="Calibri"/>
                        </a:rPr>
                        <a:t>0.3040</a:t>
                      </a:r>
                    </a:p>
                  </a:txBody>
                  <a:tcPr marL="91440" marR="73152" marT="18288" marB="18288">
                    <a:solidFill>
                      <a:srgbClr val="F4F6FA"/>
                    </a:solidFill>
                  </a:tcPr>
                </a:tc>
                <a:tc>
                  <a:txBody>
                    <a:bodyPr wrap="square"/>
                    <a:lstStyle/>
                    <a:p>
                      <a:pPr algn="r"/>
                      <a:r>
                        <a:rPr sz="1150" b="0">
                          <a:solidFill>
                            <a:srgbClr val="1B1B1F"/>
                          </a:solidFill>
                          <a:latin typeface="Calibri"/>
                        </a:rPr>
                        <a:t>0.9859</a:t>
                      </a:r>
                    </a:p>
                  </a:txBody>
                  <a:tcPr marL="91440" marR="73152" marT="18288" marB="18288">
                    <a:solidFill>
                      <a:srgbClr val="F4F6FA"/>
                    </a:solidFill>
                  </a:tcPr>
                </a:tc>
              </a:tr>
              <a:tr h="329184">
                <a:tc>
                  <a:txBody>
                    <a:bodyPr wrap="square"/>
                    <a:lstStyle/>
                    <a:p>
                      <a:pPr algn="l"/>
                      <a:r>
                        <a:rPr sz="1150" b="0">
                          <a:solidFill>
                            <a:srgbClr val="1B1B1F"/>
                          </a:solidFill>
                          <a:latin typeface="Calibri"/>
                        </a:rPr>
                        <a:t>Prejudice Remover</a:t>
                      </a:r>
                    </a:p>
                  </a:txBody>
                  <a:tcPr marL="91440" marR="73152" marT="18288" marB="18288">
                    <a:solidFill>
                      <a:srgbClr val="FFFFFF"/>
                    </a:solidFill>
                  </a:tcPr>
                </a:tc>
                <a:tc>
                  <a:txBody>
                    <a:bodyPr wrap="square"/>
                    <a:lstStyle/>
                    <a:p>
                      <a:pPr algn="r"/>
                      <a:r>
                        <a:rPr sz="1150" b="0">
                          <a:solidFill>
                            <a:srgbClr val="1B1B1F"/>
                          </a:solidFill>
                          <a:latin typeface="Calibri"/>
                        </a:rPr>
                        <a:t>0.8365</a:t>
                      </a:r>
                    </a:p>
                  </a:txBody>
                  <a:tcPr marL="91440" marR="73152" marT="18288" marB="18288">
                    <a:solidFill>
                      <a:srgbClr val="FFFFFF"/>
                    </a:solidFill>
                  </a:tcPr>
                </a:tc>
                <a:tc>
                  <a:txBody>
                    <a:bodyPr wrap="square"/>
                    <a:lstStyle/>
                    <a:p>
                      <a:pPr algn="r"/>
                      <a:r>
                        <a:rPr sz="1150" b="0">
                          <a:solidFill>
                            <a:srgbClr val="1B1B1F"/>
                          </a:solidFill>
                          <a:latin typeface="Calibri"/>
                        </a:rPr>
                        <a:t>0.0645</a:t>
                      </a:r>
                    </a:p>
                  </a:txBody>
                  <a:tcPr marL="91440" marR="73152" marT="18288" marB="18288">
                    <a:solidFill>
                      <a:srgbClr val="FFFFFF"/>
                    </a:solidFill>
                  </a:tcPr>
                </a:tc>
                <a:tc>
                  <a:txBody>
                    <a:bodyPr wrap="square"/>
                    <a:lstStyle/>
                    <a:p>
                      <a:pPr algn="r"/>
                      <a:r>
                        <a:rPr sz="1150" b="0">
                          <a:solidFill>
                            <a:srgbClr val="1B1B1F"/>
                          </a:solidFill>
                          <a:latin typeface="Calibri"/>
                        </a:rPr>
                        <a:t>0.1884</a:t>
                      </a:r>
                    </a:p>
                  </a:txBody>
                  <a:tcPr marL="91440" marR="73152" marT="18288" marB="18288">
                    <a:solidFill>
                      <a:srgbClr val="FFFFFF"/>
                    </a:solidFill>
                  </a:tcPr>
                </a:tc>
                <a:tc>
                  <a:txBody>
                    <a:bodyPr wrap="square"/>
                    <a:lstStyle/>
                    <a:p>
                      <a:pPr algn="r"/>
                      <a:r>
                        <a:rPr sz="1150" b="0">
                          <a:solidFill>
                            <a:srgbClr val="1B1B1F"/>
                          </a:solidFill>
                          <a:latin typeface="Calibri"/>
                        </a:rPr>
                        <a:t>0.6860</a:t>
                      </a:r>
                    </a:p>
                  </a:txBody>
                  <a:tcPr marL="91440" marR="73152" marT="18288" marB="18288">
                    <a:solidFill>
                      <a:srgbClr val="FFFFFF"/>
                    </a:solidFill>
                  </a:tcPr>
                </a:tc>
              </a:tr>
              <a:tr h="329184">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0.8260</a:t>
                      </a:r>
                    </a:p>
                  </a:txBody>
                  <a:tcPr marL="91440" marR="73152" marT="18288" marB="18288">
                    <a:solidFill>
                      <a:srgbClr val="F4F6FA"/>
                    </a:solidFill>
                  </a:tcPr>
                </a:tc>
                <a:tc>
                  <a:txBody>
                    <a:bodyPr wrap="square"/>
                    <a:lstStyle/>
                    <a:p>
                      <a:pPr algn="r"/>
                      <a:r>
                        <a:rPr sz="1150" b="0">
                          <a:solidFill>
                            <a:srgbClr val="1B1B1F"/>
                          </a:solidFill>
                          <a:latin typeface="Calibri"/>
                        </a:rPr>
                        <a:t>0.0202</a:t>
                      </a:r>
                    </a:p>
                  </a:txBody>
                  <a:tcPr marL="91440" marR="73152" marT="18288" marB="18288">
                    <a:solidFill>
                      <a:srgbClr val="F4F6FA"/>
                    </a:solidFill>
                  </a:tcPr>
                </a:tc>
                <a:tc>
                  <a:txBody>
                    <a:bodyPr wrap="square"/>
                    <a:lstStyle/>
                    <a:p>
                      <a:pPr algn="r"/>
                      <a:r>
                        <a:rPr sz="1150" b="0">
                          <a:solidFill>
                            <a:srgbClr val="1B1B1F"/>
                          </a:solidFill>
                          <a:latin typeface="Calibri"/>
                        </a:rPr>
                        <a:t>0.2504</a:t>
                      </a:r>
                    </a:p>
                  </a:txBody>
                  <a:tcPr marL="91440" marR="73152" marT="18288" marB="18288">
                    <a:solidFill>
                      <a:srgbClr val="F4F6FA"/>
                    </a:solidFill>
                  </a:tcPr>
                </a:tc>
                <a:tc>
                  <a:txBody>
                    <a:bodyPr wrap="square"/>
                    <a:lstStyle/>
                    <a:p>
                      <a:pPr algn="r"/>
                      <a:r>
                        <a:rPr sz="1150" b="0">
                          <a:solidFill>
                            <a:srgbClr val="1B1B1F"/>
                          </a:solidFill>
                          <a:latin typeface="Calibri"/>
                        </a:rPr>
                        <a:t>0.8894</a:t>
                      </a:r>
                    </a:p>
                  </a:txBody>
                  <a:tcPr marL="91440" marR="73152" marT="18288" marB="18288">
                    <a:solidFill>
                      <a:srgbClr val="F4F6FA"/>
                    </a:solidFill>
                  </a:tcPr>
                </a:tc>
              </a:tr>
            </a:tbl>
          </a:graphicData>
        </a:graphic>
      </p:graphicFrame>
      <p:sp>
        <p:nvSpPr>
          <p:cNvPr id="5" name="TextBox 4"/>
          <p:cNvSpPr txBox="1"/>
          <p:nvPr/>
        </p:nvSpPr>
        <p:spPr>
          <a:xfrm>
            <a:off x="640080" y="4434840"/>
            <a:ext cx="10881360" cy="310896"/>
          </a:xfrm>
          <a:prstGeom prst="rect">
            <a:avLst/>
          </a:prstGeom>
          <a:noFill/>
        </p:spPr>
        <p:txBody>
          <a:bodyPr wrap="square">
            <a:spAutoFit/>
          </a:bodyPr>
          <a:lstStyle/>
          <a:p>
            <a:pPr algn="l">
              <a:lnSpc>
                <a:spcPct val="100000"/>
              </a:lnSpc>
            </a:pPr>
            <a:r>
              <a:rPr sz="1200" b="1">
                <a:solidFill>
                  <a:srgbClr val="1E2761"/>
                </a:solidFill>
                <a:latin typeface="Calibri"/>
              </a:rPr>
              <a:t>Prejudice Remover and Adversarial Debiasing were implemented from their papers in PyTorch, not taken from a library.</a:t>
            </a:r>
          </a:p>
        </p:txBody>
      </p:sp>
      <p:sp>
        <p:nvSpPr>
          <p:cNvPr id="6" name="Rounded Rectangle 5"/>
          <p:cNvSpPr/>
          <p:nvPr/>
        </p:nvSpPr>
        <p:spPr>
          <a:xfrm>
            <a:off x="640080" y="480060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4937760"/>
            <a:ext cx="10332720" cy="1143000"/>
          </a:xfrm>
          <a:prstGeom prst="rect">
            <a:avLst/>
          </a:prstGeom>
          <a:noFill/>
        </p:spPr>
        <p:txBody>
          <a:bodyPr wrap="square">
            <a:spAutoFit/>
          </a:bodyPr>
          <a:lstStyle/>
          <a:p>
            <a:pPr algn="l">
              <a:lnSpc>
                <a:spcPct val="100000"/>
              </a:lnSpc>
            </a:pPr>
            <a:r>
              <a:rPr sz="1350" b="0">
                <a:solidFill>
                  <a:srgbClr val="1B1B1F"/>
                </a:solidFill>
                <a:latin typeface="Calibri"/>
              </a:rPr>
              <a:t>Verified by degenerate cases: with η = 0 the Prejudice Remover penalty vanishes and it must reduce to per-group logistic regression — it reproduces it to 99.88% prediction agreement. Both fairness knobs are checked for monotonicity, which is what would catch a sign error. 4/4 passing.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4 — Two of Our Own Predictions Were Wrong</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three ablation questions, answered against the data rather than against intuition.</a:t>
            </a:r>
          </a:p>
        </p:txBody>
      </p:sp>
      <p:sp>
        <p:nvSpPr>
          <p:cNvPr id="4" name="Rounded Rectangle 3"/>
          <p:cNvSpPr/>
          <p:nvPr/>
        </p:nvSpPr>
        <p:spPr>
          <a:xfrm>
            <a:off x="640080" y="1645920"/>
            <a:ext cx="3429000"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Q1 · Best value?</a:t>
            </a:r>
          </a:p>
        </p:txBody>
      </p:sp>
      <p:sp>
        <p:nvSpPr>
          <p:cNvPr id="6" name="TextBox 5"/>
          <p:cNvSpPr txBox="1"/>
          <p:nvPr/>
        </p:nvSpPr>
        <p:spPr>
          <a:xfrm>
            <a:off x="868680"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Prejudice Remover — 11.7 parity points per accuracy point, 30% better than ExpGrad-DP. But it stops at DP 0.065; GridSearch reaches 0.015.</a:t>
            </a:r>
          </a:p>
        </p:txBody>
      </p:sp>
      <p:sp>
        <p:nvSpPr>
          <p:cNvPr id="7" name="Rounded Rectangle 6"/>
          <p:cNvSpPr/>
          <p:nvPr/>
        </p:nvSpPr>
        <p:spPr>
          <a:xfrm>
            <a:off x="4370832" y="1645920"/>
            <a:ext cx="3429000" cy="21031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Q2 · Most stable?</a:t>
            </a:r>
          </a:p>
        </p:txBody>
      </p:sp>
      <p:sp>
        <p:nvSpPr>
          <p:cNvPr id="9" name="TextBox 8"/>
          <p:cNvSpPr txBox="1"/>
          <p:nvPr/>
        </p:nvSpPr>
        <p:spPr>
          <a:xfrm>
            <a:off x="4599432"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Adversarial Debiasing — std 0.0011, the most stable in the study. We predicted it would be the least. GridSearch is 6× worse.</a:t>
            </a:r>
          </a:p>
        </p:txBody>
      </p:sp>
      <p:sp>
        <p:nvSpPr>
          <p:cNvPr id="10" name="Rounded Rectangle 9"/>
          <p:cNvSpPr/>
          <p:nvPr/>
        </p:nvSpPr>
        <p:spPr>
          <a:xfrm>
            <a:off x="8101583" y="1645920"/>
            <a:ext cx="3419856"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783080"/>
            <a:ext cx="2962656" cy="365760"/>
          </a:xfrm>
          <a:prstGeom prst="rect">
            <a:avLst/>
          </a:prstGeom>
          <a:noFill/>
        </p:spPr>
        <p:txBody>
          <a:bodyPr wrap="square">
            <a:spAutoFit/>
          </a:bodyPr>
          <a:lstStyle/>
          <a:p>
            <a:pPr algn="l">
              <a:lnSpc>
                <a:spcPct val="100000"/>
              </a:lnSpc>
            </a:pPr>
            <a:r>
              <a:rPr sz="1500" b="1">
                <a:solidFill>
                  <a:srgbClr val="1E2761"/>
                </a:solidFill>
                <a:latin typeface="Cambria"/>
              </a:rPr>
              <a:t>Q3 · Ranking stable?</a:t>
            </a:r>
          </a:p>
        </p:txBody>
      </p:sp>
      <p:sp>
        <p:nvSpPr>
          <p:cNvPr id="12" name="TextBox 11"/>
          <p:cNvSpPr txBox="1"/>
          <p:nvPr/>
        </p:nvSpPr>
        <p:spPr>
          <a:xfrm>
            <a:off x="8330183" y="2194560"/>
            <a:ext cx="2962656" cy="1417320"/>
          </a:xfrm>
          <a:prstGeom prst="rect">
            <a:avLst/>
          </a:prstGeom>
          <a:noFill/>
        </p:spPr>
        <p:txBody>
          <a:bodyPr wrap="square">
            <a:spAutoFit/>
          </a:bodyPr>
          <a:lstStyle/>
          <a:p>
            <a:pPr algn="l">
              <a:lnSpc>
                <a:spcPct val="100000"/>
              </a:lnSpc>
            </a:pPr>
            <a:r>
              <a:rPr sz="1250" b="0">
                <a:solidFill>
                  <a:srgbClr val="1B1B1F"/>
                </a:solidFill>
                <a:latin typeface="Calibri"/>
              </a:rPr>
              <a:t>It inverts. The best DP method is the worst EO method. Four of five mitigations are worse than no mitigation on equalized odds.</a:t>
            </a:r>
          </a:p>
        </p:txBody>
      </p:sp>
      <p:sp>
        <p:nvSpPr>
          <p:cNvPr id="13" name="TextBox 12"/>
          <p:cNvSpPr txBox="1"/>
          <p:nvPr/>
        </p:nvSpPr>
        <p:spPr>
          <a:xfrm>
            <a:off x="640080" y="3931920"/>
            <a:ext cx="10881360" cy="329184"/>
          </a:xfrm>
          <a:prstGeom prst="rect">
            <a:avLst/>
          </a:prstGeom>
          <a:noFill/>
        </p:spPr>
        <p:txBody>
          <a:bodyPr wrap="square">
            <a:spAutoFit/>
          </a:bodyPr>
          <a:lstStyle/>
          <a:p>
            <a:pPr algn="l">
              <a:lnSpc>
                <a:spcPct val="100000"/>
              </a:lnSpc>
            </a:pPr>
            <a:r>
              <a:rPr sz="1500" b="1">
                <a:solidFill>
                  <a:srgbClr val="1E2761"/>
                </a:solidFill>
                <a:latin typeface="Cambria"/>
              </a:rPr>
              <a:t>Why the stability intuition failed</a:t>
            </a:r>
          </a:p>
        </p:txBody>
      </p:sp>
      <p:sp>
        <p:nvSpPr>
          <p:cNvPr id="14" name="TextBox 13"/>
          <p:cNvSpPr txBox="1"/>
          <p:nvPr/>
        </p:nvSpPr>
        <p:spPr>
          <a:xfrm>
            <a:off x="640080" y="4315968"/>
            <a:ext cx="10881360" cy="868680"/>
          </a:xfrm>
          <a:prstGeom prst="rect">
            <a:avLst/>
          </a:prstGeom>
          <a:noFill/>
        </p:spPr>
        <p:txBody>
          <a:bodyPr wrap="square">
            <a:spAutoFit/>
          </a:bodyPr>
          <a:lstStyle/>
          <a:p>
            <a:pPr algn="l">
              <a:lnSpc>
                <a:spcPct val="100000"/>
              </a:lnSpc>
            </a:pPr>
            <a:r>
              <a:rPr sz="1350" b="0">
                <a:solidFill>
                  <a:srgbClr val="1B1B1F"/>
                </a:solidFill>
                <a:latin typeface="Calibri"/>
              </a:rPr>
              <a:t>The variance is across seeds, and a seed changes the train/test split. GridSearch takes a discrete argmax over a coarse 15-point λ grid, so a small change in the data flips which grid point wins and the answer moves discontinuously. Adversarial Debiasing has no selection step. The instability came from model selection, not from stochastic training.</a:t>
            </a:r>
          </a:p>
        </p:txBody>
      </p:sp>
      <p:sp>
        <p:nvSpPr>
          <p:cNvPr id="15" name="Rounded Rectangle 14"/>
          <p:cNvSpPr/>
          <p:nvPr/>
        </p:nvSpPr>
        <p:spPr>
          <a:xfrm>
            <a:off x="640080" y="5349240"/>
            <a:ext cx="10881360" cy="91440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5504688"/>
            <a:ext cx="10332720" cy="640080"/>
          </a:xfrm>
          <a:prstGeom prst="rect">
            <a:avLst/>
          </a:prstGeom>
          <a:noFill/>
        </p:spPr>
        <p:txBody>
          <a:bodyPr wrap="square">
            <a:spAutoFit/>
          </a:bodyPr>
          <a:lstStyle/>
          <a:p>
            <a:pPr algn="l">
              <a:lnSpc>
                <a:spcPct val="100000"/>
              </a:lnSpc>
            </a:pPr>
            <a:r>
              <a:rPr sz="1350" b="1">
                <a:solidFill>
                  <a:srgbClr val="1B1B1F"/>
                </a:solidFill>
                <a:latin typeface="Calibri"/>
              </a:rPr>
              <a:t>An engineer deploying GridSearch-DP on its parity score would take equalized odds from 0.095 to 0.304 — 3.2× worse than doing nothing — while the dashboard showed green.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1 — Who Pays for the Fairness Fix?</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Not in the plan. A gap can close by lifting one group or lowering the other. The metric is identical either way.</a:t>
            </a:r>
          </a:p>
        </p:txBody>
      </p:sp>
      <p:pic>
        <p:nvPicPr>
          <p:cNvPr id="4" name="Picture 3" descr="who_pays_incidence.png"/>
          <p:cNvPicPr>
            <a:picLocks noChangeAspect="1"/>
          </p:cNvPicPr>
          <p:nvPr/>
        </p:nvPicPr>
        <p:blipFill>
          <a:blip r:embed="rId2"/>
          <a:stretch>
            <a:fillRect/>
          </a:stretch>
        </p:blipFill>
        <p:spPr>
          <a:xfrm>
            <a:off x="640080" y="1572768"/>
            <a:ext cx="6720840" cy="3267999"/>
          </a:xfrm>
          <a:prstGeom prst="rect">
            <a:avLst/>
          </a:prstGeom>
        </p:spPr>
      </p:pic>
      <p:sp>
        <p:nvSpPr>
          <p:cNvPr id="5" name="Rounded Rectangle 4"/>
          <p:cNvSpPr/>
          <p:nvPr/>
        </p:nvSpPr>
        <p:spPr>
          <a:xfrm>
            <a:off x="7635240" y="1572768"/>
            <a:ext cx="3886200" cy="41605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63840" y="1737360"/>
            <a:ext cx="3429000" cy="365760"/>
          </a:xfrm>
          <a:prstGeom prst="rect">
            <a:avLst/>
          </a:prstGeom>
          <a:noFill/>
        </p:spPr>
        <p:txBody>
          <a:bodyPr wrap="square">
            <a:spAutoFit/>
          </a:bodyPr>
          <a:lstStyle/>
          <a:p>
            <a:pPr algn="l">
              <a:lnSpc>
                <a:spcPct val="100000"/>
              </a:lnSpc>
            </a:pPr>
            <a:r>
              <a:rPr sz="1500" b="1">
                <a:solidFill>
                  <a:srgbClr val="1E2761"/>
                </a:solidFill>
                <a:latin typeface="Cambria"/>
              </a:rPr>
              <a:t>What the table cannot say</a:t>
            </a:r>
          </a:p>
        </p:txBody>
      </p:sp>
      <p:sp>
        <p:nvSpPr>
          <p:cNvPr id="7" name="TextBox 6"/>
          <p:cNvSpPr txBox="1"/>
          <p:nvPr/>
        </p:nvSpPr>
        <p:spPr>
          <a:xfrm>
            <a:off x="7863840" y="2176272"/>
            <a:ext cx="3429000" cy="3383280"/>
          </a:xfrm>
          <a:prstGeom prst="rect">
            <a:avLst/>
          </a:prstGeom>
          <a:noFill/>
        </p:spPr>
        <p:txBody>
          <a:bodyPr wrap="square">
            <a:spAutoFit/>
          </a:bodyPr>
          <a:lstStyle/>
          <a:p>
            <a:pPr algn="l">
              <a:lnSpc>
                <a:spcPct val="105000"/>
              </a:lnSpc>
            </a:pPr>
            <a:r>
              <a:rPr sz="1300" b="0">
                <a:solidFill>
                  <a:srgbClr val="1B1B1F"/>
                </a:solidFill>
                <a:latin typeface="Calibri"/>
              </a:rPr>
              <a:t>ExpGrad-DP took demographic parity from 0.186 to 0.018.</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It did that by taking approval from 909 men so 316 women could gain it — 2.7 lost per 1 gained.</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Measured in rates the split looks even (0.57); measured in people it is 0.74, because the privileged group is 2.1× larger.</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Every method shrank the total number of favourable decisions. Not one levelled up.</a:t>
            </a:r>
          </a:p>
        </p:txBody>
      </p:sp>
      <p:sp>
        <p:nvSpPr>
          <p:cNvPr id="8" name="Rounded Rectangle 7"/>
          <p:cNvSpPr/>
          <p:nvPr/>
        </p:nvSpPr>
        <p:spPr>
          <a:xfrm>
            <a:off x="640080" y="5870448"/>
            <a:ext cx="10881360" cy="749808"/>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400" y="5989320"/>
            <a:ext cx="10332720" cy="548640"/>
          </a:xfrm>
          <a:prstGeom prst="rect">
            <a:avLst/>
          </a:prstGeom>
          <a:noFill/>
        </p:spPr>
        <p:txBody>
          <a:bodyPr wrap="square">
            <a:spAutoFit/>
          </a:bodyPr>
          <a:lstStyle/>
          <a:p>
            <a:pPr algn="l">
              <a:lnSpc>
                <a:spcPct val="100000"/>
              </a:lnSpc>
            </a:pPr>
            <a:r>
              <a:rPr sz="1350" b="1">
                <a:solidFill>
                  <a:srgbClr val="1B1B1F"/>
                </a:solidFill>
                <a:latin typeface="Calibri"/>
              </a:rPr>
              <a:t>And 62% of ExpGrad-EO's individual-level effect is not fairness at all — two draws from the same fitted model disagree on 3.2% of people, against a 5.2% total change. The same applicant can apply twice and get two answers.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2 — The Fairest Models Use Sex Proxies MORE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Our plan predicted proxy reliance would shrink after mitigation. It grew.</a:t>
            </a:r>
          </a:p>
        </p:txBody>
      </p:sp>
      <p:graphicFrame>
        <p:nvGraphicFramePr>
          <p:cNvPr id="4" name="Table 3"/>
          <p:cNvGraphicFramePr>
            <a:graphicFrameLocks noGrp="1"/>
          </p:cNvGraphicFramePr>
          <p:nvPr/>
        </p:nvGraphicFramePr>
        <p:xfrm>
          <a:off x="640080" y="1691640"/>
          <a:ext cx="10881360" cy="2359152"/>
        </p:xfrm>
        <a:graphic>
          <a:graphicData uri="http://schemas.openxmlformats.org/drawingml/2006/table">
            <a:tbl>
              <a:tblPr firstRow="1">
                <a:tableStyleId>{5C22544A-7EE6-4342-B048-85BDC9FD1C3A}</a:tableStyleId>
              </a:tblPr>
              <a:tblGrid>
                <a:gridCol w="3840480"/>
                <a:gridCol w="2651760"/>
                <a:gridCol w="2011680"/>
                <a:gridCol w="2377440"/>
              </a:tblGrid>
              <a:tr h="384048">
                <a:tc>
                  <a:txBody>
                    <a:bodyPr wrap="square"/>
                    <a:lstStyle/>
                    <a:p>
                      <a:pPr algn="l"/>
                      <a:r>
                        <a:rPr sz="1100" b="1">
                          <a:solidFill>
                            <a:srgbClr val="FFFFFF"/>
                          </a:solidFill>
                          <a:latin typeface="Calibri"/>
                        </a:rPr>
                        <a:t>Model</a:t>
                      </a:r>
                    </a:p>
                  </a:txBody>
                  <a:tcPr marL="91440" marR="73152" marT="18288" marB="18288">
                    <a:solidFill>
                      <a:srgbClr val="1E2761"/>
                    </a:solidFill>
                  </a:tcPr>
                </a:tc>
                <a:tc>
                  <a:txBody>
                    <a:bodyPr wrap="square"/>
                    <a:lstStyle/>
                    <a:p>
                      <a:pPr algn="r"/>
                      <a:r>
                        <a:rPr sz="1100" b="1">
                          <a:solidFill>
                            <a:srgbClr val="FFFFFF"/>
                          </a:solidFill>
                          <a:latin typeface="Calibri"/>
                        </a:rPr>
                        <a:t>Reliance on sex proxies</a:t>
                      </a:r>
                    </a:p>
                  </a:txBody>
                  <a:tcPr marL="91440" marR="73152" marT="18288" marB="18288">
                    <a:solidFill>
                      <a:srgbClr val="1E2761"/>
                    </a:solidFill>
                  </a:tcPr>
                </a:tc>
                <a:tc>
                  <a:txBody>
                    <a:bodyPr wrap="square"/>
                    <a:lstStyle/>
                    <a:p>
                      <a:pPr algn="r"/>
                      <a:r>
                        <a:rPr sz="1100" b="1">
                          <a:solidFill>
                            <a:srgbClr val="FFFFFF"/>
                          </a:solidFill>
                          <a:latin typeface="Calibri"/>
                        </a:rPr>
                        <a:t>vs baseline</a:t>
                      </a:r>
                    </a:p>
                  </a:txBody>
                  <a:tcPr marL="91440" marR="73152" marT="18288" marB="18288">
                    <a:solidFill>
                      <a:srgbClr val="1E2761"/>
                    </a:solidFill>
                  </a:tcPr>
                </a:tc>
                <a:tc>
                  <a:txBody>
                    <a:bodyPr wrap="square"/>
                    <a:lstStyle/>
                    <a:p>
                      <a:pPr algn="r"/>
                      <a:r>
                        <a:rPr sz="1100" b="1">
                          <a:solidFill>
                            <a:srgbClr val="FFFFFF"/>
                          </a:solidFill>
                          <a:latin typeface="Calibri"/>
                        </a:rPr>
                        <a:t>'relationship' alone</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0.545</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0.075</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 (DP)</a:t>
                      </a:r>
                    </a:p>
                  </a:txBody>
                  <a:tcPr marL="91440" marR="73152" marT="18288" marB="18288">
                    <a:solidFill>
                      <a:srgbClr val="FDF3E2"/>
                    </a:solidFill>
                  </a:tcPr>
                </a:tc>
                <a:tc>
                  <a:txBody>
                    <a:bodyPr wrap="square"/>
                    <a:lstStyle/>
                    <a:p>
                      <a:pPr algn="r"/>
                      <a:r>
                        <a:rPr sz="1150" b="1">
                          <a:solidFill>
                            <a:srgbClr val="1B1B1F"/>
                          </a:solidFill>
                          <a:latin typeface="Calibri"/>
                        </a:rPr>
                        <a:t>0.586</a:t>
                      </a:r>
                    </a:p>
                  </a:txBody>
                  <a:tcPr marL="91440" marR="73152" marT="18288" marB="18288">
                    <a:solidFill>
                      <a:srgbClr val="FDF3E2"/>
                    </a:solidFill>
                  </a:tcPr>
                </a:tc>
                <a:tc>
                  <a:txBody>
                    <a:bodyPr wrap="square"/>
                    <a:lstStyle/>
                    <a:p>
                      <a:pPr algn="r"/>
                      <a:r>
                        <a:rPr sz="1150" b="1">
                          <a:solidFill>
                            <a:srgbClr val="1B1B1F"/>
                          </a:solidFill>
                          <a:latin typeface="Calibri"/>
                        </a:rPr>
                        <a:t>+7.6%</a:t>
                      </a:r>
                    </a:p>
                  </a:txBody>
                  <a:tcPr marL="91440" marR="73152" marT="18288" marB="18288">
                    <a:solidFill>
                      <a:srgbClr val="FDF3E2"/>
                    </a:solidFill>
                  </a:tcPr>
                </a:tc>
                <a:tc>
                  <a:txBody>
                    <a:bodyPr wrap="square"/>
                    <a:lstStyle/>
                    <a:p>
                      <a:pPr algn="r"/>
                      <a:r>
                        <a:rPr sz="1150" b="1">
                          <a:solidFill>
                            <a:srgbClr val="1B1B1F"/>
                          </a:solidFill>
                          <a:latin typeface="Calibri"/>
                        </a:rPr>
                        <a:t>0.189</a:t>
                      </a:r>
                    </a:p>
                  </a:txBody>
                  <a:tcPr marL="91440" marR="73152" marT="18288" marB="18288">
                    <a:solidFill>
                      <a:srgbClr val="FDF3E2"/>
                    </a:solidFill>
                  </a:tcPr>
                </a:tc>
              </a:tr>
              <a:tr h="329184">
                <a:tc>
                  <a:txBody>
                    <a:bodyPr wrap="square"/>
                    <a:lstStyle/>
                    <a:p>
                      <a:pPr algn="l"/>
                      <a:r>
                        <a:rPr sz="1150" b="0">
                          <a:solidFill>
                            <a:srgbClr val="1B1B1F"/>
                          </a:solidFill>
                          <a:latin typeface="Calibri"/>
                        </a:rPr>
                        <a:t>GridSearch (DP)</a:t>
                      </a:r>
                    </a:p>
                  </a:txBody>
                  <a:tcPr marL="91440" marR="73152" marT="18288" marB="18288">
                    <a:solidFill>
                      <a:srgbClr val="FFFFFF"/>
                    </a:solidFill>
                  </a:tcPr>
                </a:tc>
                <a:tc>
                  <a:txBody>
                    <a:bodyPr wrap="square"/>
                    <a:lstStyle/>
                    <a:p>
                      <a:pPr algn="r"/>
                      <a:r>
                        <a:rPr sz="1150" b="0">
                          <a:solidFill>
                            <a:srgbClr val="1B1B1F"/>
                          </a:solidFill>
                          <a:latin typeface="Calibri"/>
                        </a:rPr>
                        <a:t>0.586</a:t>
                      </a:r>
                    </a:p>
                  </a:txBody>
                  <a:tcPr marL="91440" marR="73152" marT="18288" marB="18288">
                    <a:solidFill>
                      <a:srgbClr val="FFFFFF"/>
                    </a:solidFill>
                  </a:tcPr>
                </a:tc>
                <a:tc>
                  <a:txBody>
                    <a:bodyPr wrap="square"/>
                    <a:lstStyle/>
                    <a:p>
                      <a:pPr algn="r"/>
                      <a:r>
                        <a:rPr sz="1150" b="0">
                          <a:solidFill>
                            <a:srgbClr val="1B1B1F"/>
                          </a:solidFill>
                          <a:latin typeface="Calibri"/>
                        </a:rPr>
                        <a:t>+7.5%</a:t>
                      </a:r>
                    </a:p>
                  </a:txBody>
                  <a:tcPr marL="91440" marR="73152" marT="18288" marB="18288">
                    <a:solidFill>
                      <a:srgbClr val="FFFFFF"/>
                    </a:solidFill>
                  </a:tcPr>
                </a:tc>
                <a:tc>
                  <a:txBody>
                    <a:bodyPr wrap="square"/>
                    <a:lstStyle/>
                    <a:p>
                      <a:pPr algn="r"/>
                      <a:r>
                        <a:rPr sz="1150" b="0">
                          <a:solidFill>
                            <a:srgbClr val="1B1B1F"/>
                          </a:solidFill>
                          <a:latin typeface="Calibri"/>
                        </a:rPr>
                        <a:t>0.158</a:t>
                      </a:r>
                    </a:p>
                  </a:txBody>
                  <a:tcPr marL="91440" marR="73152" marT="18288" marB="18288">
                    <a:solidFill>
                      <a:srgbClr val="FFFFFF"/>
                    </a:solidFill>
                  </a:tcPr>
                </a:tc>
              </a:tr>
              <a:tr h="329184">
                <a:tc>
                  <a:txBody>
                    <a:bodyPr wrap="square"/>
                    <a:lstStyle/>
                    <a:p>
                      <a:pPr algn="l"/>
                      <a:r>
                        <a:rPr sz="1150" b="0">
                          <a:solidFill>
                            <a:srgbClr val="1B1B1F"/>
                          </a:solidFill>
                          <a:latin typeface="Calibri"/>
                        </a:rPr>
                        <a:t>Prejudice Remover</a:t>
                      </a:r>
                    </a:p>
                  </a:txBody>
                  <a:tcPr marL="91440" marR="73152" marT="18288" marB="18288">
                    <a:solidFill>
                      <a:srgbClr val="F4F6FA"/>
                    </a:solidFill>
                  </a:tcPr>
                </a:tc>
                <a:tc>
                  <a:txBody>
                    <a:bodyPr wrap="square"/>
                    <a:lstStyle/>
                    <a:p>
                      <a:pPr algn="r"/>
                      <a:r>
                        <a:rPr sz="1150" b="0">
                          <a:solidFill>
                            <a:srgbClr val="1B1B1F"/>
                          </a:solidFill>
                          <a:latin typeface="Calibri"/>
                        </a:rPr>
                        <a:t>0.505</a:t>
                      </a:r>
                    </a:p>
                  </a:txBody>
                  <a:tcPr marL="91440" marR="73152" marT="18288" marB="18288">
                    <a:solidFill>
                      <a:srgbClr val="F4F6FA"/>
                    </a:solidFill>
                  </a:tcPr>
                </a:tc>
                <a:tc>
                  <a:txBody>
                    <a:bodyPr wrap="square"/>
                    <a:lstStyle/>
                    <a:p>
                      <a:pPr algn="r"/>
                      <a:r>
                        <a:rPr sz="1150" b="0">
                          <a:solidFill>
                            <a:srgbClr val="1B1B1F"/>
                          </a:solidFill>
                          <a:latin typeface="Calibri"/>
                        </a:rPr>
                        <a:t>-7.3%</a:t>
                      </a:r>
                    </a:p>
                  </a:txBody>
                  <a:tcPr marL="91440" marR="73152" marT="18288" marB="18288">
                    <a:solidFill>
                      <a:srgbClr val="F4F6FA"/>
                    </a:solidFill>
                  </a:tcPr>
                </a:tc>
                <a:tc>
                  <a:txBody>
                    <a:bodyPr wrap="square"/>
                    <a:lstStyle/>
                    <a:p>
                      <a:pPr algn="r"/>
                      <a:r>
                        <a:rPr sz="1150" b="0">
                          <a:solidFill>
                            <a:srgbClr val="1B1B1F"/>
                          </a:solidFill>
                          <a:latin typeface="Calibri"/>
                        </a:rPr>
                        <a:t>0.071</a:t>
                      </a:r>
                    </a:p>
                  </a:txBody>
                  <a:tcPr marL="91440" marR="73152" marT="18288" marB="18288">
                    <a:solidFill>
                      <a:srgbClr val="F4F6FA"/>
                    </a:solidFill>
                  </a:tcPr>
                </a:tc>
              </a:tr>
              <a:tr h="329184">
                <a:tc>
                  <a:txBody>
                    <a:bodyPr wrap="square"/>
                    <a:lstStyle/>
                    <a:p>
                      <a:pPr algn="l"/>
                      <a:r>
                        <a:rPr sz="1150" b="0">
                          <a:solidFill>
                            <a:srgbClr val="1B1B1F"/>
                          </a:solidFill>
                          <a:latin typeface="Calibri"/>
                        </a:rPr>
                        <a:t>ExpGrad (EO)</a:t>
                      </a:r>
                    </a:p>
                  </a:txBody>
                  <a:tcPr marL="91440" marR="73152" marT="18288" marB="18288">
                    <a:solidFill>
                      <a:srgbClr val="FFFFFF"/>
                    </a:solidFill>
                  </a:tcPr>
                </a:tc>
                <a:tc>
                  <a:txBody>
                    <a:bodyPr wrap="square"/>
                    <a:lstStyle/>
                    <a:p>
                      <a:pPr algn="r"/>
                      <a:r>
                        <a:rPr sz="1150" b="0">
                          <a:solidFill>
                            <a:srgbClr val="1B1B1F"/>
                          </a:solidFill>
                          <a:latin typeface="Calibri"/>
                        </a:rPr>
                        <a:t>0.475</a:t>
                      </a:r>
                    </a:p>
                  </a:txBody>
                  <a:tcPr marL="91440" marR="73152" marT="18288" marB="18288">
                    <a:solidFill>
                      <a:srgbClr val="FFFFFF"/>
                    </a:solidFill>
                  </a:tcPr>
                </a:tc>
                <a:tc>
                  <a:txBody>
                    <a:bodyPr wrap="square"/>
                    <a:lstStyle/>
                    <a:p>
                      <a:pPr algn="r"/>
                      <a:r>
                        <a:rPr sz="1150" b="0">
                          <a:solidFill>
                            <a:srgbClr val="1B1B1F"/>
                          </a:solidFill>
                          <a:latin typeface="Calibri"/>
                        </a:rPr>
                        <a:t>-12.8%</a:t>
                      </a:r>
                    </a:p>
                  </a:txBody>
                  <a:tcPr marL="91440" marR="73152" marT="18288" marB="18288">
                    <a:solidFill>
                      <a:srgbClr val="FFFFFF"/>
                    </a:solidFill>
                  </a:tcPr>
                </a:tc>
                <a:tc>
                  <a:txBody>
                    <a:bodyPr wrap="square"/>
                    <a:lstStyle/>
                    <a:p>
                      <a:pPr algn="r"/>
                      <a:r>
                        <a:rPr sz="1150" b="0">
                          <a:solidFill>
                            <a:srgbClr val="1B1B1F"/>
                          </a:solidFill>
                          <a:latin typeface="Calibri"/>
                        </a:rPr>
                        <a:t>0.082</a:t>
                      </a:r>
                    </a:p>
                  </a:txBody>
                  <a:tcPr marL="91440" marR="73152" marT="18288" marB="18288">
                    <a:solidFill>
                      <a:srgbClr val="FFFFFF"/>
                    </a:solidFill>
                  </a:tcPr>
                </a:tc>
              </a:tr>
              <a:tr h="329184">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0.481</a:t>
                      </a:r>
                    </a:p>
                  </a:txBody>
                  <a:tcPr marL="91440" marR="73152" marT="18288" marB="18288">
                    <a:solidFill>
                      <a:srgbClr val="F4F6FA"/>
                    </a:solidFill>
                  </a:tcPr>
                </a:tc>
                <a:tc>
                  <a:txBody>
                    <a:bodyPr wrap="square"/>
                    <a:lstStyle/>
                    <a:p>
                      <a:pPr algn="r"/>
                      <a:r>
                        <a:rPr sz="1150" b="0">
                          <a:solidFill>
                            <a:srgbClr val="1B1B1F"/>
                          </a:solidFill>
                          <a:latin typeface="Calibri"/>
                        </a:rPr>
                        <a:t>-11.7%</a:t>
                      </a:r>
                    </a:p>
                  </a:txBody>
                  <a:tcPr marL="91440" marR="73152" marT="18288" marB="18288">
                    <a:solidFill>
                      <a:srgbClr val="F4F6FA"/>
                    </a:solidFill>
                  </a:tcPr>
                </a:tc>
                <a:tc>
                  <a:txBody>
                    <a:bodyPr wrap="square"/>
                    <a:lstStyle/>
                    <a:p>
                      <a:pPr algn="r"/>
                      <a:r>
                        <a:rPr sz="1150" b="0">
                          <a:solidFill>
                            <a:srgbClr val="1B1B1F"/>
                          </a:solidFill>
                          <a:latin typeface="Calibri"/>
                        </a:rPr>
                        <a:t>0.098</a:t>
                      </a:r>
                    </a:p>
                  </a:txBody>
                  <a:tcPr marL="91440" marR="73152" marT="18288" marB="18288">
                    <a:solidFill>
                      <a:srgbClr val="F4F6FA"/>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Sex is not in the feature matrix. At all.</a:t>
            </a:r>
          </a:p>
        </p:txBody>
      </p:sp>
      <p:sp>
        <p:nvSpPr>
          <p:cNvPr id="6" name="TextBox 5"/>
          <p:cNvSpPr txBox="1"/>
          <p:nvPr/>
        </p:nvSpPr>
        <p:spPr>
          <a:xfrm>
            <a:off x="640080" y="4352544"/>
            <a:ext cx="10881360" cy="1097280"/>
          </a:xfrm>
          <a:prstGeom prst="rect">
            <a:avLst/>
          </a:prstGeom>
          <a:noFill/>
        </p:spPr>
        <p:txBody>
          <a:bodyPr wrap="square">
            <a:spAutoFit/>
          </a:bodyPr>
          <a:lstStyle/>
          <a:p>
            <a:pPr algn="l">
              <a:lnSpc>
                <a:spcPct val="100000"/>
              </a:lnSpc>
            </a:pPr>
            <a:r>
              <a:rPr sz="1350" b="0">
                <a:solidFill>
                  <a:srgbClr val="1B1B1F"/>
                </a:solidFill>
                <a:latin typeface="Calibri"/>
              </a:rPr>
              <a:t>Yet the two methods with the best demographic parity scores lean on sex proxies harder than the model with no fairness fix, and both more than doubled their use of 'relationship' — a feature whose values are literally Husband and Wife.</a:t>
            </a:r>
          </a:p>
          <a:p>
            <a:pPr algn="l">
              <a:lnSpc>
                <a:spcPct val="100000"/>
              </a:lnSpc>
            </a:pPr>
            <a:r>
              <a:rPr sz="1350" b="0">
                <a:solidFill>
                  <a:srgbClr val="1B1B1F"/>
                </a:solidFill>
                <a:latin typeface="Calibri"/>
              </a:rPr>
              <a:t>To equalise selection rates across sex while forbidden to read sex, the model must first work out who is a woman. The constraint gives it a reason to become a better sex-detector.</a:t>
            </a:r>
          </a:p>
        </p:txBody>
      </p:sp>
      <p:sp>
        <p:nvSpPr>
          <p:cNvPr id="7" name="Rounded Rectangle 6"/>
          <p:cNvSpPr/>
          <p:nvPr/>
        </p:nvSpPr>
        <p:spPr>
          <a:xfrm>
            <a:off x="64008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Not an artifact: ExpGrad's figure is sampled, but GridSearch's is exact linear SHAP and agrees. Two estimators, same conclusion.</a:t>
            </a:r>
          </a:p>
        </p:txBody>
      </p:sp>
      <p:sp>
        <p:nvSpPr>
          <p:cNvPr id="9" name="Rounded Rectangle 8"/>
          <p:cNvSpPr/>
          <p:nvPr/>
        </p:nvSpPr>
        <p:spPr>
          <a:xfrm>
            <a:off x="617220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The one method that does reduce proxy reliance is Adversarial Debiasing — the only one whose objective is to destroy sex information. Theory predicted the ranking.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3 — Fixing Sex Leaves Sex × Race Behind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Every method so far constrains one binary attribute. That is the field's default, and it has a blind spot.</a:t>
            </a:r>
          </a:p>
        </p:txBody>
      </p:sp>
      <p:graphicFrame>
        <p:nvGraphicFramePr>
          <p:cNvPr id="4" name="Table 3"/>
          <p:cNvGraphicFramePr>
            <a:graphicFrameLocks noGrp="1"/>
          </p:cNvGraphicFramePr>
          <p:nvPr/>
        </p:nvGraphicFramePr>
        <p:xfrm>
          <a:off x="640080" y="1664208"/>
          <a:ext cx="10881358" cy="1371600"/>
        </p:xfrm>
        <a:graphic>
          <a:graphicData uri="http://schemas.openxmlformats.org/drawingml/2006/table">
            <a:tbl>
              <a:tblPr firstRow="1">
                <a:tableStyleId>{5C22544A-7EE6-4342-B048-85BDC9FD1C3A}</a:tableStyleId>
              </a:tblPr>
              <a:tblGrid>
                <a:gridCol w="3159104"/>
                <a:gridCol w="1579552"/>
                <a:gridCol w="1579552"/>
                <a:gridCol w="2018316"/>
                <a:gridCol w="2544834"/>
              </a:tblGrid>
              <a:tr h="384048">
                <a:tc>
                  <a:txBody>
                    <a:bodyPr wrap="square"/>
                    <a:lstStyle/>
                    <a:p>
                      <a:pPr algn="l"/>
                      <a:r>
                        <a:rPr sz="1100" b="1">
                          <a:solidFill>
                            <a:srgbClr val="FFFFFF"/>
                          </a:solidFill>
                          <a:latin typeface="Calibri"/>
                        </a:rPr>
                        <a:t>Arm</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Sex gap</a:t>
                      </a:r>
                    </a:p>
                  </a:txBody>
                  <a:tcPr marL="91440" marR="73152" marT="18288" marB="18288">
                    <a:solidFill>
                      <a:srgbClr val="1E2761"/>
                    </a:solidFill>
                  </a:tcPr>
                </a:tc>
                <a:tc>
                  <a:txBody>
                    <a:bodyPr wrap="square"/>
                    <a:lstStyle/>
                    <a:p>
                      <a:pPr algn="r"/>
                      <a:r>
                        <a:rPr sz="1100" b="1">
                          <a:solidFill>
                            <a:srgbClr val="FFFFFF"/>
                          </a:solidFill>
                          <a:latin typeface="Calibri"/>
                        </a:rPr>
                        <a:t>Sex × Race gap</a:t>
                      </a:r>
                    </a:p>
                  </a:txBody>
                  <a:tcPr marL="91440" marR="73152" marT="18288" marB="18288">
                    <a:solidFill>
                      <a:srgbClr val="1E2761"/>
                    </a:solidFill>
                  </a:tcPr>
                </a:tc>
                <a:tc>
                  <a:txBody>
                    <a:bodyPr wrap="square"/>
                    <a:lstStyle/>
                    <a:p>
                      <a:pPr algn="r"/>
                      <a:r>
                        <a:rPr sz="1100" b="1">
                          <a:solidFill>
                            <a:srgbClr val="FFFFFF"/>
                          </a:solidFill>
                          <a:latin typeface="Calibri"/>
                        </a:rPr>
                        <a:t>Worst-off subgroup</a:t>
                      </a:r>
                    </a:p>
                  </a:txBody>
                  <a:tcPr marL="91440" marR="73152" marT="18288" marB="18288">
                    <a:solidFill>
                      <a:srgbClr val="1E2761"/>
                    </a:solidFill>
                  </a:tcPr>
                </a:tc>
              </a:tr>
              <a:tr h="329184">
                <a:tc>
                  <a:txBody>
                    <a:bodyPr wrap="square"/>
                    <a:lstStyle/>
                    <a:p>
                      <a:pPr algn="l"/>
                      <a:r>
                        <a:rPr sz="1150" b="0">
                          <a:solidFill>
                            <a:srgbClr val="1B1B1F"/>
                          </a:solidFill>
                          <a:latin typeface="Calibri"/>
                        </a:rPr>
                        <a:t>No constraint</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0.3145</a:t>
                      </a:r>
                    </a:p>
                  </a:txBody>
                  <a:tcPr marL="91440" marR="73152" marT="18288" marB="18288">
                    <a:solidFill>
                      <a:srgbClr val="FFFFFF"/>
                    </a:solidFill>
                  </a:tcPr>
                </a:tc>
                <a:tc>
                  <a:txBody>
                    <a:bodyPr wrap="square"/>
                    <a:lstStyle/>
                    <a:p>
                      <a:pPr algn="r"/>
                      <a:r>
                        <a:rPr sz="1150" b="0">
                          <a:solidFill>
                            <a:srgbClr val="1B1B1F"/>
                          </a:solidFill>
                          <a:latin typeface="Calibri"/>
                        </a:rPr>
                        <a:t>Female x Black</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ExpGrad-DP on Sex</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0.1776</a:t>
                      </a:r>
                    </a:p>
                  </a:txBody>
                  <a:tcPr marL="91440" marR="73152" marT="18288" marB="18288">
                    <a:solidFill>
                      <a:srgbClr val="FDF3E2"/>
                    </a:solidFill>
                  </a:tcPr>
                </a:tc>
                <a:tc>
                  <a:txBody>
                    <a:bodyPr wrap="square"/>
                    <a:lstStyle/>
                    <a:p>
                      <a:pPr algn="r"/>
                      <a:r>
                        <a:rPr sz="1150" b="1">
                          <a:solidFill>
                            <a:srgbClr val="1B1B1F"/>
                          </a:solidFill>
                          <a:latin typeface="Calibri"/>
                        </a:rPr>
                        <a:t>Male x Black</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ExpGrad-DP on Sex × Race</a:t>
                      </a:r>
                    </a:p>
                  </a:txBody>
                  <a:tcPr marL="91440" marR="73152" marT="18288" marB="18288">
                    <a:solidFill>
                      <a:srgbClr val="FFFFFF"/>
                    </a:solidFill>
                  </a:tcPr>
                </a:tc>
                <a:tc>
                  <a:txBody>
                    <a:bodyPr wrap="square"/>
                    <a:lstStyle/>
                    <a:p>
                      <a:pPr algn="r"/>
                      <a:r>
                        <a:rPr sz="1150" b="0">
                          <a:solidFill>
                            <a:srgbClr val="1B1B1F"/>
                          </a:solidFill>
                          <a:latin typeface="Calibri"/>
                        </a:rPr>
                        <a:t>0.8129</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c>
                  <a:txBody>
                    <a:bodyPr wrap="square"/>
                    <a:lstStyle/>
                    <a:p>
                      <a:pPr algn="r"/>
                      <a:r>
                        <a:rPr sz="1150" b="0">
                          <a:solidFill>
                            <a:srgbClr val="1B1B1F"/>
                          </a:solidFill>
                          <a:latin typeface="Calibri"/>
                        </a:rPr>
                        <a:t>0.0481</a:t>
                      </a:r>
                    </a:p>
                  </a:txBody>
                  <a:tcPr marL="91440" marR="73152" marT="18288" marB="18288">
                    <a:solidFill>
                      <a:srgbClr val="FFFFFF"/>
                    </a:solidFill>
                  </a:tcPr>
                </a:tc>
                <a:tc>
                  <a:txBody>
                    <a:bodyPr wrap="square"/>
                    <a:lstStyle/>
                    <a:p>
                      <a:pPr algn="r"/>
                      <a:r>
                        <a:rPr sz="1150" b="0">
                          <a:solidFill>
                            <a:srgbClr val="1B1B1F"/>
                          </a:solidFill>
                          <a:latin typeface="Calibri"/>
                        </a:rPr>
                        <a:t>Female x White</a:t>
                      </a:r>
                    </a:p>
                  </a:txBody>
                  <a:tcPr marL="91440" marR="73152" marT="18288" marB="18288">
                    <a:solidFill>
                      <a:srgbClr val="FFFFFF"/>
                    </a:solidFill>
                  </a:tcPr>
                </a:tc>
              </a:tr>
            </a:tbl>
          </a:graphicData>
        </a:graphic>
      </p:graphicFrame>
      <p:sp>
        <p:nvSpPr>
          <p:cNvPr id="5" name="TextBox 4"/>
          <p:cNvSpPr txBox="1"/>
          <p:nvPr/>
        </p:nvSpPr>
        <p:spPr>
          <a:xfrm>
            <a:off x="64008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9×</a:t>
            </a:r>
          </a:p>
        </p:txBody>
      </p:sp>
      <p:sp>
        <p:nvSpPr>
          <p:cNvPr id="6" name="TextBox 5"/>
          <p:cNvSpPr txBox="1"/>
          <p:nvPr/>
        </p:nvSpPr>
        <p:spPr>
          <a:xfrm>
            <a:off x="64008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larger gap at Sex × Race than on</a:t>
            </a:r>
          </a:p>
          <a:p>
            <a:pPr algn="ctr">
              <a:lnSpc>
                <a:spcPct val="95000"/>
              </a:lnSpc>
            </a:pPr>
            <a:r>
              <a:rPr sz="1100" b="0">
                <a:solidFill>
                  <a:srgbClr val="5A6270"/>
                </a:solidFill>
                <a:latin typeface="Calibri"/>
              </a:rPr>
              <a:t>the attribute it was constrained on</a:t>
            </a:r>
          </a:p>
        </p:txBody>
      </p:sp>
      <p:sp>
        <p:nvSpPr>
          <p:cNvPr id="7" name="TextBox 6"/>
          <p:cNvSpPr txBox="1"/>
          <p:nvPr/>
        </p:nvSpPr>
        <p:spPr>
          <a:xfrm>
            <a:off x="443484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3.3×</a:t>
            </a:r>
          </a:p>
        </p:txBody>
      </p:sp>
      <p:sp>
        <p:nvSpPr>
          <p:cNvPr id="8" name="TextBox 7"/>
          <p:cNvSpPr txBox="1"/>
          <p:nvPr/>
        </p:nvSpPr>
        <p:spPr>
          <a:xfrm>
            <a:off x="443484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Asian men vs Black men selection</a:t>
            </a:r>
          </a:p>
          <a:p>
            <a:pPr algn="ctr">
              <a:lnSpc>
                <a:spcPct val="95000"/>
              </a:lnSpc>
            </a:pPr>
            <a:r>
              <a:rPr sz="1100" b="0">
                <a:solidFill>
                  <a:srgbClr val="5A6270"/>
                </a:solidFill>
                <a:latin typeface="Calibri"/>
              </a:rPr>
              <a:t>rate — after 'fixing' sex</a:t>
            </a:r>
          </a:p>
        </p:txBody>
      </p:sp>
      <p:sp>
        <p:nvSpPr>
          <p:cNvPr id="9" name="TextBox 8"/>
          <p:cNvSpPr txBox="1"/>
          <p:nvPr/>
        </p:nvSpPr>
        <p:spPr>
          <a:xfrm>
            <a:off x="8229600" y="324612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5 of 10</a:t>
            </a:r>
          </a:p>
        </p:txBody>
      </p:sp>
      <p:sp>
        <p:nvSpPr>
          <p:cNvPr id="10" name="TextBox 9"/>
          <p:cNvSpPr txBox="1"/>
          <p:nvPr/>
        </p:nvSpPr>
        <p:spPr>
          <a:xfrm>
            <a:off x="822960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subgroups too small to measure.</a:t>
            </a:r>
          </a:p>
          <a:p>
            <a:pPr algn="ctr">
              <a:lnSpc>
                <a:spcPct val="95000"/>
              </a:lnSpc>
            </a:pPr>
            <a:r>
              <a:rPr sz="1100" b="0">
                <a:solidFill>
                  <a:srgbClr val="5A6270"/>
                </a:solidFill>
                <a:latin typeface="Calibri"/>
              </a:rPr>
              <a:t>One has zero positive labels.</a:t>
            </a:r>
          </a:p>
        </p:txBody>
      </p:sp>
      <p:sp>
        <p:nvSpPr>
          <p:cNvPr id="11" name="Rounded Rectangle 10"/>
          <p:cNvSpPr/>
          <p:nvPr/>
        </p:nvSpPr>
        <p:spPr>
          <a:xfrm>
            <a:off x="640080" y="4709160"/>
            <a:ext cx="5349240" cy="17830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The sex constraint moved the worst-off subgroup from Black women to Black men.</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Nothing was done to them. The constraint simply had nothing to say about them, and equalising the sex marginal while race went unconstrained left them as the residual.</a:t>
            </a:r>
          </a:p>
        </p:txBody>
      </p:sp>
      <p:sp>
        <p:nvSpPr>
          <p:cNvPr id="13" name="Rounded Rectangle 12"/>
          <p:cNvSpPr/>
          <p:nvPr/>
        </p:nvSpPr>
        <p:spPr>
          <a:xfrm>
            <a:off x="6172200" y="4709160"/>
            <a:ext cx="5349240" cy="178308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Half of any Sex × Race heatmap on Adult is noise. Female × Other has 21 people and no positive labels — its TPR is 0÷0.</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70% of the intersectional arm's apparent gap comes from cells too small to measure. We report Wilson intervals and gate on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4 — "Just Delete the Leaky Feature" Backfires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obvious response to the previous slide, tested. Each round removes one more feature and re-measures.</a:t>
            </a:r>
          </a:p>
        </p:txBody>
      </p:sp>
      <p:graphicFrame>
        <p:nvGraphicFramePr>
          <p:cNvPr id="4" name="Table 3"/>
          <p:cNvGraphicFramePr>
            <a:graphicFrameLocks noGrp="1"/>
          </p:cNvGraphicFramePr>
          <p:nvPr/>
        </p:nvGraphicFramePr>
        <p:xfrm>
          <a:off x="640080" y="1691640"/>
          <a:ext cx="10881356" cy="2029968"/>
        </p:xfrm>
        <a:graphic>
          <a:graphicData uri="http://schemas.openxmlformats.org/drawingml/2006/table">
            <a:tbl>
              <a:tblPr firstRow="1">
                <a:tableStyleId>{5C22544A-7EE6-4342-B048-85BDC9FD1C3A}</a:tableStyleId>
              </a:tblPr>
              <a:tblGrid>
                <a:gridCol w="3520440"/>
                <a:gridCol w="1760220"/>
                <a:gridCol w="1520189"/>
                <a:gridCol w="1280159"/>
                <a:gridCol w="1520189"/>
                <a:gridCol w="1280159"/>
              </a:tblGrid>
              <a:tr h="384048">
                <a:tc>
                  <a:txBody>
                    <a:bodyPr wrap="square"/>
                    <a:lstStyle/>
                    <a:p>
                      <a:pPr algn="l"/>
                      <a:r>
                        <a:rPr sz="1100" b="1">
                          <a:solidFill>
                            <a:srgbClr val="FFFFFF"/>
                          </a:solidFill>
                          <a:latin typeface="Calibri"/>
                        </a:rPr>
                        <a:t>Features removed</a:t>
                      </a:r>
                    </a:p>
                  </a:txBody>
                  <a:tcPr marL="91440" marR="73152" marT="18288" marB="18288">
                    <a:solidFill>
                      <a:srgbClr val="1E2761"/>
                    </a:solidFill>
                  </a:tcPr>
                </a:tc>
                <a:tc>
                  <a:txBody>
                    <a:bodyPr wrap="square"/>
                    <a:lstStyle/>
                    <a:p>
                      <a:pPr algn="r"/>
                      <a:r>
                        <a:rPr sz="1100" b="1">
                          <a:solidFill>
                            <a:srgbClr val="FFFFFF"/>
                          </a:solidFill>
                          <a:latin typeface="Calibri"/>
                        </a:rPr>
                        <a:t>Sex recoverable (AUC)</a:t>
                      </a:r>
                    </a:p>
                  </a:txBody>
                  <a:tcPr marL="91440" marR="73152" marT="18288" marB="18288">
                    <a:solidFill>
                      <a:srgbClr val="1E2761"/>
                    </a:solidFill>
                  </a:tcPr>
                </a:tc>
                <a:tc>
                  <a:txBody>
                    <a:bodyPr wrap="square"/>
                    <a:lstStyle/>
                    <a:p>
                      <a:pPr algn="r"/>
                      <a:r>
                        <a:rPr sz="1100" b="1">
                          <a:solidFill>
                            <a:srgbClr val="FFFFFF"/>
                          </a:solidFill>
                          <a:latin typeface="Calibri"/>
                        </a:rPr>
                        <a:t>Baseline accuracy</a:t>
                      </a:r>
                    </a:p>
                  </a:txBody>
                  <a:tcPr marL="91440" marR="73152" marT="18288" marB="18288">
                    <a:solidFill>
                      <a:srgbClr val="1E2761"/>
                    </a:solidFill>
                  </a:tcPr>
                </a:tc>
                <a:tc>
                  <a:txBody>
                    <a:bodyPr wrap="square"/>
                    <a:lstStyle/>
                    <a:p>
                      <a:pPr algn="r"/>
                      <a:r>
                        <a:rPr sz="1100" b="1">
                          <a:solidFill>
                            <a:srgbClr val="FFFFFF"/>
                          </a:solidFill>
                          <a:latin typeface="Calibri"/>
                        </a:rPr>
                        <a:t>Baseline DP</a:t>
                      </a:r>
                    </a:p>
                  </a:txBody>
                  <a:tcPr marL="91440" marR="73152" marT="18288" marB="18288">
                    <a:solidFill>
                      <a:srgbClr val="1E2761"/>
                    </a:solidFill>
                  </a:tcPr>
                </a:tc>
                <a:tc>
                  <a:txBody>
                    <a:bodyPr wrap="square"/>
                    <a:lstStyle/>
                    <a:p>
                      <a:pPr algn="r"/>
                      <a:r>
                        <a:rPr sz="1100" b="1">
                          <a:solidFill>
                            <a:srgbClr val="FFFFFF"/>
                          </a:solidFill>
                          <a:latin typeface="Calibri"/>
                        </a:rPr>
                        <a:t>ExpGrad accuracy</a:t>
                      </a:r>
                    </a:p>
                  </a:txBody>
                  <a:tcPr marL="91440" marR="73152" marT="18288" marB="18288">
                    <a:solidFill>
                      <a:srgbClr val="1E2761"/>
                    </a:solidFill>
                  </a:tcPr>
                </a:tc>
                <a:tc>
                  <a:txBody>
                    <a:bodyPr wrap="square"/>
                    <a:lstStyle/>
                    <a:p>
                      <a:pPr algn="r"/>
                      <a:r>
                        <a:rPr sz="1100" b="1">
                          <a:solidFill>
                            <a:srgbClr val="FFFFFF"/>
                          </a:solidFill>
                          <a:latin typeface="Calibri"/>
                        </a:rPr>
                        <a:t>ExpGrad DP</a:t>
                      </a:r>
                    </a:p>
                  </a:txBody>
                  <a:tcPr marL="91440" marR="73152" marT="18288" marB="18288">
                    <a:solidFill>
                      <a:srgbClr val="1E2761"/>
                    </a:solidFill>
                  </a:tcPr>
                </a:tc>
              </a:tr>
              <a:tr h="329184">
                <a:tc>
                  <a:txBody>
                    <a:bodyPr wrap="square"/>
                    <a:lstStyle/>
                    <a:p>
                      <a:pPr algn="l"/>
                      <a:r>
                        <a:rPr sz="1150" b="0">
                          <a:solidFill>
                            <a:srgbClr val="1B1B1F"/>
                          </a:solidFill>
                          <a:latin typeface="Calibri"/>
                        </a:rPr>
                        <a:t>none removed</a:t>
                      </a:r>
                    </a:p>
                  </a:txBody>
                  <a:tcPr marL="91440" marR="73152" marT="18288" marB="18288">
                    <a:solidFill>
                      <a:srgbClr val="FFFFFF"/>
                    </a:solidFill>
                  </a:tcPr>
                </a:tc>
                <a:tc>
                  <a:txBody>
                    <a:bodyPr wrap="square"/>
                    <a:lstStyle/>
                    <a:p>
                      <a:pPr algn="r"/>
                      <a:r>
                        <a:rPr sz="1150" b="0">
                          <a:solidFill>
                            <a:srgbClr val="1B1B1F"/>
                          </a:solidFill>
                          <a:latin typeface="Calibri"/>
                        </a:rPr>
                        <a:t>0.934</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0.8295</a:t>
                      </a:r>
                    </a:p>
                  </a:txBody>
                  <a:tcPr marL="91440" marR="73152" marT="18288" marB="18288">
                    <a:solidFill>
                      <a:srgbClr val="FFFFFF"/>
                    </a:solidFill>
                  </a:tcPr>
                </a:tc>
                <a:tc>
                  <a:txBody>
                    <a:bodyPr wrap="square"/>
                    <a:lstStyle/>
                    <a:p>
                      <a:pPr algn="r"/>
                      <a:r>
                        <a:rPr sz="1150" b="0">
                          <a:solidFill>
                            <a:srgbClr val="1B1B1F"/>
                          </a:solidFill>
                          <a:latin typeface="Calibri"/>
                        </a:rPr>
                        <a:t>0.0197</a:t>
                      </a:r>
                    </a:p>
                  </a:txBody>
                  <a:tcPr marL="91440" marR="73152" marT="18288" marB="18288">
                    <a:solidFill>
                      <a:srgbClr val="FFFFFF"/>
                    </a:solidFill>
                  </a:tcPr>
                </a:tc>
              </a:tr>
              <a:tr h="329184">
                <a:tc>
                  <a:txBody>
                    <a:bodyPr wrap="square"/>
                    <a:lstStyle/>
                    <a:p>
                      <a:pPr algn="l"/>
                      <a:r>
                        <a:rPr sz="1150" b="1">
                          <a:solidFill>
                            <a:srgbClr val="1B1B1F"/>
                          </a:solidFill>
                          <a:latin typeface="Calibri"/>
                        </a:rPr>
                        <a:t>−relationship</a:t>
                      </a:r>
                    </a:p>
                  </a:txBody>
                  <a:tcPr marL="91440" marR="73152" marT="18288" marB="18288">
                    <a:solidFill>
                      <a:srgbClr val="FDF3E2"/>
                    </a:solidFill>
                  </a:tcPr>
                </a:tc>
                <a:tc>
                  <a:txBody>
                    <a:bodyPr wrap="square"/>
                    <a:lstStyle/>
                    <a:p>
                      <a:pPr algn="r"/>
                      <a:r>
                        <a:rPr sz="1150" b="1">
                          <a:solidFill>
                            <a:srgbClr val="1B1B1F"/>
                          </a:solidFill>
                          <a:latin typeface="Calibri"/>
                        </a:rPr>
                        <a:t>0.868</a:t>
                      </a:r>
                    </a:p>
                  </a:txBody>
                  <a:tcPr marL="91440" marR="73152" marT="18288" marB="18288">
                    <a:solidFill>
                      <a:srgbClr val="FDF3E2"/>
                    </a:solidFill>
                  </a:tcPr>
                </a:tc>
                <a:tc>
                  <a:txBody>
                    <a:bodyPr wrap="square"/>
                    <a:lstStyle/>
                    <a:p>
                      <a:pPr algn="r"/>
                      <a:r>
                        <a:rPr sz="1150" b="1">
                          <a:solidFill>
                            <a:srgbClr val="1B1B1F"/>
                          </a:solidFill>
                          <a:latin typeface="Calibri"/>
                        </a:rPr>
                        <a:t>0.8463</a:t>
                      </a:r>
                    </a:p>
                  </a:txBody>
                  <a:tcPr marL="91440" marR="73152" marT="18288" marB="18288">
                    <a:solidFill>
                      <a:srgbClr val="FDF3E2"/>
                    </a:solidFill>
                  </a:tcPr>
                </a:tc>
                <a:tc>
                  <a:txBody>
                    <a:bodyPr wrap="square"/>
                    <a:lstStyle/>
                    <a:p>
                      <a:pPr algn="r"/>
                      <a:r>
                        <a:rPr sz="1150" b="1">
                          <a:solidFill>
                            <a:srgbClr val="1B1B1F"/>
                          </a:solidFill>
                          <a:latin typeface="Calibri"/>
                        </a:rPr>
                        <a:t>0.2054</a:t>
                      </a:r>
                    </a:p>
                  </a:txBody>
                  <a:tcPr marL="91440" marR="73152" marT="18288" marB="18288">
                    <a:solidFill>
                      <a:srgbClr val="FDF3E2"/>
                    </a:solidFill>
                  </a:tcPr>
                </a:tc>
                <a:tc>
                  <a:txBody>
                    <a:bodyPr wrap="square"/>
                    <a:lstStyle/>
                    <a:p>
                      <a:pPr algn="r"/>
                      <a:r>
                        <a:rPr sz="1150" b="1">
                          <a:solidFill>
                            <a:srgbClr val="1B1B1F"/>
                          </a:solidFill>
                          <a:latin typeface="Calibri"/>
                        </a:rPr>
                        <a:t>0.8026</a:t>
                      </a:r>
                    </a:p>
                  </a:txBody>
                  <a:tcPr marL="91440" marR="73152" marT="18288" marB="18288">
                    <a:solidFill>
                      <a:srgbClr val="FDF3E2"/>
                    </a:solidFill>
                  </a:tcPr>
                </a:tc>
                <a:tc>
                  <a:txBody>
                    <a:bodyPr wrap="square"/>
                    <a:lstStyle/>
                    <a:p>
                      <a:pPr algn="r"/>
                      <a:r>
                        <a:rPr sz="1150" b="1">
                          <a:solidFill>
                            <a:srgbClr val="1B1B1F"/>
                          </a:solidFill>
                          <a:latin typeface="Calibri"/>
                        </a:rPr>
                        <a:t>0.0172</a:t>
                      </a:r>
                    </a:p>
                  </a:txBody>
                  <a:tcPr marL="91440" marR="73152" marT="18288" marB="18288">
                    <a:solidFill>
                      <a:srgbClr val="FDF3E2"/>
                    </a:solidFill>
                  </a:tcPr>
                </a:tc>
              </a:tr>
              <a:tr h="329184">
                <a:tc>
                  <a:txBody>
                    <a:bodyPr wrap="square"/>
                    <a:lstStyle/>
                    <a:p>
                      <a:pPr algn="l"/>
                      <a:r>
                        <a:rPr sz="1150" b="0">
                          <a:solidFill>
                            <a:srgbClr val="1B1B1F"/>
                          </a:solidFill>
                          <a:latin typeface="Calibri"/>
                        </a:rPr>
                        <a:t>−relationship, marital-status</a:t>
                      </a:r>
                    </a:p>
                  </a:txBody>
                  <a:tcPr marL="91440" marR="73152" marT="18288" marB="18288">
                    <a:solidFill>
                      <a:srgbClr val="FFFFFF"/>
                    </a:solidFill>
                  </a:tcPr>
                </a:tc>
                <a:tc>
                  <a:txBody>
                    <a:bodyPr wrap="square"/>
                    <a:lstStyle/>
                    <a:p>
                      <a:pPr algn="r"/>
                      <a:r>
                        <a:rPr sz="1150" b="0">
                          <a:solidFill>
                            <a:srgbClr val="1B1B1F"/>
                          </a:solidFill>
                          <a:latin typeface="Calibri"/>
                        </a:rPr>
                        <a:t>0.803</a:t>
                      </a:r>
                    </a:p>
                  </a:txBody>
                  <a:tcPr marL="91440" marR="73152" marT="18288" marB="18288">
                    <a:solidFill>
                      <a:srgbClr val="FFFFFF"/>
                    </a:solidFill>
                  </a:tcPr>
                </a:tc>
                <a:tc>
                  <a:txBody>
                    <a:bodyPr wrap="square"/>
                    <a:lstStyle/>
                    <a:p>
                      <a:pPr algn="r"/>
                      <a:r>
                        <a:rPr sz="1150" b="0">
                          <a:solidFill>
                            <a:srgbClr val="1B1B1F"/>
                          </a:solidFill>
                          <a:latin typeface="Calibri"/>
                        </a:rPr>
                        <a:t>0.8171</a:t>
                      </a:r>
                    </a:p>
                  </a:txBody>
                  <a:tcPr marL="91440" marR="73152" marT="18288" marB="18288">
                    <a:solidFill>
                      <a:srgbClr val="FFFFFF"/>
                    </a:solidFill>
                  </a:tcPr>
                </a:tc>
                <a:tc>
                  <a:txBody>
                    <a:bodyPr wrap="square"/>
                    <a:lstStyle/>
                    <a:p>
                      <a:pPr algn="r"/>
                      <a:r>
                        <a:rPr sz="1150" b="0">
                          <a:solidFill>
                            <a:srgbClr val="1B1B1F"/>
                          </a:solidFill>
                          <a:latin typeface="Calibri"/>
                        </a:rPr>
                        <a:t>0.1014</a:t>
                      </a:r>
                    </a:p>
                  </a:txBody>
                  <a:tcPr marL="91440" marR="73152" marT="18288" marB="18288">
                    <a:solidFill>
                      <a:srgbClr val="FFFFFF"/>
                    </a:solidFill>
                  </a:tcPr>
                </a:tc>
                <a:tc>
                  <a:txBody>
                    <a:bodyPr wrap="square"/>
                    <a:lstStyle/>
                    <a:p>
                      <a:pPr algn="r"/>
                      <a:r>
                        <a:rPr sz="1150" b="0">
                          <a:solidFill>
                            <a:srgbClr val="1B1B1F"/>
                          </a:solidFill>
                          <a:latin typeface="Calibri"/>
                        </a:rPr>
                        <a:t>0.7946</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r>
              <a:tr h="329184">
                <a:tc>
                  <a:txBody>
                    <a:bodyPr wrap="square"/>
                    <a:lstStyle/>
                    <a:p>
                      <a:pPr algn="l"/>
                      <a:r>
                        <a:rPr sz="1150" b="0">
                          <a:solidFill>
                            <a:srgbClr val="1B1B1F"/>
                          </a:solidFill>
                          <a:latin typeface="Calibri"/>
                        </a:rPr>
                        <a:t>−relationship, marital-status, occupation</a:t>
                      </a:r>
                    </a:p>
                  </a:txBody>
                  <a:tcPr marL="91440" marR="73152" marT="18288" marB="18288">
                    <a:solidFill>
                      <a:srgbClr val="F4F6FA"/>
                    </a:solidFill>
                  </a:tcPr>
                </a:tc>
                <a:tc>
                  <a:txBody>
                    <a:bodyPr wrap="square"/>
                    <a:lstStyle/>
                    <a:p>
                      <a:pPr algn="r"/>
                      <a:r>
                        <a:rPr sz="1150" b="0">
                          <a:solidFill>
                            <a:srgbClr val="1B1B1F"/>
                          </a:solidFill>
                          <a:latin typeface="Calibri"/>
                        </a:rPr>
                        <a:t>0.691</a:t>
                      </a:r>
                    </a:p>
                  </a:txBody>
                  <a:tcPr marL="91440" marR="73152" marT="18288" marB="18288">
                    <a:solidFill>
                      <a:srgbClr val="F4F6FA"/>
                    </a:solidFill>
                  </a:tcPr>
                </a:tc>
                <a:tc>
                  <a:txBody>
                    <a:bodyPr wrap="square"/>
                    <a:lstStyle/>
                    <a:p>
                      <a:pPr algn="r"/>
                      <a:r>
                        <a:rPr sz="1150" b="0">
                          <a:solidFill>
                            <a:srgbClr val="1B1B1F"/>
                          </a:solidFill>
                          <a:latin typeface="Calibri"/>
                        </a:rPr>
                        <a:t>0.8133</a:t>
                      </a:r>
                    </a:p>
                  </a:txBody>
                  <a:tcPr marL="91440" marR="73152" marT="18288" marB="18288">
                    <a:solidFill>
                      <a:srgbClr val="F4F6FA"/>
                    </a:solidFill>
                  </a:tcPr>
                </a:tc>
                <a:tc>
                  <a:txBody>
                    <a:bodyPr wrap="square"/>
                    <a:lstStyle/>
                    <a:p>
                      <a:pPr algn="r"/>
                      <a:r>
                        <a:rPr sz="1150" b="0">
                          <a:solidFill>
                            <a:srgbClr val="1B1B1F"/>
                          </a:solidFill>
                          <a:latin typeface="Calibri"/>
                        </a:rPr>
                        <a:t>0.0932</a:t>
                      </a:r>
                    </a:p>
                  </a:txBody>
                  <a:tcPr marL="91440" marR="73152" marT="18288" marB="18288">
                    <a:solidFill>
                      <a:srgbClr val="F4F6FA"/>
                    </a:solidFill>
                  </a:tcPr>
                </a:tc>
                <a:tc>
                  <a:txBody>
                    <a:bodyPr wrap="square"/>
                    <a:lstStyle/>
                    <a:p>
                      <a:pPr algn="r"/>
                      <a:r>
                        <a:rPr sz="1150" b="0">
                          <a:solidFill>
                            <a:srgbClr val="1B1B1F"/>
                          </a:solidFill>
                          <a:latin typeface="Calibri"/>
                        </a:rPr>
                        <a:t>0.7852</a:t>
                      </a:r>
                    </a:p>
                  </a:txBody>
                  <a:tcPr marL="91440" marR="73152" marT="18288" marB="18288">
                    <a:solidFill>
                      <a:srgbClr val="F4F6FA"/>
                    </a:solidFill>
                  </a:tcPr>
                </a:tc>
                <a:tc>
                  <a:txBody>
                    <a:bodyPr wrap="square"/>
                    <a:lstStyle/>
                    <a:p>
                      <a:pPr algn="r"/>
                      <a:r>
                        <a:rPr sz="1150" b="0">
                          <a:solidFill>
                            <a:srgbClr val="1B1B1F"/>
                          </a:solidFill>
                          <a:latin typeface="Calibri"/>
                        </a:rPr>
                        <a:t>0.0182</a:t>
                      </a:r>
                    </a:p>
                  </a:txBody>
                  <a:tcPr marL="91440" marR="73152" marT="18288" marB="18288">
                    <a:solidFill>
                      <a:srgbClr val="F4F6FA"/>
                    </a:solidFill>
                  </a:tcPr>
                </a:tc>
              </a:tr>
              <a:tr h="329184">
                <a:tc>
                  <a:txBody>
                    <a:bodyPr wrap="square"/>
                    <a:lstStyle/>
                    <a:p>
                      <a:pPr algn="l"/>
                      <a:r>
                        <a:rPr sz="1150" b="0">
                          <a:solidFill>
                            <a:srgbClr val="1B1B1F"/>
                          </a:solidFill>
                          <a:latin typeface="Calibri"/>
                        </a:rPr>
                        <a:t>−relationship, marital-status, occupation, hours-per-week</a:t>
                      </a:r>
                    </a:p>
                  </a:txBody>
                  <a:tcPr marL="91440" marR="73152" marT="18288" marB="18288">
                    <a:solidFill>
                      <a:srgbClr val="FFFFFF"/>
                    </a:solidFill>
                  </a:tcPr>
                </a:tc>
                <a:tc>
                  <a:txBody>
                    <a:bodyPr wrap="square"/>
                    <a:lstStyle/>
                    <a:p>
                      <a:pPr algn="r"/>
                      <a:r>
                        <a:rPr sz="1150" b="0">
                          <a:solidFill>
                            <a:srgbClr val="1B1B1F"/>
                          </a:solidFill>
                          <a:latin typeface="Calibri"/>
                        </a:rPr>
                        <a:t>0.625</a:t>
                      </a:r>
                    </a:p>
                  </a:txBody>
                  <a:tcPr marL="91440" marR="73152" marT="18288" marB="18288">
                    <a:solidFill>
                      <a:srgbClr val="FFFFFF"/>
                    </a:solidFill>
                  </a:tcPr>
                </a:tc>
                <a:tc>
                  <a:txBody>
                    <a:bodyPr wrap="square"/>
                    <a:lstStyle/>
                    <a:p>
                      <a:pPr algn="r"/>
                      <a:r>
                        <a:rPr sz="1150" b="0">
                          <a:solidFill>
                            <a:srgbClr val="1B1B1F"/>
                          </a:solidFill>
                          <a:latin typeface="Calibri"/>
                        </a:rPr>
                        <a:t>0.8080</a:t>
                      </a:r>
                    </a:p>
                  </a:txBody>
                  <a:tcPr marL="91440" marR="73152" marT="18288" marB="18288">
                    <a:solidFill>
                      <a:srgbClr val="FFFFFF"/>
                    </a:solidFill>
                  </a:tcPr>
                </a:tc>
                <a:tc>
                  <a:txBody>
                    <a:bodyPr wrap="square"/>
                    <a:lstStyle/>
                    <a:p>
                      <a:pPr algn="r"/>
                      <a:r>
                        <a:rPr sz="1150" b="0">
                          <a:solidFill>
                            <a:srgbClr val="1B1B1F"/>
                          </a:solidFill>
                          <a:latin typeface="Calibri"/>
                        </a:rPr>
                        <a:t>0.0761</a:t>
                      </a:r>
                    </a:p>
                  </a:txBody>
                  <a:tcPr marL="91440" marR="73152" marT="18288" marB="18288">
                    <a:solidFill>
                      <a:srgbClr val="FFFFFF"/>
                    </a:solidFill>
                  </a:tcPr>
                </a:tc>
                <a:tc>
                  <a:txBody>
                    <a:bodyPr wrap="square"/>
                    <a:lstStyle/>
                    <a:p>
                      <a:pPr algn="r"/>
                      <a:r>
                        <a:rPr sz="1150" b="0">
                          <a:solidFill>
                            <a:srgbClr val="1B1B1F"/>
                          </a:solidFill>
                          <a:latin typeface="Calibri"/>
                        </a:rPr>
                        <a:t>0.7863</a:t>
                      </a:r>
                    </a:p>
                  </a:txBody>
                  <a:tcPr marL="91440" marR="73152" marT="18288" marB="18288">
                    <a:solidFill>
                      <a:srgbClr val="FFFFFF"/>
                    </a:solidFill>
                  </a:tcPr>
                </a:tc>
                <a:tc>
                  <a:txBody>
                    <a:bodyPr wrap="square"/>
                    <a:lstStyle/>
                    <a:p>
                      <a:pPr algn="r"/>
                      <a:r>
                        <a:rPr sz="1150" b="0">
                          <a:solidFill>
                            <a:srgbClr val="1B1B1F"/>
                          </a:solidFill>
                          <a:latin typeface="Calibri"/>
                        </a:rPr>
                        <a:t>0.0186</a:t>
                      </a:r>
                    </a:p>
                  </a:txBody>
                  <a:tcPr marL="91440" marR="73152" marT="18288" marB="18288">
                    <a:solidFill>
                      <a:srgbClr val="FFFFFF"/>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Deleting the feature does not delete the information.</a:t>
            </a:r>
          </a:p>
        </p:txBody>
      </p:sp>
      <p:sp>
        <p:nvSpPr>
          <p:cNvPr id="6" name="TextBox 5"/>
          <p:cNvSpPr txBox="1"/>
          <p:nvPr/>
        </p:nvSpPr>
        <p:spPr>
          <a:xfrm>
            <a:off x="640080" y="4352544"/>
            <a:ext cx="10881360" cy="868680"/>
          </a:xfrm>
          <a:prstGeom prst="rect">
            <a:avLst/>
          </a:prstGeom>
          <a:noFill/>
        </p:spPr>
        <p:txBody>
          <a:bodyPr wrap="square">
            <a:spAutoFit/>
          </a:bodyPr>
          <a:lstStyle/>
          <a:p>
            <a:pPr algn="l">
              <a:lnSpc>
                <a:spcPct val="100000"/>
              </a:lnSpc>
            </a:pPr>
            <a:r>
              <a:rPr sz="1350" b="0">
                <a:solidFill>
                  <a:srgbClr val="1B1B1F"/>
                </a:solidFill>
                <a:latin typeface="Calibri"/>
              </a:rPr>
              <a:t>`relationship` determines sex outright for 45.9% of people. Removing it drops sex-recoverability only from 0.934 to 0.868 — the information is spread across the other features — and it makes the unmitigated model MORE unfair, 0.190 → 0.205. You must delete 4 of 11 features to suppress the leak, at which point the probe is no better than guessing the majority class.</a:t>
            </a:r>
          </a:p>
        </p:txBody>
      </p:sp>
      <p:sp>
        <p:nvSpPr>
          <p:cNvPr id="7" name="Rounded Rectangle 6"/>
          <p:cNvSpPr/>
          <p:nvPr/>
        </p:nvSpPr>
        <p:spPr>
          <a:xfrm>
            <a:off x="640080" y="5349240"/>
            <a:ext cx="10881360" cy="105156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504688"/>
            <a:ext cx="10332720" cy="777240"/>
          </a:xfrm>
          <a:prstGeom prst="rect">
            <a:avLst/>
          </a:prstGeom>
          <a:noFill/>
        </p:spPr>
        <p:txBody>
          <a:bodyPr wrap="square">
            <a:spAutoFit/>
          </a:bodyPr>
          <a:lstStyle/>
          <a:p>
            <a:pPr algn="l">
              <a:lnSpc>
                <a:spcPct val="100000"/>
              </a:lnSpc>
            </a:pPr>
            <a:r>
              <a:rPr sz="1350" b="1">
                <a:solidFill>
                  <a:srgbClr val="1B1B1F"/>
                </a:solidFill>
                <a:latin typeface="Calibri"/>
              </a:rPr>
              <a:t>Feature deletion is strictly dominated: 4 features removed gives DP 0.076 at 80.8% accuracy, while the constraint on the untouched feature set gives DP 0.020 at 83.0%. Worse fairness AND worse accuracy — and mitigation gets more expensive afterwards.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5 — Loosening the Constraint Changes the Dose, Not the Mechanism</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strongest objection to Contribution 1: maybe levelling down is just what a very tight constraint forces. Tested by sweeping ε.</a:t>
            </a:r>
          </a:p>
        </p:txBody>
      </p:sp>
      <p:graphicFrame>
        <p:nvGraphicFramePr>
          <p:cNvPr id="4" name="Table 3"/>
          <p:cNvGraphicFramePr>
            <a:graphicFrameLocks noGrp="1"/>
          </p:cNvGraphicFramePr>
          <p:nvPr/>
        </p:nvGraphicFramePr>
        <p:xfrm>
          <a:off x="640080" y="1691640"/>
          <a:ext cx="10881358" cy="2496312"/>
        </p:xfrm>
        <a:graphic>
          <a:graphicData uri="http://schemas.openxmlformats.org/drawingml/2006/table">
            <a:tbl>
              <a:tblPr firstRow="1">
                <a:tableStyleId>{5C22544A-7EE6-4342-B048-85BDC9FD1C3A}</a:tableStyleId>
              </a:tblPr>
              <a:tblGrid>
                <a:gridCol w="1687032"/>
                <a:gridCol w="1518329"/>
                <a:gridCol w="1433977"/>
                <a:gridCol w="2699252"/>
                <a:gridCol w="1518329"/>
                <a:gridCol w="2024439"/>
              </a:tblGrid>
              <a:tr h="384048">
                <a:tc>
                  <a:txBody>
                    <a:bodyPr wrap="square"/>
                    <a:lstStyle/>
                    <a:p>
                      <a:pPr algn="l"/>
                      <a:r>
                        <a:rPr sz="1100" b="1">
                          <a:solidFill>
                            <a:srgbClr val="FFFFFF"/>
                          </a:solidFill>
                          <a:latin typeface="Calibri"/>
                        </a:rPr>
                        <a:t>ε (fairness slack)</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Share paid by advantaged (people)</a:t>
                      </a:r>
                    </a:p>
                  </a:txBody>
                  <a:tcPr marL="91440" marR="73152" marT="18288" marB="18288">
                    <a:solidFill>
                      <a:srgbClr val="1E2761"/>
                    </a:solidFill>
                  </a:tcPr>
                </a:tc>
                <a:tc>
                  <a:txBody>
                    <a:bodyPr wrap="square"/>
                    <a:lstStyle/>
                    <a:p>
                      <a:pPr algn="r"/>
                      <a:r>
                        <a:rPr sz="1100" b="1">
                          <a:solidFill>
                            <a:srgbClr val="FFFFFF"/>
                          </a:solidFill>
                          <a:latin typeface="Calibri"/>
                        </a:rPr>
                        <a:t>Lost per gained</a:t>
                      </a:r>
                    </a:p>
                  </a:txBody>
                  <a:tcPr marL="91440" marR="73152" marT="18288" marB="18288">
                    <a:solidFill>
                      <a:srgbClr val="1E2761"/>
                    </a:solidFill>
                  </a:tcPr>
                </a:tc>
                <a:tc>
                  <a:txBody>
                    <a:bodyPr wrap="square"/>
                    <a:lstStyle/>
                    <a:p>
                      <a:pPr algn="r"/>
                      <a:r>
                        <a:rPr sz="1100" b="1">
                          <a:solidFill>
                            <a:srgbClr val="FFFFFF"/>
                          </a:solidFill>
                          <a:latin typeface="Calibri"/>
                        </a:rPr>
                        <a:t>Change in total approvals</a:t>
                      </a:r>
                    </a:p>
                  </a:txBody>
                  <a:tcPr marL="91440" marR="73152" marT="18288" marB="18288">
                    <a:solidFill>
                      <a:srgbClr val="1E2761"/>
                    </a:solidFill>
                  </a:tcPr>
                </a:tc>
              </a:tr>
              <a:tr h="301752">
                <a:tc>
                  <a:txBody>
                    <a:bodyPr wrap="square"/>
                    <a:lstStyle/>
                    <a:p>
                      <a:pPr algn="l"/>
                      <a:r>
                        <a:rPr sz="1150" b="0">
                          <a:solidFill>
                            <a:srgbClr val="1B1B1F"/>
                          </a:solidFill>
                          <a:latin typeface="Calibri"/>
                        </a:rPr>
                        <a:t>0.005</a:t>
                      </a:r>
                    </a:p>
                  </a:txBody>
                  <a:tcPr marL="91440" marR="73152" marT="18288" marB="18288">
                    <a:solidFill>
                      <a:srgbClr val="FFFFFF"/>
                    </a:solidFill>
                  </a:tcPr>
                </a:tc>
                <a:tc>
                  <a:txBody>
                    <a:bodyPr wrap="square"/>
                    <a:lstStyle/>
                    <a:p>
                      <a:pPr algn="r"/>
                      <a:r>
                        <a:rPr sz="1150" b="0">
                          <a:solidFill>
                            <a:srgbClr val="1B1B1F"/>
                          </a:solidFill>
                          <a:latin typeface="Calibri"/>
                        </a:rPr>
                        <a:t>0.8284</a:t>
                      </a:r>
                    </a:p>
                  </a:txBody>
                  <a:tcPr marL="91440" marR="73152" marT="18288" marB="18288">
                    <a:solidFill>
                      <a:srgbClr val="FFFFFF"/>
                    </a:solidFill>
                  </a:tcPr>
                </a:tc>
                <a:tc>
                  <a:txBody>
                    <a:bodyPr wrap="square"/>
                    <a:lstStyle/>
                    <a:p>
                      <a:pPr algn="r"/>
                      <a:r>
                        <a:rPr sz="1150" b="0">
                          <a:solidFill>
                            <a:srgbClr val="1B1B1F"/>
                          </a:solidFill>
                          <a:latin typeface="Calibri"/>
                        </a:rPr>
                        <a:t>0.0122</a:t>
                      </a:r>
                    </a:p>
                  </a:txBody>
                  <a:tcPr marL="91440" marR="73152" marT="18288" marB="18288">
                    <a:solidFill>
                      <a:srgbClr val="FFFFFF"/>
                    </a:solidFill>
                  </a:tcPr>
                </a:tc>
                <a:tc>
                  <a:txBody>
                    <a:bodyPr wrap="square"/>
                    <a:lstStyle/>
                    <a:p>
                      <a:pPr algn="r"/>
                      <a:r>
                        <a:rPr sz="1150" b="0">
                          <a:solidFill>
                            <a:srgbClr val="1B1B1F"/>
                          </a:solidFill>
                          <a:latin typeface="Calibri"/>
                        </a:rPr>
                        <a:t>0.746</a:t>
                      </a:r>
                    </a:p>
                  </a:txBody>
                  <a:tcPr marL="91440" marR="73152" marT="18288" marB="18288">
                    <a:solidFill>
                      <a:srgbClr val="FFFFFF"/>
                    </a:solidFill>
                  </a:tcPr>
                </a:tc>
                <a:tc>
                  <a:txBody>
                    <a:bodyPr wrap="square"/>
                    <a:lstStyle/>
                    <a:p>
                      <a:pPr algn="r"/>
                      <a:r>
                        <a:rPr sz="1150" b="0">
                          <a:solidFill>
                            <a:srgbClr val="1B1B1F"/>
                          </a:solidFill>
                          <a:latin typeface="Calibri"/>
                        </a:rPr>
                        <a:t>2.74</a:t>
                      </a:r>
                    </a:p>
                  </a:txBody>
                  <a:tcPr marL="91440" marR="73152" marT="18288" marB="18288">
                    <a:solidFill>
                      <a:srgbClr val="FFFFFF"/>
                    </a:solidFill>
                  </a:tcPr>
                </a:tc>
                <a:tc>
                  <a:txBody>
                    <a:bodyPr wrap="square"/>
                    <a:lstStyle/>
                    <a:p>
                      <a:pPr algn="r"/>
                      <a:r>
                        <a:rPr sz="1150" b="0">
                          <a:solidFill>
                            <a:srgbClr val="1B1B1F"/>
                          </a:solidFill>
                          <a:latin typeface="Calibri"/>
                        </a:rPr>
                        <a:t>-22.0%</a:t>
                      </a:r>
                    </a:p>
                  </a:txBody>
                  <a:tcPr marL="91440" marR="73152" marT="18288" marB="18288">
                    <a:solidFill>
                      <a:srgbClr val="FFFFFF"/>
                    </a:solidFill>
                  </a:tcPr>
                </a:tc>
              </a:tr>
              <a:tr h="301752">
                <a:tc>
                  <a:txBody>
                    <a:bodyPr wrap="square"/>
                    <a:lstStyle/>
                    <a:p>
                      <a:pPr algn="l"/>
                      <a:r>
                        <a:rPr sz="1150" b="1">
                          <a:solidFill>
                            <a:srgbClr val="1B1B1F"/>
                          </a:solidFill>
                          <a:latin typeface="Calibri"/>
                        </a:rPr>
                        <a:t>0.01</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0.746</a:t>
                      </a:r>
                    </a:p>
                  </a:txBody>
                  <a:tcPr marL="91440" marR="73152" marT="18288" marB="18288">
                    <a:solidFill>
                      <a:srgbClr val="FDF3E2"/>
                    </a:solidFill>
                  </a:tcPr>
                </a:tc>
                <a:tc>
                  <a:txBody>
                    <a:bodyPr wrap="square"/>
                    <a:lstStyle/>
                    <a:p>
                      <a:pPr algn="r"/>
                      <a:r>
                        <a:rPr sz="1150" b="1">
                          <a:solidFill>
                            <a:srgbClr val="1B1B1F"/>
                          </a:solidFill>
                          <a:latin typeface="Calibri"/>
                        </a:rPr>
                        <a:t>2.74</a:t>
                      </a:r>
                    </a:p>
                  </a:txBody>
                  <a:tcPr marL="91440" marR="73152" marT="18288" marB="18288">
                    <a:solidFill>
                      <a:srgbClr val="FDF3E2"/>
                    </a:solidFill>
                  </a:tcPr>
                </a:tc>
                <a:tc>
                  <a:txBody>
                    <a:bodyPr wrap="square"/>
                    <a:lstStyle/>
                    <a:p>
                      <a:pPr algn="r"/>
                      <a:r>
                        <a:rPr sz="1150" b="1">
                          <a:solidFill>
                            <a:srgbClr val="1B1B1F"/>
                          </a:solidFill>
                          <a:latin typeface="Calibri"/>
                        </a:rPr>
                        <a:t>-21.1%</a:t>
                      </a:r>
                    </a:p>
                  </a:txBody>
                  <a:tcPr marL="91440" marR="73152" marT="18288" marB="18288">
                    <a:solidFill>
                      <a:srgbClr val="FDF3E2"/>
                    </a:solidFill>
                  </a:tcPr>
                </a:tc>
              </a:tr>
              <a:tr h="301752">
                <a:tc>
                  <a:txBody>
                    <a:bodyPr wrap="square"/>
                    <a:lstStyle/>
                    <a:p>
                      <a:pPr algn="l"/>
                      <a:r>
                        <a:rPr sz="1150" b="0">
                          <a:solidFill>
                            <a:srgbClr val="1B1B1F"/>
                          </a:solidFill>
                          <a:latin typeface="Calibri"/>
                        </a:rPr>
                        <a:t>0.02</a:t>
                      </a:r>
                    </a:p>
                  </a:txBody>
                  <a:tcPr marL="91440" marR="73152" marT="18288" marB="18288">
                    <a:solidFill>
                      <a:srgbClr val="FFFFFF"/>
                    </a:solidFill>
                  </a:tcPr>
                </a:tc>
                <a:tc>
                  <a:txBody>
                    <a:bodyPr wrap="square"/>
                    <a:lstStyle/>
                    <a:p>
                      <a:pPr algn="r"/>
                      <a:r>
                        <a:rPr sz="1150" b="0">
                          <a:solidFill>
                            <a:srgbClr val="1B1B1F"/>
                          </a:solidFill>
                          <a:latin typeface="Calibri"/>
                        </a:rPr>
                        <a:t>0.8324</a:t>
                      </a:r>
                    </a:p>
                  </a:txBody>
                  <a:tcPr marL="91440" marR="73152" marT="18288" marB="18288">
                    <a:solidFill>
                      <a:srgbClr val="FFFFFF"/>
                    </a:solidFill>
                  </a:tcPr>
                </a:tc>
                <a:tc>
                  <a:txBody>
                    <a:bodyPr wrap="square"/>
                    <a:lstStyle/>
                    <a:p>
                      <a:pPr algn="r"/>
                      <a:r>
                        <a:rPr sz="1150" b="0">
                          <a:solidFill>
                            <a:srgbClr val="1B1B1F"/>
                          </a:solidFill>
                          <a:latin typeface="Calibri"/>
                        </a:rPr>
                        <a:t>0.0342</a:t>
                      </a:r>
                    </a:p>
                  </a:txBody>
                  <a:tcPr marL="91440" marR="73152" marT="18288" marB="18288">
                    <a:solidFill>
                      <a:srgbClr val="FFFFFF"/>
                    </a:solidFill>
                  </a:tcPr>
                </a:tc>
                <a:tc>
                  <a:txBody>
                    <a:bodyPr wrap="square"/>
                    <a:lstStyle/>
                    <a:p>
                      <a:pPr algn="r"/>
                      <a:r>
                        <a:rPr sz="1150" b="0">
                          <a:solidFill>
                            <a:srgbClr val="1B1B1F"/>
                          </a:solidFill>
                          <a:latin typeface="Calibri"/>
                        </a:rPr>
                        <a:t>0.744</a:t>
                      </a:r>
                    </a:p>
                  </a:txBody>
                  <a:tcPr marL="91440" marR="73152" marT="18288" marB="18288">
                    <a:solidFill>
                      <a:srgbClr val="FFFFFF"/>
                    </a:solidFill>
                  </a:tcPr>
                </a:tc>
                <a:tc>
                  <a:txBody>
                    <a:bodyPr wrap="square"/>
                    <a:lstStyle/>
                    <a:p>
                      <a:pPr algn="r"/>
                      <a:r>
                        <a:rPr sz="1150" b="0">
                          <a:solidFill>
                            <a:srgbClr val="1B1B1F"/>
                          </a:solidFill>
                          <a:latin typeface="Calibri"/>
                        </a:rPr>
                        <a:t>2.73</a:t>
                      </a:r>
                    </a:p>
                  </a:txBody>
                  <a:tcPr marL="91440" marR="73152" marT="18288" marB="18288">
                    <a:solidFill>
                      <a:srgbClr val="FFFFFF"/>
                    </a:solidFill>
                  </a:tcPr>
                </a:tc>
                <a:tc>
                  <a:txBody>
                    <a:bodyPr wrap="square"/>
                    <a:lstStyle/>
                    <a:p>
                      <a:pPr algn="r"/>
                      <a:r>
                        <a:rPr sz="1150" b="0">
                          <a:solidFill>
                            <a:srgbClr val="1B1B1F"/>
                          </a:solidFill>
                          <a:latin typeface="Calibri"/>
                        </a:rPr>
                        <a:t>-19.1%</a:t>
                      </a:r>
                    </a:p>
                  </a:txBody>
                  <a:tcPr marL="91440" marR="73152" marT="18288" marB="18288">
                    <a:solidFill>
                      <a:srgbClr val="FFFFFF"/>
                    </a:solidFill>
                  </a:tcPr>
                </a:tc>
              </a:tr>
              <a:tr h="301752">
                <a:tc>
                  <a:txBody>
                    <a:bodyPr wrap="square"/>
                    <a:lstStyle/>
                    <a:p>
                      <a:pPr algn="l"/>
                      <a:r>
                        <a:rPr sz="1150" b="0">
                          <a:solidFill>
                            <a:srgbClr val="1B1B1F"/>
                          </a:solidFill>
                          <a:latin typeface="Calibri"/>
                        </a:rPr>
                        <a:t>0.05</a:t>
                      </a:r>
                    </a:p>
                  </a:txBody>
                  <a:tcPr marL="91440" marR="73152" marT="18288" marB="18288">
                    <a:solidFill>
                      <a:srgbClr val="F4F6FA"/>
                    </a:solidFill>
                  </a:tcPr>
                </a:tc>
                <a:tc>
                  <a:txBody>
                    <a:bodyPr wrap="square"/>
                    <a:lstStyle/>
                    <a:p>
                      <a:pPr algn="r"/>
                      <a:r>
                        <a:rPr sz="1150" b="0">
                          <a:solidFill>
                            <a:srgbClr val="1B1B1F"/>
                          </a:solidFill>
                          <a:latin typeface="Calibri"/>
                        </a:rPr>
                        <a:t>0.8388</a:t>
                      </a:r>
                    </a:p>
                  </a:txBody>
                  <a:tcPr marL="91440" marR="73152" marT="18288" marB="18288">
                    <a:solidFill>
                      <a:srgbClr val="F4F6FA"/>
                    </a:solidFill>
                  </a:tcPr>
                </a:tc>
                <a:tc>
                  <a:txBody>
                    <a:bodyPr wrap="square"/>
                    <a:lstStyle/>
                    <a:p>
                      <a:pPr algn="r"/>
                      <a:r>
                        <a:rPr sz="1150" b="0">
                          <a:solidFill>
                            <a:srgbClr val="1B1B1F"/>
                          </a:solidFill>
                          <a:latin typeface="Calibri"/>
                        </a:rPr>
                        <a:t>0.0762</a:t>
                      </a:r>
                    </a:p>
                  </a:txBody>
                  <a:tcPr marL="91440" marR="73152" marT="18288" marB="18288">
                    <a:solidFill>
                      <a:srgbClr val="F4F6FA"/>
                    </a:solidFill>
                  </a:tcPr>
                </a:tc>
                <a:tc>
                  <a:txBody>
                    <a:bodyPr wrap="square"/>
                    <a:lstStyle/>
                    <a:p>
                      <a:pPr algn="r"/>
                      <a:r>
                        <a:rPr sz="1150" b="0">
                          <a:solidFill>
                            <a:srgbClr val="1B1B1F"/>
                          </a:solidFill>
                          <a:latin typeface="Calibri"/>
                        </a:rPr>
                        <a:t>0.739</a:t>
                      </a:r>
                    </a:p>
                  </a:txBody>
                  <a:tcPr marL="91440" marR="73152" marT="18288" marB="18288">
                    <a:solidFill>
                      <a:srgbClr val="F4F6FA"/>
                    </a:solidFill>
                  </a:tcPr>
                </a:tc>
                <a:tc>
                  <a:txBody>
                    <a:bodyPr wrap="square"/>
                    <a:lstStyle/>
                    <a:p>
                      <a:pPr algn="r"/>
                      <a:r>
                        <a:rPr sz="1150" b="0">
                          <a:solidFill>
                            <a:srgbClr val="1B1B1F"/>
                          </a:solidFill>
                          <a:latin typeface="Calibri"/>
                        </a:rPr>
                        <a:t>2.69</a:t>
                      </a:r>
                    </a:p>
                  </a:txBody>
                  <a:tcPr marL="91440" marR="73152" marT="18288" marB="18288">
                    <a:solidFill>
                      <a:srgbClr val="F4F6FA"/>
                    </a:solidFill>
                  </a:tcPr>
                </a:tc>
                <a:tc>
                  <a:txBody>
                    <a:bodyPr wrap="square"/>
                    <a:lstStyle/>
                    <a:p>
                      <a:pPr algn="r"/>
                      <a:r>
                        <a:rPr sz="1150" b="0">
                          <a:solidFill>
                            <a:srgbClr val="1B1B1F"/>
                          </a:solidFill>
                          <a:latin typeface="Calibri"/>
                        </a:rPr>
                        <a:t>-13.6%</a:t>
                      </a:r>
                    </a:p>
                  </a:txBody>
                  <a:tcPr marL="91440" marR="73152" marT="18288" marB="18288">
                    <a:solidFill>
                      <a:srgbClr val="F4F6FA"/>
                    </a:solidFill>
                  </a:tcPr>
                </a:tc>
              </a:tr>
              <a:tr h="301752">
                <a:tc>
                  <a:txBody>
                    <a:bodyPr wrap="square"/>
                    <a:lstStyle/>
                    <a:p>
                      <a:pPr algn="l"/>
                      <a:r>
                        <a:rPr sz="1150" b="0">
                          <a:solidFill>
                            <a:srgbClr val="1B1B1F"/>
                          </a:solidFill>
                          <a:latin typeface="Calibri"/>
                        </a:rPr>
                        <a:t>0.1</a:t>
                      </a:r>
                    </a:p>
                  </a:txBody>
                  <a:tcPr marL="91440" marR="73152" marT="18288" marB="18288">
                    <a:solidFill>
                      <a:srgbClr val="FFFFFF"/>
                    </a:solidFill>
                  </a:tcPr>
                </a:tc>
                <a:tc>
                  <a:txBody>
                    <a:bodyPr wrap="square"/>
                    <a:lstStyle/>
                    <a:p>
                      <a:pPr algn="r"/>
                      <a:r>
                        <a:rPr sz="1150" b="0">
                          <a:solidFill>
                            <a:srgbClr val="1B1B1F"/>
                          </a:solidFill>
                          <a:latin typeface="Calibri"/>
                        </a:rPr>
                        <a:t>0.8457</a:t>
                      </a:r>
                    </a:p>
                  </a:txBody>
                  <a:tcPr marL="91440" marR="73152" marT="18288" marB="18288">
                    <a:solidFill>
                      <a:srgbClr val="FFFFFF"/>
                    </a:solidFill>
                  </a:tcPr>
                </a:tc>
                <a:tc>
                  <a:txBody>
                    <a:bodyPr wrap="square"/>
                    <a:lstStyle/>
                    <a:p>
                      <a:pPr algn="r"/>
                      <a:r>
                        <a:rPr sz="1150" b="0">
                          <a:solidFill>
                            <a:srgbClr val="1B1B1F"/>
                          </a:solidFill>
                          <a:latin typeface="Calibri"/>
                        </a:rPr>
                        <a:t>0.1557</a:t>
                      </a:r>
                    </a:p>
                  </a:txBody>
                  <a:tcPr marL="91440" marR="73152" marT="18288" marB="18288">
                    <a:solidFill>
                      <a:srgbClr val="FFFFFF"/>
                    </a:solidFill>
                  </a:tcPr>
                </a:tc>
                <a:tc>
                  <a:txBody>
                    <a:bodyPr wrap="square"/>
                    <a:lstStyle/>
                    <a:p>
                      <a:pPr algn="r"/>
                      <a:r>
                        <a:rPr sz="1150" b="0">
                          <a:solidFill>
                            <a:srgbClr val="1B1B1F"/>
                          </a:solidFill>
                          <a:latin typeface="Calibri"/>
                        </a:rPr>
                        <a:t>0.777</a:t>
                      </a:r>
                    </a:p>
                  </a:txBody>
                  <a:tcPr marL="91440" marR="73152" marT="18288" marB="18288">
                    <a:solidFill>
                      <a:srgbClr val="FFFFFF"/>
                    </a:solidFill>
                  </a:tcPr>
                </a:tc>
                <a:tc>
                  <a:txBody>
                    <a:bodyPr wrap="square"/>
                    <a:lstStyle/>
                    <a:p>
                      <a:pPr algn="r"/>
                      <a:r>
                        <a:rPr sz="1150" b="0">
                          <a:solidFill>
                            <a:srgbClr val="1B1B1F"/>
                          </a:solidFill>
                          <a:latin typeface="Calibri"/>
                        </a:rPr>
                        <a:t>3.41</a:t>
                      </a:r>
                    </a:p>
                  </a:txBody>
                  <a:tcPr marL="91440" marR="73152" marT="18288" marB="18288">
                    <a:solidFill>
                      <a:srgbClr val="FFFFFF"/>
                    </a:solidFill>
                  </a:tcPr>
                </a:tc>
                <a:tc>
                  <a:txBody>
                    <a:bodyPr wrap="square"/>
                    <a:lstStyle/>
                    <a:p>
                      <a:pPr algn="r"/>
                      <a:r>
                        <a:rPr sz="1150" b="0">
                          <a:solidFill>
                            <a:srgbClr val="1B1B1F"/>
                          </a:solidFill>
                          <a:latin typeface="Calibri"/>
                        </a:rPr>
                        <a:t>-5.0%</a:t>
                      </a:r>
                    </a:p>
                  </a:txBody>
                  <a:tcPr marL="91440" marR="73152" marT="18288" marB="18288">
                    <a:solidFill>
                      <a:srgbClr val="FFFFFF"/>
                    </a:solidFill>
                  </a:tcPr>
                </a:tc>
              </a:tr>
              <a:tr h="301752">
                <a:tc>
                  <a:txBody>
                    <a:bodyPr wrap="square"/>
                    <a:lstStyle/>
                    <a:p>
                      <a:pPr algn="l"/>
                      <a:r>
                        <a:rPr sz="1150" b="0">
                          <a:solidFill>
                            <a:srgbClr val="1B1B1F"/>
                          </a:solidFill>
                          <a:latin typeface="Calibri"/>
                        </a:rPr>
                        <a:t>0.15</a:t>
                      </a:r>
                    </a:p>
                  </a:txBody>
                  <a:tcPr marL="91440" marR="73152" marT="18288" marB="18288">
                    <a:solidFill>
                      <a:srgbClr val="F4F6FA"/>
                    </a:solidFill>
                  </a:tcPr>
                </a:tc>
                <a:tc>
                  <a:txBody>
                    <a:bodyPr wrap="square"/>
                    <a:lstStyle/>
                    <a:p>
                      <a:pPr algn="r"/>
                      <a:r>
                        <a:rPr sz="1150" b="0">
                          <a:solidFill>
                            <a:srgbClr val="1B1B1F"/>
                          </a:solidFill>
                          <a:latin typeface="Calibri"/>
                        </a:rPr>
                        <a:t>0.8465</a:t>
                      </a:r>
                    </a:p>
                  </a:txBody>
                  <a:tcPr marL="91440" marR="73152" marT="18288" marB="18288">
                    <a:solidFill>
                      <a:srgbClr val="F4F6FA"/>
                    </a:solidFill>
                  </a:tcPr>
                </a:tc>
                <a:tc>
                  <a:txBody>
                    <a:bodyPr wrap="square"/>
                    <a:lstStyle/>
                    <a:p>
                      <a:pPr algn="r"/>
                      <a:r>
                        <a:rPr sz="1150" b="0">
                          <a:solidFill>
                            <a:srgbClr val="1B1B1F"/>
                          </a:solidFill>
                          <a:latin typeface="Calibri"/>
                        </a:rPr>
                        <a:t>0.1897</a:t>
                      </a:r>
                    </a:p>
                  </a:txBody>
                  <a:tcPr marL="91440" marR="73152" marT="18288" marB="18288">
                    <a:solidFill>
                      <a:srgbClr val="F4F6FA"/>
                    </a:solidFill>
                  </a:tcPr>
                </a:tc>
                <a:tc>
                  <a:txBody>
                    <a:bodyPr wrap="square"/>
                    <a:lstStyle/>
                    <a:p>
                      <a:pPr algn="r"/>
                      <a:r>
                        <a:rPr sz="1150" b="0">
                          <a:solidFill>
                            <a:srgbClr val="1B1B1F"/>
                          </a:solidFill>
                          <a:latin typeface="Calibri"/>
                        </a:rPr>
                        <a:t>not binding</a:t>
                      </a:r>
                    </a:p>
                  </a:txBody>
                  <a:tcPr marL="91440" marR="73152" marT="18288" marB="18288">
                    <a:solidFill>
                      <a:srgbClr val="F4F6FA"/>
                    </a:solidFill>
                  </a:tcPr>
                </a:tc>
                <a:tc>
                  <a:txBody>
                    <a:bodyPr wrap="square"/>
                    <a:lstStyle/>
                    <a:p>
                      <a:pPr algn="r"/>
                      <a:r>
                        <a:rPr sz="1150" b="0">
                          <a:solidFill>
                            <a:srgbClr val="1B1B1F"/>
                          </a:solidFill>
                          <a:latin typeface="Calibri"/>
                        </a:rPr>
                        <a:t>—</a:t>
                      </a:r>
                    </a:p>
                  </a:txBody>
                  <a:tcPr marL="91440" marR="73152" marT="18288" marB="18288">
                    <a:solidFill>
                      <a:srgbClr val="F4F6FA"/>
                    </a:solidFill>
                  </a:tcPr>
                </a:tc>
                <a:tc>
                  <a:txBody>
                    <a:bodyPr wrap="square"/>
                    <a:lstStyle/>
                    <a:p>
                      <a:pPr algn="r"/>
                      <a:r>
                        <a:rPr sz="1150" b="0">
                          <a:solidFill>
                            <a:srgbClr val="1B1B1F"/>
                          </a:solidFill>
                          <a:latin typeface="Calibri"/>
                        </a:rPr>
                        <a:t>+0.0%</a:t>
                      </a:r>
                    </a:p>
                  </a:txBody>
                  <a:tcPr marL="91440" marR="73152" marT="18288" marB="18288">
                    <a:solidFill>
                      <a:srgbClr val="F4F6FA"/>
                    </a:solidFill>
                  </a:tcPr>
                </a:tc>
              </a:tr>
              <a:tr h="301752">
                <a:tc>
                  <a:txBody>
                    <a:bodyPr wrap="square"/>
                    <a:lstStyle/>
                    <a:p>
                      <a:pPr algn="l"/>
                      <a:r>
                        <a:rPr sz="1150" b="0">
                          <a:solidFill>
                            <a:srgbClr val="1B1B1F"/>
                          </a:solidFill>
                          <a:latin typeface="Calibri"/>
                        </a:rPr>
                        <a:t>0.2</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not binding</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a:t>
                      </a:r>
                    </a:p>
                  </a:txBody>
                  <a:tcPr marL="91440" marR="73152" marT="18288" marB="18288">
                    <a:solidFill>
                      <a:srgbClr val="FFFFFF"/>
                    </a:solidFill>
                  </a:tcPr>
                </a:tc>
              </a:tr>
            </a:tbl>
          </a:graphicData>
        </a:graphic>
      </p:graphicFrame>
      <p:sp>
        <p:nvSpPr>
          <p:cNvPr id="5" name="TextBox 4"/>
          <p:cNvSpPr txBox="1"/>
          <p:nvPr/>
        </p:nvSpPr>
        <p:spPr>
          <a:xfrm>
            <a:off x="640080" y="4343400"/>
            <a:ext cx="10881360" cy="329184"/>
          </a:xfrm>
          <a:prstGeom prst="rect">
            <a:avLst/>
          </a:prstGeom>
          <a:noFill/>
        </p:spPr>
        <p:txBody>
          <a:bodyPr wrap="square">
            <a:spAutoFit/>
          </a:bodyPr>
          <a:lstStyle/>
          <a:p>
            <a:pPr algn="l">
              <a:lnSpc>
                <a:spcPct val="100000"/>
              </a:lnSpc>
            </a:pPr>
            <a:r>
              <a:rPr sz="1500" b="1">
                <a:solidFill>
                  <a:srgbClr val="1E2761"/>
                </a:solidFill>
                <a:latin typeface="Cambria"/>
              </a:rPr>
              <a:t>The share does not move. Only the amount of work does.</a:t>
            </a:r>
          </a:p>
        </p:txBody>
      </p:sp>
      <p:sp>
        <p:nvSpPr>
          <p:cNvPr id="6" name="TextBox 5"/>
          <p:cNvSpPr txBox="1"/>
          <p:nvPr/>
        </p:nvSpPr>
        <p:spPr>
          <a:xfrm>
            <a:off x="640080" y="4718304"/>
            <a:ext cx="10881360" cy="868680"/>
          </a:xfrm>
          <a:prstGeom prst="rect">
            <a:avLst/>
          </a:prstGeom>
          <a:noFill/>
        </p:spPr>
        <p:txBody>
          <a:bodyPr wrap="square">
            <a:spAutoFit/>
          </a:bodyPr>
          <a:lstStyle/>
          <a:p>
            <a:pPr algn="l">
              <a:lnSpc>
                <a:spcPct val="100000"/>
              </a:lnSpc>
            </a:pPr>
            <a:r>
              <a:rPr sz="1350" b="0">
                <a:solidFill>
                  <a:srgbClr val="1B1B1F"/>
                </a:solidFill>
                <a:latin typeface="Calibri"/>
              </a:rPr>
              <a:t>Across the whole binding range the advantaged group pays 0.74–0.78 of the closure in people, and closing a fixed amount of gap costs a near-constant number of approvals (≈120–146 per unit) at every ε. The two non-binding rows return the baseline exactly, which is the check that ε now does what it claims.</a:t>
            </a:r>
          </a:p>
        </p:txBody>
      </p:sp>
      <p:sp>
        <p:nvSpPr>
          <p:cNvPr id="7" name="Rounded Rectangle 6"/>
          <p:cNvSpPr/>
          <p:nvPr/>
        </p:nvSpPr>
        <p:spPr>
          <a:xfrm>
            <a:off x="640080" y="5669280"/>
            <a:ext cx="10881360" cy="8686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797296"/>
            <a:ext cx="10332720" cy="640080"/>
          </a:xfrm>
          <a:prstGeom prst="rect">
            <a:avLst/>
          </a:prstGeom>
          <a:noFill/>
        </p:spPr>
        <p:txBody>
          <a:bodyPr wrap="square">
            <a:spAutoFit/>
          </a:bodyPr>
          <a:lstStyle/>
          <a:p>
            <a:pPr algn="l">
              <a:lnSpc>
                <a:spcPct val="100000"/>
              </a:lnSpc>
            </a:pPr>
            <a:r>
              <a:rPr sz="1350" b="1">
                <a:solidFill>
                  <a:srgbClr val="1B1B1F"/>
                </a:solidFill>
                <a:latin typeface="Calibri"/>
              </a:rPr>
              <a:t>At the loosest binding setting the split is the MOST lopsided per unit of work — 3.41 favourable decisions destroyed per one created. A gentle constraint is gentler in degree, and not even that per unit of gap closed.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Verdict — What We Confirmed, Extended, and Refuted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distinction matters. It is easy to present an extension as a refutation.</a:t>
            </a:r>
          </a:p>
        </p:txBody>
      </p:sp>
      <p:sp>
        <p:nvSpPr>
          <p:cNvPr id="4" name="Rounded Rectangle 3"/>
          <p:cNvSpPr/>
          <p:nvPr/>
        </p:nvSpPr>
        <p:spPr>
          <a:xfrm>
            <a:off x="640080"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01368"/>
            <a:ext cx="2971800" cy="384048"/>
          </a:xfrm>
          <a:prstGeom prst="rect">
            <a:avLst/>
          </a:prstGeom>
          <a:noFill/>
        </p:spPr>
        <p:txBody>
          <a:bodyPr wrap="square">
            <a:spAutoFit/>
          </a:bodyPr>
          <a:lstStyle/>
          <a:p>
            <a:pPr algn="l">
              <a:lnSpc>
                <a:spcPct val="100000"/>
              </a:lnSpc>
            </a:pPr>
            <a:r>
              <a:rPr sz="1700" b="1">
                <a:solidFill>
                  <a:srgbClr val="1BAF7A"/>
                </a:solidFill>
                <a:latin typeface="Cambria"/>
              </a:rPr>
              <a:t>Confirmed</a:t>
            </a:r>
          </a:p>
        </p:txBody>
      </p:sp>
      <p:sp>
        <p:nvSpPr>
          <p:cNvPr id="6" name="TextBox 5"/>
          <p:cNvSpPr txBox="1"/>
          <p:nvPr/>
        </p:nvSpPr>
        <p:spPr>
          <a:xfrm>
            <a:off x="868680" y="2267712"/>
            <a:ext cx="2971800" cy="2926080"/>
          </a:xfrm>
          <a:prstGeom prst="rect">
            <a:avLst/>
          </a:prstGeom>
          <a:noFill/>
        </p:spPr>
        <p:txBody>
          <a:bodyPr wrap="square">
            <a:spAutoFit/>
          </a:bodyPr>
          <a:lstStyle/>
          <a:p>
            <a:pPr algn="l">
              <a:lnSpc>
                <a:spcPct val="108000"/>
              </a:lnSpc>
            </a:pPr>
            <a:r>
              <a:rPr sz="1250" b="0">
                <a:solidFill>
                  <a:srgbClr val="1B1B1F"/>
                </a:solidFill>
                <a:latin typeface="Calibri"/>
              </a:rPr>
              <a:t>Everything the base paper claims.</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88% violation reduction for 1.5 accuracy points</a:t>
            </a:r>
          </a:p>
          <a:p>
            <a:pPr algn="l">
              <a:lnSpc>
                <a:spcPct val="108000"/>
              </a:lnSpc>
            </a:pPr>
            <a:r>
              <a:rPr sz="1250" b="0">
                <a:solidFill>
                  <a:srgbClr val="1B1B1F"/>
                </a:solidFill>
                <a:latin typeface="Calibri"/>
              </a:rPr>
              <a:t>• Works as a black box on a tree and on logistic regression</a:t>
            </a:r>
          </a:p>
          <a:p>
            <a:pPr algn="l">
              <a:lnSpc>
                <a:spcPct val="108000"/>
              </a:lnSpc>
            </a:pPr>
            <a:r>
              <a:rPr sz="1250" b="0">
                <a:solidFill>
                  <a:srgbClr val="1B1B1F"/>
                </a:solidFill>
                <a:latin typeface="Calibri"/>
              </a:rPr>
              <a:t>• Training data never modified</a:t>
            </a:r>
          </a:p>
          <a:p>
            <a:pPr algn="l">
              <a:lnSpc>
                <a:spcPct val="108000"/>
              </a:lnSpc>
            </a:pPr>
            <a:r>
              <a:rPr sz="1250" b="0">
                <a:solidFill>
                  <a:srgbClr val="1B1B1F"/>
                </a:solidFill>
                <a:latin typeface="Calibri"/>
              </a:rPr>
              <a:t>• GridSearch traces a usable frontier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The method works.</a:t>
            </a:r>
          </a:p>
        </p:txBody>
      </p:sp>
      <p:sp>
        <p:nvSpPr>
          <p:cNvPr id="7" name="Rounded Rectangle 6"/>
          <p:cNvSpPr/>
          <p:nvPr/>
        </p:nvSpPr>
        <p:spPr>
          <a:xfrm>
            <a:off x="4370832"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801368"/>
            <a:ext cx="2971800" cy="384048"/>
          </a:xfrm>
          <a:prstGeom prst="rect">
            <a:avLst/>
          </a:prstGeom>
          <a:noFill/>
        </p:spPr>
        <p:txBody>
          <a:bodyPr wrap="square">
            <a:spAutoFit/>
          </a:bodyPr>
          <a:lstStyle/>
          <a:p>
            <a:pPr algn="l">
              <a:lnSpc>
                <a:spcPct val="100000"/>
              </a:lnSpc>
            </a:pPr>
            <a:r>
              <a:rPr sz="1700" b="1">
                <a:solidFill>
                  <a:srgbClr val="1E2761"/>
                </a:solidFill>
                <a:latin typeface="Cambria"/>
              </a:rPr>
              <a:t>Extended</a:t>
            </a:r>
          </a:p>
        </p:txBody>
      </p:sp>
      <p:sp>
        <p:nvSpPr>
          <p:cNvPr id="9" name="TextBox 8"/>
          <p:cNvSpPr txBox="1"/>
          <p:nvPr/>
        </p:nvSpPr>
        <p:spPr>
          <a:xfrm>
            <a:off x="4599432" y="2267712"/>
            <a:ext cx="2971800" cy="2926080"/>
          </a:xfrm>
          <a:prstGeom prst="rect">
            <a:avLst/>
          </a:prstGeom>
          <a:noFill/>
        </p:spPr>
        <p:txBody>
          <a:bodyPr wrap="square">
            <a:spAutoFit/>
          </a:bodyPr>
          <a:lstStyle/>
          <a:p>
            <a:pPr algn="l">
              <a:lnSpc>
                <a:spcPct val="105000"/>
              </a:lnSpc>
            </a:pPr>
            <a:r>
              <a:rPr sz="1150" b="0">
                <a:solidFill>
                  <a:srgbClr val="1B1B1F"/>
                </a:solidFill>
                <a:latin typeface="Calibri"/>
              </a:rPr>
              <a:t>Six questions the paper's frame does not ask.</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 Who was moved to satisfy the constraint</a:t>
            </a:r>
          </a:p>
          <a:p>
            <a:pPr algn="l">
              <a:lnSpc>
                <a:spcPct val="105000"/>
              </a:lnSpc>
            </a:pPr>
            <a:r>
              <a:rPr sz="1150" b="0">
                <a:solidFill>
                  <a:srgbClr val="1B1B1F"/>
                </a:solidFill>
                <a:latin typeface="Calibri"/>
              </a:rPr>
              <a:t>• Whether the total number of approvals fell</a:t>
            </a:r>
          </a:p>
          <a:p>
            <a:pPr algn="l">
              <a:lnSpc>
                <a:spcPct val="105000"/>
              </a:lnSpc>
            </a:pPr>
            <a:r>
              <a:rPr sz="1150" b="0">
                <a:solidFill>
                  <a:srgbClr val="1B1B1F"/>
                </a:solidFill>
                <a:latin typeface="Calibri"/>
              </a:rPr>
              <a:t>• What randomization costs an individual</a:t>
            </a:r>
          </a:p>
          <a:p>
            <a:pPr algn="l">
              <a:lnSpc>
                <a:spcPct val="105000"/>
              </a:lnSpc>
            </a:pPr>
            <a:r>
              <a:rPr sz="1150" b="0">
                <a:solidFill>
                  <a:srgbClr val="1B1B1F"/>
                </a:solidFill>
                <a:latin typeface="Calibri"/>
              </a:rPr>
              <a:t>• What the constrained model leans on</a:t>
            </a:r>
          </a:p>
          <a:p>
            <a:pPr algn="l">
              <a:lnSpc>
                <a:spcPct val="105000"/>
              </a:lnSpc>
            </a:pPr>
            <a:r>
              <a:rPr sz="1150" b="0">
                <a:solidFill>
                  <a:srgbClr val="1B1B1F"/>
                </a:solidFill>
                <a:latin typeface="Calibri"/>
              </a:rPr>
              <a:t>• What happens one level below the constrained attribute</a:t>
            </a:r>
          </a:p>
          <a:p>
            <a:pPr algn="l">
              <a:lnSpc>
                <a:spcPct val="105000"/>
              </a:lnSpc>
            </a:pPr>
            <a:r>
              <a:rPr sz="1150" b="0">
                <a:solidFill>
                  <a:srgbClr val="1B1B1F"/>
                </a:solidFill>
                <a:latin typeface="Calibri"/>
              </a:rPr>
              <a:t>• Whether deleting the proxy, or loosening ε, is a way out (neither is)</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None of these contradict it.</a:t>
            </a:r>
          </a:p>
        </p:txBody>
      </p:sp>
      <p:sp>
        <p:nvSpPr>
          <p:cNvPr id="10" name="Rounded Rectangle 9"/>
          <p:cNvSpPr/>
          <p:nvPr/>
        </p:nvSpPr>
        <p:spPr>
          <a:xfrm>
            <a:off x="8101583" y="1645920"/>
            <a:ext cx="3419856" cy="37033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801368"/>
            <a:ext cx="2962656" cy="384048"/>
          </a:xfrm>
          <a:prstGeom prst="rect">
            <a:avLst/>
          </a:prstGeom>
          <a:noFill/>
        </p:spPr>
        <p:txBody>
          <a:bodyPr wrap="square">
            <a:spAutoFit/>
          </a:bodyPr>
          <a:lstStyle/>
          <a:p>
            <a:pPr algn="l">
              <a:lnSpc>
                <a:spcPct val="100000"/>
              </a:lnSpc>
            </a:pPr>
            <a:r>
              <a:rPr sz="1700" b="1">
                <a:solidFill>
                  <a:srgbClr val="EB6834"/>
                </a:solidFill>
                <a:latin typeface="Cambria"/>
              </a:rPr>
              <a:t>Refuted</a:t>
            </a:r>
          </a:p>
        </p:txBody>
      </p:sp>
      <p:sp>
        <p:nvSpPr>
          <p:cNvPr id="12" name="TextBox 11"/>
          <p:cNvSpPr txBox="1"/>
          <p:nvPr/>
        </p:nvSpPr>
        <p:spPr>
          <a:xfrm>
            <a:off x="8330183" y="2267712"/>
            <a:ext cx="2962656" cy="2926080"/>
          </a:xfrm>
          <a:prstGeom prst="rect">
            <a:avLst/>
          </a:prstGeom>
          <a:noFill/>
        </p:spPr>
        <p:txBody>
          <a:bodyPr wrap="square">
            <a:spAutoFit/>
          </a:bodyPr>
          <a:lstStyle/>
          <a:p>
            <a:pPr algn="l">
              <a:lnSpc>
                <a:spcPct val="108000"/>
              </a:lnSpc>
            </a:pPr>
            <a:r>
              <a:rPr sz="1250" b="0">
                <a:solidFill>
                  <a:srgbClr val="1B1B1F"/>
                </a:solidFill>
                <a:latin typeface="Calibri"/>
              </a:rPr>
              <a:t>Nothing in the base paper.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Two predictions from our own plan deck:</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'Adversarial training is higher-variance' — inverted</a:t>
            </a:r>
          </a:p>
          <a:p>
            <a:pPr algn="l">
              <a:lnSpc>
                <a:spcPct val="108000"/>
              </a:lnSpc>
            </a:pPr>
            <a:r>
              <a:rPr sz="1250" b="0">
                <a:solidFill>
                  <a:srgbClr val="1B1B1F"/>
                </a:solidFill>
                <a:latin typeface="Calibri"/>
              </a:rPr>
              <a:t>• 'SHAP will show proxy reliance shrinking' — it grew</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Predictions from intuition: 0 for 2. From theory: 3 for 3.</a:t>
            </a:r>
          </a:p>
        </p:txBody>
      </p:sp>
      <p:sp>
        <p:nvSpPr>
          <p:cNvPr id="13" name="Rounded Rectangle 12"/>
          <p:cNvSpPr/>
          <p:nvPr/>
        </p:nvSpPr>
        <p:spPr>
          <a:xfrm>
            <a:off x="640080" y="5532120"/>
            <a:ext cx="10881360" cy="1005840"/>
          </a:xfrm>
          <a:prstGeom prst="roundRect">
            <a:avLst>
              <a:gd name="adj" fmla="val 4000"/>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669280"/>
            <a:ext cx="10332720" cy="777240"/>
          </a:xfrm>
          <a:prstGeom prst="rect">
            <a:avLst/>
          </a:prstGeom>
          <a:noFill/>
        </p:spPr>
        <p:txBody>
          <a:bodyPr wrap="square">
            <a:spAutoFit/>
          </a:bodyPr>
          <a:lstStyle/>
          <a:p>
            <a:pPr algn="l">
              <a:lnSpc>
                <a:spcPct val="105000"/>
              </a:lnSpc>
            </a:pPr>
            <a:r>
              <a:rPr sz="1400" b="1">
                <a:solidFill>
                  <a:srgbClr val="FFFFFF"/>
                </a:solidFill>
                <a:latin typeface="Calibri"/>
              </a:rPr>
              <a:t>The base paper's method works as claimed. This project confirms it, then measures what it does not tell you: the gap closes mostly by withdrawing approvals from the advantaged group, and the constrained model relies on proxies for the protected attribute more than the unconstrained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1097</Words>
  <Application>Microsoft Office PowerPoint</Application>
  <PresentationFormat>Widescreen</PresentationFormat>
  <Paragraphs>149</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Dheirav Prakash</cp:lastModifiedBy>
  <cp:revision>2</cp:revision>
  <dcterms:created xsi:type="dcterms:W3CDTF">2026-08-11T07:36:30Z</dcterms:created>
  <dcterms:modified xsi:type="dcterms:W3CDTF">2026-08-11T08:43:30Z</dcterms:modified>
</cp:coreProperties>
</file>