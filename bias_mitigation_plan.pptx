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&gt;50K rate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</c:v>
                </c:pt>
                <c:pt idx="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59-450D-AF6F-7F1F205983A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6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Achievable frontier</c:v>
                </c:pt>
              </c:strCache>
            </c:strRef>
          </c:tx>
          <c:spPr>
            <a:ln w="38100" cap="flat">
              <a:solidFill>
                <a:srgbClr val="E8A33D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ε=0.02</c:v>
                </c:pt>
                <c:pt idx="1">
                  <c:v>ε=0.05</c:v>
                </c:pt>
                <c:pt idx="2">
                  <c:v>ε=0.10</c:v>
                </c:pt>
                <c:pt idx="3">
                  <c:v>ε=0.20</c:v>
                </c:pt>
                <c:pt idx="4">
                  <c:v>Unconstrained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0.79</c:v>
                </c:pt>
                <c:pt idx="1">
                  <c:v>0.81499999999999995</c:v>
                </c:pt>
                <c:pt idx="2">
                  <c:v>0.83499999999999996</c:v>
                </c:pt>
                <c:pt idx="3">
                  <c:v>0.84699999999999998</c:v>
                </c:pt>
                <c:pt idx="4">
                  <c:v>0.85499999999999998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20-4B7E-ACDD-B182465962E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6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096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03120"/>
            <a:ext cx="5943600" cy="5943600"/>
          </a:xfrm>
          <a:prstGeom prst="ellipse">
            <a:avLst/>
          </a:prstGeom>
          <a:solidFill>
            <a:srgbClr val="2630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2560320" y="4572000"/>
            <a:ext cx="4754880" cy="4754880"/>
          </a:xfrm>
          <a:prstGeom prst="ellipse">
            <a:avLst/>
          </a:prstGeom>
          <a:solidFill>
            <a:srgbClr val="2630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ALGORITHMIC BIAS MITIGATION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In-Processing, Algorithm-First Approach on the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Census Income Dataset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251960"/>
            <a:ext cx="502920" cy="54864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4434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paper · Agarwal et al. (2018), A Reductions Approach to Fair Classification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attribute: Sex   ·   Task: Income &gt;$50K vs ≤$50K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Algorithmic Bias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failure pattern repeats wherever a model gates access to something valuable.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6FB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0" y="25603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35" y="2841955"/>
            <a:ext cx="442570" cy="44257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Approvals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425196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Equally qualified applicants get different credit decisions based on a protected attribute.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6FB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532120" y="25603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3755" y="2841955"/>
            <a:ext cx="442570" cy="4425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3749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Hiring Models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63440" y="425196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resume-screening model favors one group over another with comparable qualifications.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14884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4F6FB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235440" y="25603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7075" y="2841955"/>
            <a:ext cx="442570" cy="44257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3749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Insurance Pricing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66760" y="425196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or coverage decisions correlate with group membership rather than risk alone.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Algorithmic Bias?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212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makes systematically unfair predictions for certain groups because it learned biased patterns from training data not from any deliberate design choice.
</a:t>
            </a:r>
            <a:r>
              <a:rPr lang="en-US" sz="15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Adult Census dataset, historically more men are recorded with income &gt;$50K than women. A classifier trained only to minimize error can absorb that base-rate gap as a shortcut.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4343400"/>
            <a:ext cx="5212080" cy="1691640"/>
          </a:xfrm>
          <a:prstGeom prst="roundRect">
            <a:avLst>
              <a:gd name="adj" fmla="val 5405"/>
            </a:avLst>
          </a:prstGeom>
          <a:solidFill>
            <a:srgbClr val="FBF1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4526280"/>
            <a:ext cx="4709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4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hiring model prefers men over women even when qualifications are similar.”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263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Illustrative: predicted “high-income” rate by group (baseline model)</a:t>
            </a:r>
            <a:endParaRPr lang="en-US" sz="12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263640" y="1874520"/>
          <a:ext cx="530352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47548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values for illustration — actual figures come from the baseline run.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Adult Census Income — archive.ics.uci.edu/dataset/2/adult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13055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Binary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task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&gt;$50K vs ≤$50K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96596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97680" y="213055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Sex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80560" y="28346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attribute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/ Female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955280" y="213055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48K+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38160" y="28346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the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dataset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pipeline scaffold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2084832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462686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89204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clean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24912" y="4572000"/>
            <a:ext cx="1554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834640" y="4572000"/>
            <a:ext cx="2084832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926080" y="462686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489204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categoricals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19472" y="4572000"/>
            <a:ext cx="1554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0" y="4572000"/>
            <a:ext cx="2084832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20640" y="462686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20640" y="489204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14032" y="4572000"/>
            <a:ext cx="1554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23760" y="4572000"/>
            <a:ext cx="2084832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462686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89204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Decision Tree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308592" y="4572000"/>
            <a:ext cx="1554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418320" y="4572000"/>
            <a:ext cx="2084832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509760" y="462686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509760" y="489204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&amp; evaluate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5532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adapted from the “Adult Census Income Project” (JcFreya, GitHub) — the fairness layer is what this project adds on top.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Formulation — the Baseline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41A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minₕ  E₍ₓ,ᵧ₎~D [ 𝟙{h(x) ≠ y} ]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{ (xᵢ, aᵢ, yᵢ) }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x = features, a ∈ {0,1} = protected attribute (Sex), y ∈ {0,1} = income label
This objective never references </a:t>
            </a: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But because P(y=1 | a=Male) ≫ P(y=1 | a=Female) historically in this data, the model is free to pick up </a:t>
            </a: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(or correlated proxies like relationship / marital-status) as a shortcut to lower error.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2630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507492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malicious in the algorithm, it is plain empirical risk minimization on data with unequal base rates across groups. That gap is the entire source of the bias.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Bias: Fairness Metrics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φ(h) quantifies how much predictions depend on the protected attribute 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457200" cy="54864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Demographic Parity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246120"/>
            <a:ext cx="288036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24128" y="3246120"/>
            <a:ext cx="26609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P(h(x)=1|a=1) −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P(h(x)=1|a=0) |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in positive-prediction rate between groups.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1688" y="187452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36008" y="2148840"/>
            <a:ext cx="457200" cy="54864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36008" y="228600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Equalized Odds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36008" y="3246120"/>
            <a:ext cx="288036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45736" y="3246120"/>
            <a:ext cx="26609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gap in TPR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FPR across groups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36008" y="44805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in true/false positive rates, conditioned on the real label.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187452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57616" y="2148840"/>
            <a:ext cx="457200" cy="54864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57616" y="228600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Disparate Impact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(ratio form)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57616" y="3246120"/>
            <a:ext cx="288036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67344" y="3246120"/>
            <a:ext cx="26609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P(h(x)=1|a=0) 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P(h(x)=1|a=1)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57616" y="44805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version of demographic parity; 1.0 is exact parity.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Reframing as Constrained Optimization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reframing is what makes the whole project purely algorithmic.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1828800"/>
            <a:ext cx="96012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052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minₕ  E[𝟙{h(x) ≠ y}]     subject to     φ(h) ≤ ε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37033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9" y="3933749"/>
            <a:ext cx="362102" cy="362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untouched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40080" y="461772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is never edited, reweighted-in-place, or filtered. The training set stays exactly as collected.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37033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3829" y="3933749"/>
            <a:ext cx="362102" cy="3621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changes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343400" y="461772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region φ(h) ≤ ε is added; the search is now for the best classifier inside that region.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37033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7149" y="3933749"/>
            <a:ext cx="362102" cy="362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5256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 is explicit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046720" y="461772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method here trades some accuracy for lower φ(h) — the size of that trade-off is the result.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Paper: A Reductions Approach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Agarwal, Beygelzimer, Dudík, Langford &amp; Wallach (2018) — ICML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the constrained problem as a two-player zero-sum game: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minₕ maxλ   error(h) + λᵀ (φ(h) − ε)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257800" cy="109728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09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Learner:  </a:t>
            </a:r>
            <a:r>
              <a:rPr lang="en-US" sz="13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h to minimize error minus a fairness penalty.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3337560"/>
            <a:ext cx="5257800" cy="109728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92240" y="3337560"/>
            <a:ext cx="4709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Regulator:  </a:t>
            </a:r>
            <a:r>
              <a:rPr lang="en-US" sz="13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Lagrange multipliers λ, penalizing violations harder as h gets less fair.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6177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Practically: iteratively reweight training examples and retrain the base classifier — wraps around any classifier without touching the dataset.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F1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4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implementation:  </a:t>
            </a:r>
            <a:r>
              <a:rPr lang="en-US" sz="1350" dirty="0">
                <a:solidFill>
                  <a:srgbClr val="6B4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fairlearn.reductions.ExponentiatedGradient</a:t>
            </a:r>
            <a:r>
              <a:rPr lang="en-US" sz="1350" dirty="0">
                <a:solidFill>
                  <a:srgbClr val="6B4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</a:t>
            </a:r>
            <a:r>
              <a:rPr lang="en-US" sz="1350" dirty="0">
                <a:solidFill>
                  <a:srgbClr val="6B4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GridSearch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Base-Paper Track: Deliverables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6FB"/>
          </a:solidFill>
          <a:ln w="12700">
            <a:solidFill>
              <a:srgbClr val="E3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" y="18059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059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783080" y="1664208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Decision Tree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83080" y="2121408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all three fairness metrics, no mitigation.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0861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0861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83080" y="2944368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Exponentiated Gradient — Demographic Parity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3401568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tree, wrapped with a demographic-parity constraint.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4F6FB"/>
          </a:solidFill>
          <a:ln w="12700">
            <a:solidFill>
              <a:srgbClr val="E3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14400" y="43662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3662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83080" y="4224528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Exponentiated Gradient — Equalized Odds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4681728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tree, wrapped with an equalized-odds constraint instead.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3949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14400" y="56464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4400" y="56464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783080" y="5504688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GridSearch Pareto Sweep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83080" y="5961888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of λ values plotted as an accuracy-vs-fairness frontier.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Study: Swapping the Mitigation Method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base classifier, same metrics — only the mitigation algorithm changes.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4114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mitigation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 Gradient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Lagrangian game, reweight-and-retrain loop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Sweep fixed λ values, select Pareto-frontier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Prejudice Remover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Fairness penalty folded directly into the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Adversarial Debiasing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Adversary predicts a from h(x); predictor is penalized when it succeeds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Bolded row = the base-paper method (Agarwal et al., 2018).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Tooling &amp; 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2514600" cy="3657600"/>
          </a:xfrm>
          <a:prstGeom prst="roundRect">
            <a:avLst>
              <a:gd name="adj" fmla="val 3636"/>
            </a:avLst>
          </a:prstGeom>
          <a:solidFill>
            <a:srgbClr val="141A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40180" y="22860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636" y="250545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33832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fairlearn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ExponentiatedGradient, GridSearch, MetricFrame reporting/plots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10712" y="1920240"/>
            <a:ext cx="2514600" cy="3657600"/>
          </a:xfrm>
          <a:prstGeom prst="roundRect">
            <a:avLst>
              <a:gd name="adj" fmla="val 3636"/>
            </a:avLst>
          </a:prstGeom>
          <a:solidFill>
            <a:srgbClr val="141A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210812" y="22860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0268" y="2505456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47872" y="33832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AIF360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639312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Prejudice Remover &amp; Adversarial Debiasing implementations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81344" y="1920240"/>
            <a:ext cx="2514600" cy="3657600"/>
          </a:xfrm>
          <a:prstGeom prst="roundRect">
            <a:avLst>
              <a:gd name="adj" fmla="val 3636"/>
            </a:avLst>
          </a:prstGeom>
          <a:solidFill>
            <a:srgbClr val="141A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6981444" y="22860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900" y="2505456"/>
            <a:ext cx="475488" cy="4754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18504" y="33832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scikit-learn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409944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Decision Tree, train/test split, encoding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951976" y="1920240"/>
            <a:ext cx="2514600" cy="3657600"/>
          </a:xfrm>
          <a:prstGeom prst="roundRect">
            <a:avLst>
              <a:gd name="adj" fmla="val 3636"/>
            </a:avLst>
          </a:prstGeom>
          <a:solidFill>
            <a:srgbClr val="141A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9752076" y="22860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1532" y="2505456"/>
            <a:ext cx="475488" cy="4754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89136" y="33832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180576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feature-importance comparison (stretch goal)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of Done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vs. fairness violation — conceptual Pareto frontier</a:t>
            </a:r>
            <a:endParaRPr lang="en-US" sz="12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554480"/>
          <a:ext cx="557784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5196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shape only — populated from the GridSearch sweep.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143000"/>
            <a:ext cx="5074920" cy="3017520"/>
          </a:xfrm>
          <a:prstGeom prst="roundRect">
            <a:avLst>
              <a:gd name="adj" fmla="val 3030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675120" y="137160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5879" y="15023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06640" y="137160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table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675120" y="2103120"/>
            <a:ext cx="4572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Baseline, Exp. Gradient (DP), Exp. Gradient (EO), GridSearch, Prejudice Remover, Adversarial Debiasing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Accuracy, Demographic Parity Diff, Equalized Odds Diff, Disparate Impact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40080" y="4526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questions to answer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5029200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1005840" y="4983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 gets closest to zero bias for the smallest accuracy cost?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5532120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05840" y="54864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 is most stable across repeated runs?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6035040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05840" y="5989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ranking change between Demographic Parity and Equalized Odds?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1097</Words>
  <Application>Microsoft Office PowerPoint</Application>
  <PresentationFormat>Widescreen</PresentationFormat>
  <Paragraphs>149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Dheirav Prakash</cp:lastModifiedBy>
  <cp:revision>2</cp:revision>
  <dcterms:created xsi:type="dcterms:W3CDTF">2026-08-11T07:36:30Z</dcterms:created>
  <dcterms:modified xsi:type="dcterms:W3CDTF">2026-08-11T08:43:30Z</dcterms:modified>
</cp:coreProperties>
</file>