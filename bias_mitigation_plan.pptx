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9"/>
    <p:sldId id="269" r:id="rId20"/>
    <p:sldId id="270" r:id="rId21"/>
    <p:sldId id="271" r:id="rId22"/>
    <p:sldId id="272" r:id="rId23"/>
    <p:sldId id="273" r:id="rId24"/>
    <p:sldId id="274" r:id="rId25"/>
    <p:sldId id="275"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Actual rate in the data</c:v>
                </c:pt>
              </c:strCache>
            </c:strRef>
          </c:tx>
          <c:spPr>
            <a:solidFill>
              <a:srgbClr val="1E2761"/>
            </a:solidFill>
            <a:effectLst/>
          </c:spPr>
          <c:invertIfNegative val="0"/>
          <c:dLbls>
            <c:numFmt formatCode="0%" sourceLinked="0"/>
            <c:spPr>
              <a:noFill/>
              <a:ln>
                <a:noFill/>
              </a:ln>
              <a:effectLst/>
            </c:spPr>
            <c:txPr>
              <a:bodyPr/>
              <a:lstStyle/>
              <a:p>
                <a:pPr>
                  <a:defRPr sz="12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Male</c:v>
                </c:pt>
                <c:pt idx="1">
                  <c:v>Female</c:v>
                </c:pt>
              </c:strCache>
            </c:strRef>
          </c:cat>
          <c:val>
            <c:numRef>
              <c:f>Sheet1!$B$2:$B$3</c:f>
              <c:numCache>
                <c:formatCode>General</c:formatCode>
                <c:ptCount val="2"/>
                <c:pt idx="0">
                  <c:v>0.3125</c:v>
                </c:pt>
                <c:pt idx="1">
                  <c:v>0.1136</c:v>
                </c:pt>
              </c:numCache>
            </c:numRef>
          </c:val>
          <c:extLst>
            <c:ext xmlns:c16="http://schemas.microsoft.com/office/drawing/2014/chart" uri="{C3380CC4-5D6E-409C-BE32-E72D297353CC}">
              <c16:uniqueId val="{00000000-5D59-450D-AF6F-7F1F205983AF}"/>
            </c:ext>
          </c:extLst>
        </c:ser>
        <c:ser>
          <c:idx val="1"/>
          <c:order val="1"/>
          <c:tx>
            <c:strRef>
              <c:f>Sheet1!$C$1</c:f>
              <c:strCache>
                <c:ptCount val="1"/>
                <c:pt idx="0">
                  <c:v>Baseline model's predicted rate</c:v>
                </c:pt>
              </c:strCache>
            </c:strRef>
          </c:tx>
          <c:spPr>
            <a:solidFill>
              <a:srgbClr val="1E2761"/>
            </a:solidFill>
            <a:effectLst/>
          </c:spPr>
          <c:invertIfNegative val="0"/>
          <c:dLbls>
            <c:numFmt formatCode="0%" sourceLinked="0"/>
            <c:spPr>
              <a:noFill/>
              <a:ln>
                <a:noFill/>
              </a:ln>
              <a:effectLst/>
            </c:spPr>
            <c:txPr>
              <a:bodyPr/>
              <a:lstStyle/>
              <a:p>
                <a:pPr>
                  <a:defRPr sz="12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Male</c:v>
                </c:pt>
                <c:pt idx="1">
                  <c:v>Female</c:v>
                </c:pt>
              </c:strCache>
            </c:strRef>
          </c:cat>
          <c:val>
            <c:numRef>
              <c:f>Sheet1!$C$2:$C$3</c:f>
              <c:numCache>
                <c:formatCode>General</c:formatCode>
                <c:ptCount val="2"/>
                <c:pt idx="0">
                  <c:v>0.2668</c:v>
                </c:pt>
                <c:pt idx="1">
                  <c:v>0.0801</c:v>
                </c:pt>
              </c:numCache>
            </c:numRef>
          </c:val>
          <c:extLst>
            <c:ext xmlns:c16="http://schemas.microsoft.com/office/drawing/2014/chart" uri="{C3380CC4-5D6E-409C-BE32-E72D297353CC}">
              <c16:uniqueId val="{00000000-5D59-450D-AF6F-7F1F205983A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27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6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270"/>
                </a:solidFill>
                <a:latin typeface="Arial"/>
              </a:defRPr>
            </a:pPr>
            <a:endParaRPr lang="en-US"/>
          </a:p>
        </c:txPr>
        <c:crossAx val="2094734554"/>
        <c:crosses val="autoZero"/>
        <c:crossBetween val="between"/>
      </c:valAx>
      <c:spPr>
        <a:noFill/>
        <a:ln>
          <a:noFill/>
        </a:ln>
        <a:effectLst/>
      </c:spPr>
    </c:plotArea>
    <c:legend>
      <c:overlay val="0"/>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Achievable frontier</c:v>
                </c:pt>
              </c:strCache>
            </c:strRef>
          </c:tx>
          <c:spPr>
            <a:ln w="38100" cap="flat">
              <a:solidFill>
                <a:srgbClr val="E8A33D"/>
              </a:solidFill>
              <a:prstDash val="solid"/>
              <a:round/>
            </a:ln>
            <a:effectLst/>
          </c:spPr>
          <c:marker>
            <c:symbol val="circle"/>
            <c:size val="7"/>
            <c:spPr>
              <a:solidFill>
                <a:srgbClr val="E8A33D"/>
              </a:solidFill>
              <a:ln w="9525" cap="flat">
                <a:solidFill>
                  <a:srgbClr val="E8A33D"/>
                </a:solidFill>
                <a:prstDash val="solid"/>
                <a:round/>
              </a:ln>
              <a:effectLst/>
            </c:spPr>
          </c:marker>
          <c:dLbls>
            <c:numFmt formatCode="0%" sourceLinked="0"/>
            <c:spPr>
              <a:noFill/>
              <a:ln>
                <a:noFill/>
              </a:ln>
              <a:effectLst/>
            </c:spPr>
            <c:txPr>
              <a:bodyPr/>
              <a:lstStyle/>
              <a:p>
                <a:pPr>
                  <a:defRPr sz="1000" b="0" i="0" u="none" strike="noStrike">
                    <a:solidFill>
                      <a:srgbClr val="1E2761"/>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ε=0.02</c:v>
                </c:pt>
                <c:pt idx="1">
                  <c:v>ε=0.05</c:v>
                </c:pt>
                <c:pt idx="2">
                  <c:v>ε=0.10</c:v>
                </c:pt>
                <c:pt idx="3">
                  <c:v>ε=0.20</c:v>
                </c:pt>
                <c:pt idx="4">
                  <c:v>Unconstrained</c:v>
                </c:pt>
              </c:strCache>
            </c:strRef>
          </c:cat>
          <c:val>
            <c:numRef>
              <c:f>Sheet1!$B$2:$B$6</c:f>
              <c:numCache>
                <c:formatCode>General</c:formatCode>
                <c:ptCount val="5"/>
                <c:pt idx="0">
                  <c:v>0.79</c:v>
                </c:pt>
                <c:pt idx="1">
                  <c:v>0.81499999999999995</c:v>
                </c:pt>
                <c:pt idx="2">
                  <c:v>0.83499999999999996</c:v>
                </c:pt>
                <c:pt idx="3">
                  <c:v>0.84699999999999998</c:v>
                </c:pt>
                <c:pt idx="4">
                  <c:v>0.85499999999999998</c:v>
                </c:pt>
              </c:numCache>
            </c:numRef>
          </c:val>
          <c:smooth val="0"/>
          <c:extLst>
            <c:ext xmlns:c16="http://schemas.microsoft.com/office/drawing/2014/chart" uri="{C3380CC4-5D6E-409C-BE32-E72D297353CC}">
              <c16:uniqueId val="{00000000-BE20-4B7E-ACDD-B182465962EC}"/>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27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3E6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27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7096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image" Target="../media/image11.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943600" cy="5943600"/>
          </a:xfrm>
          <a:prstGeom prst="ellipse">
            <a:avLst/>
          </a:prstGeom>
          <a:solidFill>
            <a:srgbClr val="26307A"/>
          </a:solidFill>
          <a:ln/>
        </p:spPr>
        <p:txBody>
          <a:bodyPr/>
          <a:lstStyle/>
          <a:p>
            <a:endParaRPr lang="en-US"/>
          </a:p>
        </p:txBody>
      </p:sp>
      <p:sp>
        <p:nvSpPr>
          <p:cNvPr id="3" name="Shape 1"/>
          <p:cNvSpPr/>
          <p:nvPr/>
        </p:nvSpPr>
        <p:spPr>
          <a:xfrm>
            <a:off x="-2560320" y="4572000"/>
            <a:ext cx="4754880" cy="4754880"/>
          </a:xfrm>
          <a:prstGeom prst="ellipse">
            <a:avLst/>
          </a:prstGeom>
          <a:solidFill>
            <a:srgbClr val="26307A"/>
          </a:solidFill>
          <a:ln/>
        </p:spPr>
        <p:txBody>
          <a:bodyPr/>
          <a:lstStyle/>
          <a:p>
            <a:endParaRPr lang="en-US"/>
          </a:p>
        </p:txBody>
      </p:sp>
      <p:sp>
        <p:nvSpPr>
          <p:cNvPr id="4" name="Text 2"/>
          <p:cNvSpPr/>
          <p:nvPr/>
        </p:nvSpPr>
        <p:spPr>
          <a:xfrm>
            <a:off x="822960" y="2331720"/>
            <a:ext cx="105156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ALGORITHMIC BIAS MITIGATION</a:t>
            </a:r>
            <a:endParaRPr lang="en-US" sz="4000" dirty="0"/>
          </a:p>
        </p:txBody>
      </p:sp>
      <p:sp>
        <p:nvSpPr>
          <p:cNvPr id="5" name="Text 3"/>
          <p:cNvSpPr/>
          <p:nvPr/>
        </p:nvSpPr>
        <p:spPr>
          <a:xfrm>
            <a:off x="822960" y="3200400"/>
            <a:ext cx="9601200" cy="914400"/>
          </a:xfrm>
          <a:prstGeom prst="rect">
            <a:avLst/>
          </a:prstGeom>
          <a:noFill/>
          <a:ln/>
        </p:spPr>
        <p:txBody>
          <a:bodyPr wrap="square" rtlCol="0" anchor="ctr"/>
          <a:lstStyle/>
          <a:p>
            <a:pPr marL="0" indent="0">
              <a:lnSpc>
                <a:spcPct val="120000"/>
              </a:lnSpc>
              <a:buNone/>
            </a:pPr>
            <a:r>
              <a:rPr lang="en-US" sz="1800" dirty="0">
                <a:solidFill>
                  <a:srgbClr val="CADCFC"/>
                </a:solidFill>
                <a:latin typeface="Calibri" pitchFamily="34" charset="0"/>
                <a:ea typeface="Calibri" pitchFamily="34" charset="-122"/>
                <a:cs typeface="Calibri" pitchFamily="34" charset="-120"/>
              </a:rPr>
              <a:t>An In-Processing, Algorithm-First Approach on the</a:t>
            </a:r>
            <a:endParaRPr lang="en-US" sz="1800" dirty="0"/>
          </a:p>
          <a:p>
            <a:pPr marL="0" indent="0">
              <a:lnSpc>
                <a:spcPct val="120000"/>
              </a:lnSpc>
              <a:buNone/>
            </a:pPr>
            <a:r>
              <a:rPr lang="en-US" sz="1800" dirty="0">
                <a:solidFill>
                  <a:srgbClr val="CADCFC"/>
                </a:solidFill>
                <a:latin typeface="Calibri" pitchFamily="34" charset="0"/>
                <a:ea typeface="Calibri" pitchFamily="34" charset="-122"/>
                <a:cs typeface="Calibri" pitchFamily="34" charset="-120"/>
              </a:rPr>
              <a:t>Adult Census Income Dataset</a:t>
            </a:r>
            <a:endParaRPr lang="en-US" sz="1800" dirty="0"/>
          </a:p>
        </p:txBody>
      </p:sp>
      <p:sp>
        <p:nvSpPr>
          <p:cNvPr id="6" name="Shape 4"/>
          <p:cNvSpPr/>
          <p:nvPr/>
        </p:nvSpPr>
        <p:spPr>
          <a:xfrm>
            <a:off x="822960" y="4251960"/>
            <a:ext cx="502920" cy="54864"/>
          </a:xfrm>
          <a:prstGeom prst="rect">
            <a:avLst/>
          </a:prstGeom>
          <a:solidFill>
            <a:srgbClr val="E8A33D"/>
          </a:solidFill>
          <a:ln/>
        </p:spPr>
        <p:txBody>
          <a:bodyPr/>
          <a:lstStyle/>
          <a:p>
            <a:endParaRPr lang="en-US"/>
          </a:p>
        </p:txBody>
      </p:sp>
      <p:sp>
        <p:nvSpPr>
          <p:cNvPr id="7" name="Text 5"/>
          <p:cNvSpPr/>
          <p:nvPr/>
        </p:nvSpPr>
        <p:spPr>
          <a:xfrm>
            <a:off x="822960" y="4434840"/>
            <a:ext cx="9601200" cy="365760"/>
          </a:xfrm>
          <a:prstGeom prst="rect">
            <a:avLst/>
          </a:prstGeom>
          <a:noFill/>
          <a:ln/>
        </p:spPr>
        <p:txBody>
          <a:bodyPr wrap="square"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Base paper · Agarwal et al. (2018), A Reductions Approach to Fair Classification</a:t>
            </a:r>
            <a:endParaRPr lang="en-US" sz="1300" dirty="0"/>
          </a:p>
        </p:txBody>
      </p:sp>
      <p:sp>
        <p:nvSpPr>
          <p:cNvPr id="8" name="Text 6"/>
          <p:cNvSpPr/>
          <p:nvPr/>
        </p:nvSpPr>
        <p:spPr>
          <a:xfrm>
            <a:off x="822960" y="6035040"/>
            <a:ext cx="9144000" cy="365760"/>
          </a:xfrm>
          <a:prstGeom prst="rect">
            <a:avLst/>
          </a:prstGeom>
          <a:noFill/>
          <a:ln/>
        </p:spPr>
        <p:txBody>
          <a:bodyPr wrap="square" rtlCol="0" anchor="ctr"/>
          <a:lstStyle/>
          <a:p>
            <a:pPr marL="0" indent="0">
              <a:buNone/>
            </a:pPr>
            <a:r>
              <a:rPr lang="en-US" sz="1200" dirty="0">
                <a:solidFill>
                  <a:srgbClr val="8E9BD4"/>
                </a:solidFill>
                <a:latin typeface="Calibri" pitchFamily="34" charset="0"/>
                <a:ea typeface="Calibri" pitchFamily="34" charset="-122"/>
                <a:cs typeface="Calibri" pitchFamily="34" charset="-120"/>
              </a:rPr>
              <a:t>Protected attribute: Sex   ·   Task: Income &gt;$50K vs ≤$50K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Algorithmic Bias Matters</a:t>
            </a:r>
            <a:endParaRPr lang="en-US" sz="3000" dirty="0"/>
          </a:p>
        </p:txBody>
      </p:sp>
      <p:sp>
        <p:nvSpPr>
          <p:cNvPr id="3" name="Text 1"/>
          <p:cNvSpPr/>
          <p:nvPr/>
        </p:nvSpPr>
        <p:spPr>
          <a:xfrm>
            <a:off x="640080" y="1097280"/>
            <a:ext cx="10515600" cy="457200"/>
          </a:xfrm>
          <a:prstGeom prst="rect">
            <a:avLst/>
          </a:prstGeom>
          <a:noFill/>
          <a:ln/>
        </p:spPr>
        <p:txBody>
          <a:bodyPr wrap="square" rtlCol="0" anchor="ctr"/>
          <a:lstStyle/>
          <a:p>
            <a:pPr marL="0" indent="0">
              <a:buNone/>
            </a:pPr>
            <a:r>
              <a:rPr lang="en-US" sz="1500" dirty="0">
                <a:solidFill>
                  <a:srgbClr val="5A6270"/>
                </a:solidFill>
                <a:latin typeface="Calibri" pitchFamily="34" charset="0"/>
                <a:ea typeface="Calibri" pitchFamily="34" charset="-122"/>
                <a:cs typeface="Calibri" pitchFamily="34" charset="-120"/>
              </a:rPr>
              <a:t>The same failure pattern repeats wherever a model gates access to something valuable.</a:t>
            </a:r>
            <a:endParaRPr lang="en-US" sz="1500" dirty="0"/>
          </a:p>
        </p:txBody>
      </p:sp>
      <p:sp>
        <p:nvSpPr>
          <p:cNvPr id="4" name="Shape 2"/>
          <p:cNvSpPr/>
          <p:nvPr/>
        </p:nvSpPr>
        <p:spPr>
          <a:xfrm>
            <a:off x="640080" y="2148840"/>
            <a:ext cx="3383280" cy="3566160"/>
          </a:xfrm>
          <a:prstGeom prst="roundRect">
            <a:avLst>
              <a:gd name="adj" fmla="val 3243"/>
            </a:avLst>
          </a:prstGeom>
          <a:solidFill>
            <a:srgbClr val="F4F6FB"/>
          </a:solidFill>
          <a:ln/>
          <a:effectLst>
            <a:outerShdw blurRad="101600" dist="38100" dir="5400000" algn="bl" rotWithShape="0">
              <a:srgbClr val="000000">
                <a:alpha val="12000"/>
              </a:srgbClr>
            </a:outerShdw>
          </a:effectLst>
        </p:spPr>
        <p:txBody>
          <a:bodyPr/>
          <a:lstStyle/>
          <a:p>
            <a:endParaRPr lang="en-US"/>
          </a:p>
        </p:txBody>
      </p:sp>
      <p:sp>
        <p:nvSpPr>
          <p:cNvPr id="5" name="Shape 3"/>
          <p:cNvSpPr/>
          <p:nvPr/>
        </p:nvSpPr>
        <p:spPr>
          <a:xfrm>
            <a:off x="1828800" y="2560320"/>
            <a:ext cx="1005840" cy="1005840"/>
          </a:xfrm>
          <a:prstGeom prst="ellipse">
            <a:avLst/>
          </a:prstGeom>
          <a:solidFill>
            <a:srgbClr val="1E276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2110435" y="2841955"/>
            <a:ext cx="442570" cy="442570"/>
          </a:xfrm>
          <a:prstGeom prst="rect">
            <a:avLst/>
          </a:prstGeom>
        </p:spPr>
      </p:pic>
      <p:sp>
        <p:nvSpPr>
          <p:cNvPr id="7" name="Text 4"/>
          <p:cNvSpPr/>
          <p:nvPr/>
        </p:nvSpPr>
        <p:spPr>
          <a:xfrm>
            <a:off x="868680" y="3749040"/>
            <a:ext cx="2926080" cy="457200"/>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Loan Approvals</a:t>
            </a:r>
            <a:endParaRPr lang="en-US" sz="1700" dirty="0"/>
          </a:p>
        </p:txBody>
      </p:sp>
      <p:sp>
        <p:nvSpPr>
          <p:cNvPr id="8" name="Text 5"/>
          <p:cNvSpPr/>
          <p:nvPr/>
        </p:nvSpPr>
        <p:spPr>
          <a:xfrm>
            <a:off x="960120" y="4251960"/>
            <a:ext cx="2743200" cy="1280160"/>
          </a:xfrm>
          <a:prstGeom prst="rect">
            <a:avLst/>
          </a:prstGeom>
          <a:noFill/>
          <a:ln/>
        </p:spPr>
        <p:txBody>
          <a:bodyPr wrap="square" rtlCol="0" anchor="t"/>
          <a:lstStyle/>
          <a:p>
            <a:pPr marL="0" indent="0" algn="ctr">
              <a:buNone/>
            </a:pPr>
            <a:r>
              <a:rPr lang="en-US" sz="1250" dirty="0">
                <a:solidFill>
                  <a:srgbClr val="5A6270"/>
                </a:solidFill>
                <a:latin typeface="Calibri" pitchFamily="34" charset="0"/>
                <a:ea typeface="Calibri" pitchFamily="34" charset="-122"/>
                <a:cs typeface="Calibri" pitchFamily="34" charset="-120"/>
              </a:rPr>
              <a:t>Equally qualified applicants get different credit decisions based on a protected attribute.</a:t>
            </a:r>
            <a:endParaRPr lang="en-US" sz="1250" dirty="0"/>
          </a:p>
        </p:txBody>
      </p:sp>
      <p:sp>
        <p:nvSpPr>
          <p:cNvPr id="9" name="Shape 6"/>
          <p:cNvSpPr/>
          <p:nvPr/>
        </p:nvSpPr>
        <p:spPr>
          <a:xfrm>
            <a:off x="4343400" y="2148840"/>
            <a:ext cx="3383280" cy="3566160"/>
          </a:xfrm>
          <a:prstGeom prst="roundRect">
            <a:avLst>
              <a:gd name="adj" fmla="val 3243"/>
            </a:avLst>
          </a:prstGeom>
          <a:solidFill>
            <a:srgbClr val="F4F6FB"/>
          </a:solidFill>
          <a:ln/>
          <a:effectLst>
            <a:outerShdw blurRad="101600" dist="38100" dir="5400000" algn="bl" rotWithShape="0">
              <a:srgbClr val="000000">
                <a:alpha val="12000"/>
              </a:srgbClr>
            </a:outerShdw>
          </a:effectLst>
        </p:spPr>
        <p:txBody>
          <a:bodyPr/>
          <a:lstStyle/>
          <a:p>
            <a:endParaRPr lang="en-US"/>
          </a:p>
        </p:txBody>
      </p:sp>
      <p:sp>
        <p:nvSpPr>
          <p:cNvPr id="10" name="Shape 7"/>
          <p:cNvSpPr/>
          <p:nvPr/>
        </p:nvSpPr>
        <p:spPr>
          <a:xfrm>
            <a:off x="5532120" y="2560320"/>
            <a:ext cx="1005840" cy="1005840"/>
          </a:xfrm>
          <a:prstGeom prst="ellipse">
            <a:avLst/>
          </a:prstGeom>
          <a:solidFill>
            <a:srgbClr val="1E2761"/>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813755" y="2841955"/>
            <a:ext cx="442570" cy="442570"/>
          </a:xfrm>
          <a:prstGeom prst="rect">
            <a:avLst/>
          </a:prstGeom>
        </p:spPr>
      </p:pic>
      <p:sp>
        <p:nvSpPr>
          <p:cNvPr id="12" name="Text 8"/>
          <p:cNvSpPr/>
          <p:nvPr/>
        </p:nvSpPr>
        <p:spPr>
          <a:xfrm>
            <a:off x="4572000" y="3749040"/>
            <a:ext cx="2926080" cy="457200"/>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Hiring Models</a:t>
            </a:r>
            <a:endParaRPr lang="en-US" sz="1700" dirty="0"/>
          </a:p>
        </p:txBody>
      </p:sp>
      <p:sp>
        <p:nvSpPr>
          <p:cNvPr id="13" name="Text 9"/>
          <p:cNvSpPr/>
          <p:nvPr/>
        </p:nvSpPr>
        <p:spPr>
          <a:xfrm>
            <a:off x="4663440" y="4251960"/>
            <a:ext cx="2743200" cy="1280160"/>
          </a:xfrm>
          <a:prstGeom prst="rect">
            <a:avLst/>
          </a:prstGeom>
          <a:noFill/>
          <a:ln/>
        </p:spPr>
        <p:txBody>
          <a:bodyPr wrap="square" rtlCol="0" anchor="t"/>
          <a:lstStyle/>
          <a:p>
            <a:pPr marL="0" indent="0" algn="ctr">
              <a:buNone/>
            </a:pPr>
            <a:r>
              <a:rPr lang="en-US" sz="1250" dirty="0">
                <a:solidFill>
                  <a:srgbClr val="5A6270"/>
                </a:solidFill>
                <a:latin typeface="Calibri" pitchFamily="34" charset="0"/>
                <a:ea typeface="Calibri" pitchFamily="34" charset="-122"/>
                <a:cs typeface="Calibri" pitchFamily="34" charset="-120"/>
              </a:rPr>
              <a:t>A resume-screening model favors one group over another with comparable qualifications.</a:t>
            </a:r>
            <a:endParaRPr lang="en-US" sz="1250" dirty="0"/>
          </a:p>
        </p:txBody>
      </p:sp>
      <p:sp>
        <p:nvSpPr>
          <p:cNvPr id="14" name="Shape 10"/>
          <p:cNvSpPr/>
          <p:nvPr/>
        </p:nvSpPr>
        <p:spPr>
          <a:xfrm>
            <a:off x="8046720" y="2148840"/>
            <a:ext cx="3383280" cy="3566160"/>
          </a:xfrm>
          <a:prstGeom prst="roundRect">
            <a:avLst>
              <a:gd name="adj" fmla="val 3243"/>
            </a:avLst>
          </a:prstGeom>
          <a:solidFill>
            <a:srgbClr val="F4F6FB"/>
          </a:solidFill>
          <a:ln/>
          <a:effectLst>
            <a:outerShdw blurRad="101600" dist="38100" dir="5400000" algn="bl" rotWithShape="0">
              <a:srgbClr val="000000">
                <a:alpha val="12000"/>
              </a:srgbClr>
            </a:outerShdw>
          </a:effectLst>
        </p:spPr>
        <p:txBody>
          <a:bodyPr/>
          <a:lstStyle/>
          <a:p>
            <a:endParaRPr lang="en-US"/>
          </a:p>
        </p:txBody>
      </p:sp>
      <p:sp>
        <p:nvSpPr>
          <p:cNvPr id="15" name="Shape 11"/>
          <p:cNvSpPr/>
          <p:nvPr/>
        </p:nvSpPr>
        <p:spPr>
          <a:xfrm>
            <a:off x="9235440" y="2560320"/>
            <a:ext cx="1005840" cy="1005840"/>
          </a:xfrm>
          <a:prstGeom prst="ellipse">
            <a:avLst/>
          </a:prstGeom>
          <a:solidFill>
            <a:srgbClr val="1E276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517075" y="2841955"/>
            <a:ext cx="442570" cy="442570"/>
          </a:xfrm>
          <a:prstGeom prst="rect">
            <a:avLst/>
          </a:prstGeom>
        </p:spPr>
      </p:pic>
      <p:sp>
        <p:nvSpPr>
          <p:cNvPr id="17" name="Text 12"/>
          <p:cNvSpPr/>
          <p:nvPr/>
        </p:nvSpPr>
        <p:spPr>
          <a:xfrm>
            <a:off x="8275320" y="3749040"/>
            <a:ext cx="2926080" cy="457200"/>
          </a:xfrm>
          <a:prstGeom prst="rect">
            <a:avLst/>
          </a:prstGeom>
          <a:noFill/>
          <a:ln/>
        </p:spPr>
        <p:txBody>
          <a:bodyPr wrap="square"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Insurance Pricing</a:t>
            </a:r>
            <a:endParaRPr lang="en-US" sz="1700" dirty="0"/>
          </a:p>
        </p:txBody>
      </p:sp>
      <p:sp>
        <p:nvSpPr>
          <p:cNvPr id="18" name="Text 13"/>
          <p:cNvSpPr/>
          <p:nvPr/>
        </p:nvSpPr>
        <p:spPr>
          <a:xfrm>
            <a:off x="8366760" y="4251960"/>
            <a:ext cx="2743200" cy="1280160"/>
          </a:xfrm>
          <a:prstGeom prst="rect">
            <a:avLst/>
          </a:prstGeom>
          <a:noFill/>
          <a:ln/>
        </p:spPr>
        <p:txBody>
          <a:bodyPr wrap="square" rtlCol="0" anchor="t"/>
          <a:lstStyle/>
          <a:p>
            <a:pPr marL="0" indent="0" algn="ctr">
              <a:buNone/>
            </a:pPr>
            <a:r>
              <a:rPr lang="en-US" sz="1250" dirty="0">
                <a:solidFill>
                  <a:srgbClr val="5A6270"/>
                </a:solidFill>
                <a:latin typeface="Calibri" pitchFamily="34" charset="0"/>
                <a:ea typeface="Calibri" pitchFamily="34" charset="-122"/>
                <a:cs typeface="Calibri" pitchFamily="34" charset="-120"/>
              </a:rPr>
              <a:t>Premiums or coverage decisions correlate with group membership rather than risk alone.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Is Algorithmic Bias?</a:t>
            </a:r>
            <a:endParaRPr lang="en-US" sz="3000" dirty="0"/>
          </a:p>
        </p:txBody>
      </p:sp>
      <p:sp>
        <p:nvSpPr>
          <p:cNvPr id="3" name="Text 1"/>
          <p:cNvSpPr/>
          <p:nvPr/>
        </p:nvSpPr>
        <p:spPr>
          <a:xfrm>
            <a:off x="640080" y="1371600"/>
            <a:ext cx="5212080" cy="2926080"/>
          </a:xfrm>
          <a:prstGeom prst="rect">
            <a:avLst/>
          </a:prstGeom>
          <a:noFill/>
          <a:ln/>
        </p:spPr>
        <p:txBody>
          <a:bodyPr wrap="square" rtlCol="0" anchor="t"/>
          <a:lstStyle/>
          <a:p>
            <a:pPr marL="0" indent="0">
              <a:lnSpc>
                <a:spcPct val="130000"/>
              </a:lnSpc>
              <a:buNone/>
            </a:pPr>
            <a:r>
              <a:rPr lang="en-US" sz="1550" dirty="0">
                <a:solidFill>
                  <a:srgbClr val="1B1B1F"/>
                </a:solidFill>
                <a:latin typeface="Calibri" pitchFamily="34" charset="0"/>
                <a:ea typeface="Calibri" pitchFamily="34" charset="-122"/>
                <a:cs typeface="Calibri" pitchFamily="34" charset="-120"/>
              </a:rPr>
              <a:t>A model makes systematically unfair predictions for certain groups because it learned biased patterns from training data not from any deliberate design choice.
</a:t>
            </a:r>
            <a:r>
              <a:rPr lang="en-US" sz="1550" dirty="0">
                <a:solidFill>
                  <a:srgbClr val="5A6270"/>
                </a:solidFill>
                <a:latin typeface="Calibri" pitchFamily="34" charset="0"/>
                <a:ea typeface="Calibri" pitchFamily="34" charset="-122"/>
                <a:cs typeface="Calibri" pitchFamily="34" charset="-120"/>
              </a:rPr>
              <a:t>In the Adult Census dataset, historically more men are recorded with income &gt;$50K than women. A classifier trained only to minimize error can absorb that base-rate gap as a shortcut.</a:t>
            </a:r>
            <a:endParaRPr lang="en-US" sz="1550" dirty="0"/>
          </a:p>
        </p:txBody>
      </p:sp>
      <p:sp>
        <p:nvSpPr>
          <p:cNvPr id="4" name="Shape 2"/>
          <p:cNvSpPr/>
          <p:nvPr/>
        </p:nvSpPr>
        <p:spPr>
          <a:xfrm>
            <a:off x="640080" y="4343400"/>
            <a:ext cx="5212080" cy="1691640"/>
          </a:xfrm>
          <a:prstGeom prst="roundRect">
            <a:avLst>
              <a:gd name="adj" fmla="val 5405"/>
            </a:avLst>
          </a:prstGeom>
          <a:solidFill>
            <a:srgbClr val="FBF1E1"/>
          </a:solidFill>
          <a:ln/>
        </p:spPr>
        <p:txBody>
          <a:bodyPr/>
          <a:lstStyle/>
          <a:p>
            <a:endParaRPr lang="en-US"/>
          </a:p>
        </p:txBody>
      </p:sp>
      <p:sp>
        <p:nvSpPr>
          <p:cNvPr id="5" name="Text 3"/>
          <p:cNvSpPr/>
          <p:nvPr/>
        </p:nvSpPr>
        <p:spPr>
          <a:xfrm>
            <a:off x="914400" y="4526280"/>
            <a:ext cx="4709160" cy="1371600"/>
          </a:xfrm>
          <a:prstGeom prst="rect">
            <a:avLst/>
          </a:prstGeom>
          <a:noFill/>
          <a:ln/>
        </p:spPr>
        <p:txBody>
          <a:bodyPr wrap="square" rtlCol="0" anchor="ctr"/>
          <a:lstStyle/>
          <a:p>
            <a:pPr marL="0" indent="0">
              <a:buNone/>
            </a:pPr>
            <a:r>
              <a:rPr lang="en-US" sz="1350" i="1" dirty="0">
                <a:solidFill>
                  <a:srgbClr val="6B4A18"/>
                </a:solidFill>
                <a:latin typeface="Calibri" pitchFamily="34" charset="0"/>
                <a:ea typeface="Calibri" pitchFamily="34" charset="-122"/>
                <a:cs typeface="Calibri" pitchFamily="34" charset="-120"/>
              </a:rPr>
              <a:t>“A hiring model prefers men over women even when qualifications are similar.”</a:t>
            </a:r>
            <a:endParaRPr lang="en-US" sz="1350" dirty="0"/>
          </a:p>
        </p:txBody>
      </p:sp>
      <p:sp>
        <p:nvSpPr>
          <p:cNvPr id="6" name="Text 4"/>
          <p:cNvSpPr/>
          <p:nvPr/>
        </p:nvSpPr>
        <p:spPr>
          <a:xfrm>
            <a:off x="6263640" y="1371600"/>
            <a:ext cx="5303520" cy="457200"/>
          </a:xfrm>
          <a:prstGeom prst="rect">
            <a:avLst/>
          </a:prstGeom>
          <a:noFill/>
          <a:ln/>
        </p:spPr>
        <p:txBody>
          <a:bodyPr wrap="square" rtlCol="0" anchor="ctr"/>
          <a:lstStyle/>
          <a:p>
            <a:pPr marL="0" indent="0">
              <a:buNone/>
            </a:pPr>
            <a:r>
              <a:rPr lang="en-US" sz="1250" dirty="0">
                <a:solidFill>
                  <a:srgbClr val="5A6270"/>
                </a:solidFill>
                <a:latin typeface="Calibri" pitchFamily="34" charset="0"/>
                <a:ea typeface="Calibri" pitchFamily="34" charset="-122"/>
                <a:cs typeface="Calibri" pitchFamily="34" charset="-120"/>
              </a:rPr>
              <a:t>Who the data says earns &gt;$50K, and who the model says does</a:t>
            </a:r>
            <a:endParaRPr lang="en-US" sz="1250" dirty="0"/>
          </a:p>
        </p:txBody>
      </p:sp>
      <p:graphicFrame>
        <p:nvGraphicFramePr>
          <p:cNvPr id="7" name="Chart 0"/>
          <p:cNvGraphicFramePr/>
          <p:nvPr/>
        </p:nvGraphicFramePr>
        <p:xfrm>
          <a:off x="6263640" y="1874520"/>
          <a:ext cx="530352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6263640" y="4754880"/>
            <a:ext cx="5303520" cy="365760"/>
          </a:xfrm>
          <a:prstGeom prst="rect">
            <a:avLst/>
          </a:prstGeom>
          <a:noFill/>
          <a:ln/>
        </p:spPr>
        <p:txBody>
          <a:bodyPr wrap="square" rtlCol="0" anchor="ctr"/>
          <a:lstStyle/>
          <a:p>
            <a:pPr marL="0" indent="0">
              <a:buNone/>
            </a:pPr>
            <a:r>
              <a:rPr lang="en-US" sz="1050" i="1" dirty="0">
                <a:solidFill>
                  <a:srgbClr val="5A6270"/>
                </a:solidFill>
                <a:latin typeface="Calibri" pitchFamily="34" charset="0"/>
                <a:ea typeface="Calibri" pitchFamily="34" charset="-122"/>
                <a:cs typeface="Calibri" pitchFamily="34" charset="-120"/>
              </a:rPr>
              <a:t>Real figures — data base rates vs. the unmitigated logistic regression, seed 0. The model widens the gap it learned from: a 0.36 ratio in the data becomes 0.30 in its predictions.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Dataset</a:t>
            </a:r>
            <a:endParaRPr lang="en-US" sz="3000" dirty="0"/>
          </a:p>
        </p:txBody>
      </p:sp>
      <p:sp>
        <p:nvSpPr>
          <p:cNvPr id="3" name="Text 1"/>
          <p:cNvSpPr/>
          <p:nvPr/>
        </p:nvSpPr>
        <p:spPr>
          <a:xfrm>
            <a:off x="640080" y="1097280"/>
            <a:ext cx="10058400" cy="365760"/>
          </a:xfrm>
          <a:prstGeom prst="rect">
            <a:avLst/>
          </a:prstGeom>
          <a:noFill/>
          <a:ln/>
        </p:spPr>
        <p:txBody>
          <a:bodyPr wrap="square" rtlCol="0" anchor="ctr"/>
          <a:lstStyle/>
          <a:p>
            <a:pPr marL="0" indent="0">
              <a:buNone/>
            </a:pPr>
            <a:r>
              <a:rPr lang="en-US" sz="1400" dirty="0">
                <a:solidFill>
                  <a:srgbClr val="5A6270"/>
                </a:solidFill>
                <a:latin typeface="Calibri" pitchFamily="34" charset="0"/>
                <a:ea typeface="Calibri" pitchFamily="34" charset="-122"/>
                <a:cs typeface="Calibri" pitchFamily="34" charset="-120"/>
              </a:rPr>
              <a:t>UCI Adult Census Income — archive.ics.uci.edu/dataset/2/adult</a:t>
            </a:r>
            <a:endParaRPr lang="en-US" sz="1400" dirty="0"/>
          </a:p>
        </p:txBody>
      </p:sp>
      <p:sp>
        <p:nvSpPr>
          <p:cNvPr id="4" name="Shape 2"/>
          <p:cNvSpPr/>
          <p:nvPr/>
        </p:nvSpPr>
        <p:spPr>
          <a:xfrm>
            <a:off x="640080" y="1965960"/>
            <a:ext cx="3291840" cy="1737360"/>
          </a:xfrm>
          <a:prstGeom prst="roundRect">
            <a:avLst>
              <a:gd name="adj" fmla="val 5263"/>
            </a:avLst>
          </a:prstGeom>
          <a:solidFill>
            <a:srgbClr val="1E2761"/>
          </a:solidFill>
          <a:ln/>
        </p:spPr>
        <p:txBody>
          <a:bodyPr/>
          <a:lstStyle/>
          <a:p>
            <a:endParaRPr lang="en-US"/>
          </a:p>
        </p:txBody>
      </p:sp>
      <p:sp>
        <p:nvSpPr>
          <p:cNvPr id="5" name="Text 3"/>
          <p:cNvSpPr/>
          <p:nvPr/>
        </p:nvSpPr>
        <p:spPr>
          <a:xfrm>
            <a:off x="640080" y="2130552"/>
            <a:ext cx="3291840" cy="685800"/>
          </a:xfrm>
          <a:prstGeom prst="rect">
            <a:avLst/>
          </a:prstGeom>
          <a:noFill/>
          <a:ln/>
        </p:spPr>
        <p:txBody>
          <a:bodyPr wrap="square" rtlCol="0" anchor="ctr"/>
          <a:lstStyle/>
          <a:p>
            <a:pPr marL="0" indent="0" algn="ctr">
              <a:buNone/>
            </a:pPr>
            <a:r>
              <a:rPr lang="en-US" sz="3000" b="1" dirty="0">
                <a:solidFill>
                  <a:srgbClr val="E8A33D"/>
                </a:solidFill>
                <a:latin typeface="Cambria" pitchFamily="34" charset="0"/>
                <a:ea typeface="Cambria" pitchFamily="34" charset="-122"/>
                <a:cs typeface="Cambria" pitchFamily="34" charset="-120"/>
              </a:rPr>
              <a:t>Binary</a:t>
            </a:r>
            <a:endParaRPr lang="en-US" sz="3000" dirty="0"/>
          </a:p>
        </p:txBody>
      </p:sp>
      <p:sp>
        <p:nvSpPr>
          <p:cNvPr id="6" name="Text 4"/>
          <p:cNvSpPr/>
          <p:nvPr/>
        </p:nvSpPr>
        <p:spPr>
          <a:xfrm>
            <a:off x="822960" y="2834640"/>
            <a:ext cx="2926080" cy="777240"/>
          </a:xfrm>
          <a:prstGeom prst="rect">
            <a:avLst/>
          </a:prstGeom>
          <a:noFill/>
          <a:ln/>
        </p:spPr>
        <p:txBody>
          <a:bodyPr wrap="square" rtlCol="0" anchor="ctr"/>
          <a:lstStyle/>
          <a:p>
            <a:pPr marL="0" indent="0" algn="ctr">
              <a:lnSpc>
                <a:spcPct val="110000"/>
              </a:lnSpc>
              <a:buNone/>
            </a:pPr>
            <a:r>
              <a:rPr lang="en-US" sz="1150" dirty="0">
                <a:solidFill>
                  <a:srgbClr val="CADCFC"/>
                </a:solidFill>
                <a:latin typeface="Calibri" pitchFamily="34" charset="0"/>
                <a:ea typeface="Calibri" pitchFamily="34" charset="-122"/>
                <a:cs typeface="Calibri" pitchFamily="34" charset="-120"/>
              </a:rPr>
              <a:t>Classification task</a:t>
            </a:r>
            <a:endParaRPr lang="en-US" sz="1150" dirty="0"/>
          </a:p>
          <a:p>
            <a:pPr marL="0" indent="0" algn="ctr">
              <a:lnSpc>
                <a:spcPct val="110000"/>
              </a:lnSpc>
              <a:buNone/>
            </a:pPr>
            <a:r>
              <a:rPr lang="en-US" sz="1150" dirty="0">
                <a:solidFill>
                  <a:srgbClr val="CADCFC"/>
                </a:solidFill>
                <a:latin typeface="Calibri" pitchFamily="34" charset="0"/>
                <a:ea typeface="Calibri" pitchFamily="34" charset="-122"/>
                <a:cs typeface="Calibri" pitchFamily="34" charset="-120"/>
              </a:rPr>
              <a:t>Income &gt;$50K vs ≤$50K</a:t>
            </a:r>
            <a:endParaRPr lang="en-US" sz="1150" dirty="0"/>
          </a:p>
        </p:txBody>
      </p:sp>
      <p:sp>
        <p:nvSpPr>
          <p:cNvPr id="7" name="Shape 5"/>
          <p:cNvSpPr/>
          <p:nvPr/>
        </p:nvSpPr>
        <p:spPr>
          <a:xfrm>
            <a:off x="4297680" y="1965960"/>
            <a:ext cx="3291840" cy="1737360"/>
          </a:xfrm>
          <a:prstGeom prst="roundRect">
            <a:avLst>
              <a:gd name="adj" fmla="val 5263"/>
            </a:avLst>
          </a:prstGeom>
          <a:solidFill>
            <a:srgbClr val="1E2761"/>
          </a:solidFill>
          <a:ln/>
        </p:spPr>
        <p:txBody>
          <a:bodyPr/>
          <a:lstStyle/>
          <a:p>
            <a:endParaRPr lang="en-US"/>
          </a:p>
        </p:txBody>
      </p:sp>
      <p:sp>
        <p:nvSpPr>
          <p:cNvPr id="8" name="Text 6"/>
          <p:cNvSpPr/>
          <p:nvPr/>
        </p:nvSpPr>
        <p:spPr>
          <a:xfrm>
            <a:off x="4297680" y="2130552"/>
            <a:ext cx="3291840" cy="685800"/>
          </a:xfrm>
          <a:prstGeom prst="rect">
            <a:avLst/>
          </a:prstGeom>
          <a:noFill/>
          <a:ln/>
        </p:spPr>
        <p:txBody>
          <a:bodyPr wrap="square" rtlCol="0" anchor="ctr"/>
          <a:lstStyle/>
          <a:p>
            <a:pPr marL="0" indent="0" algn="ctr">
              <a:buNone/>
            </a:pPr>
            <a:r>
              <a:rPr lang="en-US" sz="3000" b="1" dirty="0">
                <a:solidFill>
                  <a:srgbClr val="E8A33D"/>
                </a:solidFill>
                <a:latin typeface="Cambria" pitchFamily="34" charset="0"/>
                <a:ea typeface="Cambria" pitchFamily="34" charset="-122"/>
                <a:cs typeface="Cambria" pitchFamily="34" charset="-120"/>
              </a:rPr>
              <a:t>Sex</a:t>
            </a:r>
            <a:endParaRPr lang="en-US" sz="3000" dirty="0"/>
          </a:p>
        </p:txBody>
      </p:sp>
      <p:sp>
        <p:nvSpPr>
          <p:cNvPr id="9" name="Text 7"/>
          <p:cNvSpPr/>
          <p:nvPr/>
        </p:nvSpPr>
        <p:spPr>
          <a:xfrm>
            <a:off x="4480560" y="2834640"/>
            <a:ext cx="2926080" cy="777240"/>
          </a:xfrm>
          <a:prstGeom prst="rect">
            <a:avLst/>
          </a:prstGeom>
          <a:noFill/>
          <a:ln/>
        </p:spPr>
        <p:txBody>
          <a:bodyPr wrap="square" rtlCol="0" anchor="ctr"/>
          <a:lstStyle/>
          <a:p>
            <a:pPr marL="0" indent="0" algn="ctr">
              <a:lnSpc>
                <a:spcPct val="110000"/>
              </a:lnSpc>
              <a:buNone/>
            </a:pPr>
            <a:r>
              <a:rPr lang="en-US" sz="1150" dirty="0">
                <a:solidFill>
                  <a:srgbClr val="CADCFC"/>
                </a:solidFill>
                <a:latin typeface="Calibri" pitchFamily="34" charset="0"/>
                <a:ea typeface="Calibri" pitchFamily="34" charset="-122"/>
                <a:cs typeface="Calibri" pitchFamily="34" charset="-120"/>
              </a:rPr>
              <a:t>Protected attribute</a:t>
            </a:r>
            <a:endParaRPr lang="en-US" sz="1150" dirty="0"/>
          </a:p>
          <a:p>
            <a:pPr marL="0" indent="0" algn="ctr">
              <a:lnSpc>
                <a:spcPct val="110000"/>
              </a:lnSpc>
              <a:buNone/>
            </a:pPr>
            <a:r>
              <a:rPr lang="en-US" sz="1150" dirty="0">
                <a:solidFill>
                  <a:srgbClr val="CADCFC"/>
                </a:solidFill>
                <a:latin typeface="Calibri" pitchFamily="34" charset="0"/>
                <a:ea typeface="Calibri" pitchFamily="34" charset="-122"/>
                <a:cs typeface="Calibri" pitchFamily="34" charset="-120"/>
              </a:rPr>
              <a:t>Male / Female</a:t>
            </a:r>
            <a:endParaRPr lang="en-US" sz="1150" dirty="0"/>
          </a:p>
        </p:txBody>
      </p:sp>
      <p:sp>
        <p:nvSpPr>
          <p:cNvPr id="10" name="Shape 8"/>
          <p:cNvSpPr/>
          <p:nvPr/>
        </p:nvSpPr>
        <p:spPr>
          <a:xfrm>
            <a:off x="7955280" y="1965960"/>
            <a:ext cx="3291840" cy="1737360"/>
          </a:xfrm>
          <a:prstGeom prst="roundRect">
            <a:avLst>
              <a:gd name="adj" fmla="val 5263"/>
            </a:avLst>
          </a:prstGeom>
          <a:solidFill>
            <a:srgbClr val="1E2761"/>
          </a:solidFill>
          <a:ln/>
        </p:spPr>
        <p:txBody>
          <a:bodyPr/>
          <a:lstStyle/>
          <a:p>
            <a:endParaRPr lang="en-US"/>
          </a:p>
        </p:txBody>
      </p:sp>
      <p:sp>
        <p:nvSpPr>
          <p:cNvPr id="11" name="Text 9"/>
          <p:cNvSpPr/>
          <p:nvPr/>
        </p:nvSpPr>
        <p:spPr>
          <a:xfrm>
            <a:off x="7955280" y="2130552"/>
            <a:ext cx="3291840" cy="685800"/>
          </a:xfrm>
          <a:prstGeom prst="rect">
            <a:avLst/>
          </a:prstGeom>
          <a:noFill/>
          <a:ln/>
        </p:spPr>
        <p:txBody>
          <a:bodyPr wrap="square" rtlCol="0" anchor="ctr"/>
          <a:lstStyle/>
          <a:p>
            <a:pPr marL="0" indent="0" algn="ctr">
              <a:buNone/>
            </a:pPr>
            <a:r>
              <a:rPr lang="en-US" sz="3000" b="1" dirty="0">
                <a:solidFill>
                  <a:srgbClr val="E8A33D"/>
                </a:solidFill>
                <a:latin typeface="Cambria" pitchFamily="34" charset="0"/>
                <a:ea typeface="Cambria" pitchFamily="34" charset="-122"/>
                <a:cs typeface="Cambria" pitchFamily="34" charset="-120"/>
              </a:rPr>
              <a:t>48K+</a:t>
            </a:r>
            <a:endParaRPr lang="en-US" sz="3000" dirty="0"/>
          </a:p>
        </p:txBody>
      </p:sp>
      <p:sp>
        <p:nvSpPr>
          <p:cNvPr id="12" name="Text 10"/>
          <p:cNvSpPr/>
          <p:nvPr/>
        </p:nvSpPr>
        <p:spPr>
          <a:xfrm>
            <a:off x="8138160" y="2834640"/>
            <a:ext cx="2926080" cy="777240"/>
          </a:xfrm>
          <a:prstGeom prst="rect">
            <a:avLst/>
          </a:prstGeom>
          <a:noFill/>
          <a:ln/>
        </p:spPr>
        <p:txBody>
          <a:bodyPr wrap="square" rtlCol="0" anchor="ctr"/>
          <a:lstStyle/>
          <a:p>
            <a:pPr marL="0" indent="0" algn="ctr">
              <a:lnSpc>
                <a:spcPct val="110000"/>
              </a:lnSpc>
              <a:buNone/>
            </a:pPr>
            <a:r>
              <a:rPr lang="en-US" sz="1150" dirty="0">
                <a:solidFill>
                  <a:srgbClr val="CADCFC"/>
                </a:solidFill>
                <a:latin typeface="Calibri" pitchFamily="34" charset="0"/>
                <a:ea typeface="Calibri" pitchFamily="34" charset="-122"/>
                <a:cs typeface="Calibri" pitchFamily="34" charset="-120"/>
              </a:rPr>
              <a:t>Records in the</a:t>
            </a:r>
            <a:endParaRPr lang="en-US" sz="1150" dirty="0"/>
          </a:p>
          <a:p>
            <a:pPr marL="0" indent="0" algn="ctr">
              <a:lnSpc>
                <a:spcPct val="110000"/>
              </a:lnSpc>
              <a:buNone/>
            </a:pPr>
            <a:r>
              <a:rPr lang="en-US" sz="1150" dirty="0">
                <a:solidFill>
                  <a:srgbClr val="CADCFC"/>
                </a:solidFill>
                <a:latin typeface="Calibri" pitchFamily="34" charset="0"/>
                <a:ea typeface="Calibri" pitchFamily="34" charset="-122"/>
                <a:cs typeface="Calibri" pitchFamily="34" charset="-120"/>
              </a:rPr>
              <a:t>full dataset</a:t>
            </a:r>
            <a:endParaRPr lang="en-US" sz="1150" dirty="0"/>
          </a:p>
        </p:txBody>
      </p:sp>
      <p:sp>
        <p:nvSpPr>
          <p:cNvPr id="13" name="Text 11"/>
          <p:cNvSpPr/>
          <p:nvPr/>
        </p:nvSpPr>
        <p:spPr>
          <a:xfrm>
            <a:off x="640080" y="4069080"/>
            <a:ext cx="73152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Baseline pipeline scaffold</a:t>
            </a:r>
            <a:endParaRPr lang="en-US" sz="1500" dirty="0"/>
          </a:p>
        </p:txBody>
      </p:sp>
      <p:sp>
        <p:nvSpPr>
          <p:cNvPr id="14" name="Shape 12"/>
          <p:cNvSpPr/>
          <p:nvPr/>
        </p:nvSpPr>
        <p:spPr>
          <a:xfrm>
            <a:off x="640080" y="4572000"/>
            <a:ext cx="2084832" cy="777240"/>
          </a:xfrm>
          <a:prstGeom prst="roundRect">
            <a:avLst>
              <a:gd name="adj" fmla="val 9412"/>
            </a:avLst>
          </a:prstGeom>
          <a:solidFill>
            <a:srgbClr val="F4F6FB"/>
          </a:solidFill>
          <a:ln w="12700">
            <a:solidFill>
              <a:srgbClr val="CADCFC"/>
            </a:solidFill>
            <a:prstDash val="solid"/>
          </a:ln>
        </p:spPr>
        <p:txBody>
          <a:bodyPr/>
          <a:lstStyle/>
          <a:p>
            <a:endParaRPr lang="en-US"/>
          </a:p>
        </p:txBody>
      </p:sp>
      <p:sp>
        <p:nvSpPr>
          <p:cNvPr id="15" name="Text 13"/>
          <p:cNvSpPr/>
          <p:nvPr/>
        </p:nvSpPr>
        <p:spPr>
          <a:xfrm>
            <a:off x="731520" y="4626864"/>
            <a:ext cx="457200" cy="320040"/>
          </a:xfrm>
          <a:prstGeom prst="rect">
            <a:avLst/>
          </a:prstGeom>
          <a:noFill/>
          <a:ln/>
        </p:spPr>
        <p:txBody>
          <a:bodyPr wrap="square" rtlCol="0" anchor="ctr"/>
          <a:lstStyle/>
          <a:p>
            <a:pPr marL="0" indent="0">
              <a:buNone/>
            </a:pPr>
            <a:r>
              <a:rPr lang="en-US" sz="1300" b="1" dirty="0">
                <a:solidFill>
                  <a:srgbClr val="E8A33D"/>
                </a:solidFill>
                <a:latin typeface="Cambria" pitchFamily="34" charset="0"/>
                <a:ea typeface="Cambria" pitchFamily="34" charset="-122"/>
                <a:cs typeface="Cambria" pitchFamily="34" charset="-120"/>
              </a:rPr>
              <a:t>1</a:t>
            </a:r>
            <a:endParaRPr lang="en-US" sz="1300" dirty="0"/>
          </a:p>
        </p:txBody>
      </p:sp>
      <p:sp>
        <p:nvSpPr>
          <p:cNvPr id="16" name="Text 14"/>
          <p:cNvSpPr/>
          <p:nvPr/>
        </p:nvSpPr>
        <p:spPr>
          <a:xfrm>
            <a:off x="731520" y="4892040"/>
            <a:ext cx="1901952" cy="411480"/>
          </a:xfrm>
          <a:prstGeom prst="rect">
            <a:avLst/>
          </a:prstGeom>
          <a:noFill/>
          <a:ln/>
        </p:spPr>
        <p:txBody>
          <a:bodyPr wrap="square" rtlCol="0" anchor="t"/>
          <a:lstStyle/>
          <a:p>
            <a:pPr marL="0" indent="0">
              <a:buNone/>
            </a:pPr>
            <a:r>
              <a:rPr lang="en-US" sz="1050" dirty="0">
                <a:solidFill>
                  <a:srgbClr val="1B1B1F"/>
                </a:solidFill>
                <a:latin typeface="Calibri" pitchFamily="34" charset="0"/>
                <a:ea typeface="Calibri" pitchFamily="34" charset="-122"/>
                <a:cs typeface="Calibri" pitchFamily="34" charset="-120"/>
              </a:rPr>
              <a:t>Load &amp; clean</a:t>
            </a:r>
            <a:endParaRPr lang="en-US" sz="1050" dirty="0"/>
          </a:p>
        </p:txBody>
      </p:sp>
      <p:sp>
        <p:nvSpPr>
          <p:cNvPr id="17" name="Text 15"/>
          <p:cNvSpPr/>
          <p:nvPr/>
        </p:nvSpPr>
        <p:spPr>
          <a:xfrm>
            <a:off x="2724912" y="4572000"/>
            <a:ext cx="155448" cy="777240"/>
          </a:xfrm>
          <a:prstGeom prst="rect">
            <a:avLst/>
          </a:prstGeom>
          <a:noFill/>
          <a:ln/>
        </p:spPr>
        <p:txBody>
          <a:bodyPr wrap="square" rtlCol="0" anchor="ctr"/>
          <a:lstStyle/>
          <a:p>
            <a:pPr marL="0" indent="0" algn="ctr">
              <a:buNone/>
            </a:pPr>
            <a:r>
              <a:rPr lang="en-US" sz="1400" dirty="0">
                <a:solidFill>
                  <a:srgbClr val="5A6270"/>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2834640" y="4572000"/>
            <a:ext cx="2084832" cy="777240"/>
          </a:xfrm>
          <a:prstGeom prst="roundRect">
            <a:avLst>
              <a:gd name="adj" fmla="val 9412"/>
            </a:avLst>
          </a:prstGeom>
          <a:solidFill>
            <a:srgbClr val="F4F6FB"/>
          </a:solidFill>
          <a:ln w="12700">
            <a:solidFill>
              <a:srgbClr val="CADCFC"/>
            </a:solidFill>
            <a:prstDash val="solid"/>
          </a:ln>
        </p:spPr>
        <p:txBody>
          <a:bodyPr/>
          <a:lstStyle/>
          <a:p>
            <a:endParaRPr lang="en-US"/>
          </a:p>
        </p:txBody>
      </p:sp>
      <p:sp>
        <p:nvSpPr>
          <p:cNvPr id="19" name="Text 17"/>
          <p:cNvSpPr/>
          <p:nvPr/>
        </p:nvSpPr>
        <p:spPr>
          <a:xfrm>
            <a:off x="2926080" y="4626864"/>
            <a:ext cx="457200" cy="320040"/>
          </a:xfrm>
          <a:prstGeom prst="rect">
            <a:avLst/>
          </a:prstGeom>
          <a:noFill/>
          <a:ln/>
        </p:spPr>
        <p:txBody>
          <a:bodyPr wrap="square" rtlCol="0" anchor="ctr"/>
          <a:lstStyle/>
          <a:p>
            <a:pPr marL="0" indent="0">
              <a:buNone/>
            </a:pPr>
            <a:r>
              <a:rPr lang="en-US" sz="1300" b="1" dirty="0">
                <a:solidFill>
                  <a:srgbClr val="E8A33D"/>
                </a:solidFill>
                <a:latin typeface="Cambria" pitchFamily="34" charset="0"/>
                <a:ea typeface="Cambria" pitchFamily="34" charset="-122"/>
                <a:cs typeface="Cambria" pitchFamily="34" charset="-120"/>
              </a:rPr>
              <a:t>2</a:t>
            </a:r>
            <a:endParaRPr lang="en-US" sz="1300" dirty="0"/>
          </a:p>
        </p:txBody>
      </p:sp>
      <p:sp>
        <p:nvSpPr>
          <p:cNvPr id="20" name="Text 18"/>
          <p:cNvSpPr/>
          <p:nvPr/>
        </p:nvSpPr>
        <p:spPr>
          <a:xfrm>
            <a:off x="2926080" y="4892040"/>
            <a:ext cx="1901952" cy="411480"/>
          </a:xfrm>
          <a:prstGeom prst="rect">
            <a:avLst/>
          </a:prstGeom>
          <a:noFill/>
          <a:ln/>
        </p:spPr>
        <p:txBody>
          <a:bodyPr wrap="square" rtlCol="0" anchor="t"/>
          <a:lstStyle/>
          <a:p>
            <a:pPr marL="0" indent="0">
              <a:buNone/>
            </a:pPr>
            <a:r>
              <a:rPr lang="en-US" sz="1050" dirty="0">
                <a:solidFill>
                  <a:srgbClr val="1B1B1F"/>
                </a:solidFill>
                <a:latin typeface="Calibri" pitchFamily="34" charset="0"/>
                <a:ea typeface="Calibri" pitchFamily="34" charset="-122"/>
                <a:cs typeface="Calibri" pitchFamily="34" charset="-120"/>
              </a:rPr>
              <a:t>Encode categoricals</a:t>
            </a:r>
            <a:endParaRPr lang="en-US" sz="1050" dirty="0"/>
          </a:p>
        </p:txBody>
      </p:sp>
      <p:sp>
        <p:nvSpPr>
          <p:cNvPr id="21" name="Text 19"/>
          <p:cNvSpPr/>
          <p:nvPr/>
        </p:nvSpPr>
        <p:spPr>
          <a:xfrm>
            <a:off x="4919472" y="4572000"/>
            <a:ext cx="155448" cy="777240"/>
          </a:xfrm>
          <a:prstGeom prst="rect">
            <a:avLst/>
          </a:prstGeom>
          <a:noFill/>
          <a:ln/>
        </p:spPr>
        <p:txBody>
          <a:bodyPr wrap="square" rtlCol="0" anchor="ctr"/>
          <a:lstStyle/>
          <a:p>
            <a:pPr marL="0" indent="0" algn="ctr">
              <a:buNone/>
            </a:pPr>
            <a:r>
              <a:rPr lang="en-US" sz="1400" dirty="0">
                <a:solidFill>
                  <a:srgbClr val="5A6270"/>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029200" y="4572000"/>
            <a:ext cx="2084832" cy="777240"/>
          </a:xfrm>
          <a:prstGeom prst="roundRect">
            <a:avLst>
              <a:gd name="adj" fmla="val 9412"/>
            </a:avLst>
          </a:prstGeom>
          <a:solidFill>
            <a:srgbClr val="F4F6FB"/>
          </a:solidFill>
          <a:ln w="12700">
            <a:solidFill>
              <a:srgbClr val="CADCFC"/>
            </a:solidFill>
            <a:prstDash val="solid"/>
          </a:ln>
        </p:spPr>
        <p:txBody>
          <a:bodyPr/>
          <a:lstStyle/>
          <a:p>
            <a:endParaRPr lang="en-US"/>
          </a:p>
        </p:txBody>
      </p:sp>
      <p:sp>
        <p:nvSpPr>
          <p:cNvPr id="23" name="Text 21"/>
          <p:cNvSpPr/>
          <p:nvPr/>
        </p:nvSpPr>
        <p:spPr>
          <a:xfrm>
            <a:off x="5120640" y="4626864"/>
            <a:ext cx="457200" cy="320040"/>
          </a:xfrm>
          <a:prstGeom prst="rect">
            <a:avLst/>
          </a:prstGeom>
          <a:noFill/>
          <a:ln/>
        </p:spPr>
        <p:txBody>
          <a:bodyPr wrap="square" rtlCol="0" anchor="ctr"/>
          <a:lstStyle/>
          <a:p>
            <a:pPr marL="0" indent="0">
              <a:buNone/>
            </a:pPr>
            <a:r>
              <a:rPr lang="en-US" sz="1300" b="1" dirty="0">
                <a:solidFill>
                  <a:srgbClr val="E8A33D"/>
                </a:solidFill>
                <a:latin typeface="Cambria" pitchFamily="34" charset="0"/>
                <a:ea typeface="Cambria" pitchFamily="34" charset="-122"/>
                <a:cs typeface="Cambria" pitchFamily="34" charset="-120"/>
              </a:rPr>
              <a:t>3</a:t>
            </a:r>
            <a:endParaRPr lang="en-US" sz="1300" dirty="0"/>
          </a:p>
        </p:txBody>
      </p:sp>
      <p:sp>
        <p:nvSpPr>
          <p:cNvPr id="24" name="Text 22"/>
          <p:cNvSpPr/>
          <p:nvPr/>
        </p:nvSpPr>
        <p:spPr>
          <a:xfrm>
            <a:off x="5120640" y="4892040"/>
            <a:ext cx="1901952" cy="411480"/>
          </a:xfrm>
          <a:prstGeom prst="rect">
            <a:avLst/>
          </a:prstGeom>
          <a:noFill/>
          <a:ln/>
        </p:spPr>
        <p:txBody>
          <a:bodyPr wrap="square" rtlCol="0" anchor="t"/>
          <a:lstStyle/>
          <a:p>
            <a:pPr marL="0" indent="0">
              <a:buNone/>
            </a:pPr>
            <a:r>
              <a:rPr lang="en-US" sz="1050" dirty="0">
                <a:solidFill>
                  <a:srgbClr val="1B1B1F"/>
                </a:solidFill>
                <a:latin typeface="Calibri" pitchFamily="34" charset="0"/>
                <a:ea typeface="Calibri" pitchFamily="34" charset="-122"/>
                <a:cs typeface="Calibri" pitchFamily="34" charset="-120"/>
              </a:rPr>
              <a:t>Train / test split</a:t>
            </a:r>
            <a:endParaRPr lang="en-US" sz="1050" dirty="0"/>
          </a:p>
        </p:txBody>
      </p:sp>
      <p:sp>
        <p:nvSpPr>
          <p:cNvPr id="25" name="Text 23"/>
          <p:cNvSpPr/>
          <p:nvPr/>
        </p:nvSpPr>
        <p:spPr>
          <a:xfrm>
            <a:off x="7114032" y="4572000"/>
            <a:ext cx="155448" cy="777240"/>
          </a:xfrm>
          <a:prstGeom prst="rect">
            <a:avLst/>
          </a:prstGeom>
          <a:noFill/>
          <a:ln/>
        </p:spPr>
        <p:txBody>
          <a:bodyPr wrap="square" rtlCol="0" anchor="ctr"/>
          <a:lstStyle/>
          <a:p>
            <a:pPr marL="0" indent="0" algn="ctr">
              <a:buNone/>
            </a:pPr>
            <a:r>
              <a:rPr lang="en-US" sz="1400" dirty="0">
                <a:solidFill>
                  <a:srgbClr val="5A6270"/>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7223760" y="4572000"/>
            <a:ext cx="2084832" cy="777240"/>
          </a:xfrm>
          <a:prstGeom prst="roundRect">
            <a:avLst>
              <a:gd name="adj" fmla="val 9412"/>
            </a:avLst>
          </a:prstGeom>
          <a:solidFill>
            <a:srgbClr val="F4F6FB"/>
          </a:solidFill>
          <a:ln w="12700">
            <a:solidFill>
              <a:srgbClr val="CADCFC"/>
            </a:solidFill>
            <a:prstDash val="solid"/>
          </a:ln>
        </p:spPr>
        <p:txBody>
          <a:bodyPr/>
          <a:lstStyle/>
          <a:p>
            <a:endParaRPr lang="en-US"/>
          </a:p>
        </p:txBody>
      </p:sp>
      <p:sp>
        <p:nvSpPr>
          <p:cNvPr id="27" name="Text 25"/>
          <p:cNvSpPr/>
          <p:nvPr/>
        </p:nvSpPr>
        <p:spPr>
          <a:xfrm>
            <a:off x="7315200" y="4626864"/>
            <a:ext cx="457200" cy="320040"/>
          </a:xfrm>
          <a:prstGeom prst="rect">
            <a:avLst/>
          </a:prstGeom>
          <a:noFill/>
          <a:ln/>
        </p:spPr>
        <p:txBody>
          <a:bodyPr wrap="square" rtlCol="0" anchor="ctr"/>
          <a:lstStyle/>
          <a:p>
            <a:pPr marL="0" indent="0">
              <a:buNone/>
            </a:pPr>
            <a:r>
              <a:rPr lang="en-US" sz="1300" b="1" dirty="0">
                <a:solidFill>
                  <a:srgbClr val="E8A33D"/>
                </a:solidFill>
                <a:latin typeface="Cambria" pitchFamily="34" charset="0"/>
                <a:ea typeface="Cambria" pitchFamily="34" charset="-122"/>
                <a:cs typeface="Cambria" pitchFamily="34" charset="-120"/>
              </a:rPr>
              <a:t>4</a:t>
            </a:r>
            <a:endParaRPr lang="en-US" sz="1300" dirty="0"/>
          </a:p>
        </p:txBody>
      </p:sp>
      <p:sp>
        <p:nvSpPr>
          <p:cNvPr id="28" name="Text 26"/>
          <p:cNvSpPr/>
          <p:nvPr/>
        </p:nvSpPr>
        <p:spPr>
          <a:xfrm>
            <a:off x="7315200" y="4892040"/>
            <a:ext cx="1901952" cy="411480"/>
          </a:xfrm>
          <a:prstGeom prst="rect">
            <a:avLst/>
          </a:prstGeom>
          <a:noFill/>
          <a:ln/>
        </p:spPr>
        <p:txBody>
          <a:bodyPr wrap="square" rtlCol="0" anchor="t"/>
          <a:lstStyle/>
          <a:p>
            <a:pPr marL="0" indent="0">
              <a:buNone/>
            </a:pPr>
            <a:r>
              <a:rPr lang="en-US" sz="1050" dirty="0">
                <a:solidFill>
                  <a:srgbClr val="1B1B1F"/>
                </a:solidFill>
                <a:latin typeface="Calibri" pitchFamily="34" charset="0"/>
                <a:ea typeface="Calibri" pitchFamily="34" charset="-122"/>
                <a:cs typeface="Calibri" pitchFamily="34" charset="-120"/>
              </a:rPr>
              <a:t>Train Decision Tree</a:t>
            </a:r>
            <a:endParaRPr lang="en-US" sz="1050" dirty="0"/>
          </a:p>
        </p:txBody>
      </p:sp>
      <p:sp>
        <p:nvSpPr>
          <p:cNvPr id="29" name="Text 27"/>
          <p:cNvSpPr/>
          <p:nvPr/>
        </p:nvSpPr>
        <p:spPr>
          <a:xfrm>
            <a:off x="9308592" y="4572000"/>
            <a:ext cx="155448" cy="777240"/>
          </a:xfrm>
          <a:prstGeom prst="rect">
            <a:avLst/>
          </a:prstGeom>
          <a:noFill/>
          <a:ln/>
        </p:spPr>
        <p:txBody>
          <a:bodyPr wrap="square" rtlCol="0" anchor="ctr"/>
          <a:lstStyle/>
          <a:p>
            <a:pPr marL="0" indent="0" algn="ctr">
              <a:buNone/>
            </a:pPr>
            <a:r>
              <a:rPr lang="en-US" sz="1400" dirty="0">
                <a:solidFill>
                  <a:srgbClr val="5A6270"/>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9418320" y="4572000"/>
            <a:ext cx="2084832" cy="777240"/>
          </a:xfrm>
          <a:prstGeom prst="roundRect">
            <a:avLst>
              <a:gd name="adj" fmla="val 9412"/>
            </a:avLst>
          </a:prstGeom>
          <a:solidFill>
            <a:srgbClr val="F4F6FB"/>
          </a:solidFill>
          <a:ln w="12700">
            <a:solidFill>
              <a:srgbClr val="CADCFC"/>
            </a:solidFill>
            <a:prstDash val="solid"/>
          </a:ln>
        </p:spPr>
        <p:txBody>
          <a:bodyPr/>
          <a:lstStyle/>
          <a:p>
            <a:endParaRPr lang="en-US"/>
          </a:p>
        </p:txBody>
      </p:sp>
      <p:sp>
        <p:nvSpPr>
          <p:cNvPr id="31" name="Text 29"/>
          <p:cNvSpPr/>
          <p:nvPr/>
        </p:nvSpPr>
        <p:spPr>
          <a:xfrm>
            <a:off x="9509760" y="4626864"/>
            <a:ext cx="457200" cy="320040"/>
          </a:xfrm>
          <a:prstGeom prst="rect">
            <a:avLst/>
          </a:prstGeom>
          <a:noFill/>
          <a:ln/>
        </p:spPr>
        <p:txBody>
          <a:bodyPr wrap="square" rtlCol="0" anchor="ctr"/>
          <a:lstStyle/>
          <a:p>
            <a:pPr marL="0" indent="0">
              <a:buNone/>
            </a:pPr>
            <a:r>
              <a:rPr lang="en-US" sz="1300" b="1" dirty="0">
                <a:solidFill>
                  <a:srgbClr val="E8A33D"/>
                </a:solidFill>
                <a:latin typeface="Cambria" pitchFamily="34" charset="0"/>
                <a:ea typeface="Cambria" pitchFamily="34" charset="-122"/>
                <a:cs typeface="Cambria" pitchFamily="34" charset="-120"/>
              </a:rPr>
              <a:t>5</a:t>
            </a:r>
            <a:endParaRPr lang="en-US" sz="1300" dirty="0"/>
          </a:p>
        </p:txBody>
      </p:sp>
      <p:sp>
        <p:nvSpPr>
          <p:cNvPr id="32" name="Text 30"/>
          <p:cNvSpPr/>
          <p:nvPr/>
        </p:nvSpPr>
        <p:spPr>
          <a:xfrm>
            <a:off x="9509760" y="4892040"/>
            <a:ext cx="1901952" cy="411480"/>
          </a:xfrm>
          <a:prstGeom prst="rect">
            <a:avLst/>
          </a:prstGeom>
          <a:noFill/>
          <a:ln/>
        </p:spPr>
        <p:txBody>
          <a:bodyPr wrap="square" rtlCol="0" anchor="t"/>
          <a:lstStyle/>
          <a:p>
            <a:pPr marL="0" indent="0">
              <a:buNone/>
            </a:pPr>
            <a:r>
              <a:rPr lang="en-US" sz="1050" dirty="0">
                <a:solidFill>
                  <a:srgbClr val="1B1B1F"/>
                </a:solidFill>
                <a:latin typeface="Calibri" pitchFamily="34" charset="0"/>
                <a:ea typeface="Calibri" pitchFamily="34" charset="-122"/>
                <a:cs typeface="Calibri" pitchFamily="34" charset="-120"/>
              </a:rPr>
              <a:t>Predict &amp; evaluate</a:t>
            </a:r>
            <a:endParaRPr lang="en-US" sz="1050" dirty="0"/>
          </a:p>
        </p:txBody>
      </p:sp>
      <p:sp>
        <p:nvSpPr>
          <p:cNvPr id="33" name="Text 31"/>
          <p:cNvSpPr/>
          <p:nvPr/>
        </p:nvSpPr>
        <p:spPr>
          <a:xfrm>
            <a:off x="640080" y="5532120"/>
            <a:ext cx="10515600" cy="457200"/>
          </a:xfrm>
          <a:prstGeom prst="rect">
            <a:avLst/>
          </a:prstGeom>
          <a:noFill/>
          <a:ln/>
        </p:spPr>
        <p:txBody>
          <a:bodyPr wrap="square" rtlCol="0" anchor="ctr"/>
          <a:lstStyle/>
          <a:p>
            <a:pPr marL="0" indent="0">
              <a:buNone/>
            </a:pPr>
            <a:r>
              <a:rPr lang="en-US" sz="1100" i="1" dirty="0">
                <a:solidFill>
                  <a:srgbClr val="5A6270"/>
                </a:solidFill>
                <a:latin typeface="Calibri" pitchFamily="34" charset="0"/>
                <a:ea typeface="Calibri" pitchFamily="34" charset="-122"/>
                <a:cs typeface="Calibri" pitchFamily="34" charset="-120"/>
              </a:rPr>
              <a:t>Scaffold adapted from the “Adult Census Income Project” (JcFreya, GitHub) — the fairness layer is what this project adds on top.</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Problem Formulation — the Baseline</a:t>
            </a:r>
            <a:endParaRPr lang="en-US" sz="2800" dirty="0"/>
          </a:p>
        </p:txBody>
      </p:sp>
      <p:sp>
        <p:nvSpPr>
          <p:cNvPr id="3" name="Shape 1"/>
          <p:cNvSpPr/>
          <p:nvPr/>
        </p:nvSpPr>
        <p:spPr>
          <a:xfrm>
            <a:off x="640080" y="1417320"/>
            <a:ext cx="10881360" cy="1188720"/>
          </a:xfrm>
          <a:prstGeom prst="roundRect">
            <a:avLst>
              <a:gd name="adj" fmla="val 6154"/>
            </a:avLst>
          </a:prstGeom>
          <a:solidFill>
            <a:srgbClr val="141A4D"/>
          </a:solidFill>
          <a:ln/>
        </p:spPr>
        <p:txBody>
          <a:bodyPr/>
          <a:lstStyle/>
          <a:p>
            <a:endParaRPr lang="en-US"/>
          </a:p>
        </p:txBody>
      </p:sp>
      <p:sp>
        <p:nvSpPr>
          <p:cNvPr id="4" name="Text 2"/>
          <p:cNvSpPr/>
          <p:nvPr/>
        </p:nvSpPr>
        <p:spPr>
          <a:xfrm>
            <a:off x="914400" y="1600200"/>
            <a:ext cx="10332720" cy="822960"/>
          </a:xfrm>
          <a:prstGeom prst="rect">
            <a:avLst/>
          </a:prstGeom>
          <a:noFill/>
          <a:ln/>
        </p:spPr>
        <p:txBody>
          <a:bodyPr wrap="square" rtlCol="0" anchor="ctr"/>
          <a:lstStyle/>
          <a:p>
            <a:pPr marL="0" indent="0">
              <a:buNone/>
            </a:pPr>
            <a:r>
              <a:rPr lang="en-US" sz="2200" dirty="0">
                <a:solidFill>
                  <a:srgbClr val="E8A33D"/>
                </a:solidFill>
                <a:latin typeface="Courier New" pitchFamily="34" charset="0"/>
                <a:ea typeface="Courier New" pitchFamily="34" charset="-122"/>
                <a:cs typeface="Courier New" pitchFamily="34" charset="-120"/>
              </a:rPr>
              <a:t>minₕ  E₍ₓ,ᵧ₎~D [ 𝟙{h(x) ≠ y} ]</a:t>
            </a:r>
            <a:endParaRPr lang="en-US" sz="2200" dirty="0"/>
          </a:p>
        </p:txBody>
      </p:sp>
      <p:sp>
        <p:nvSpPr>
          <p:cNvPr id="5" name="Text 3"/>
          <p:cNvSpPr/>
          <p:nvPr/>
        </p:nvSpPr>
        <p:spPr>
          <a:xfrm>
            <a:off x="640080" y="2880360"/>
            <a:ext cx="10881360" cy="2011680"/>
          </a:xfrm>
          <a:prstGeom prst="rect">
            <a:avLst/>
          </a:prstGeom>
          <a:noFill/>
          <a:ln/>
        </p:spPr>
        <p:txBody>
          <a:bodyPr wrap="square" rtlCol="0" anchor="t"/>
          <a:lstStyle/>
          <a:p>
            <a:pPr marL="0" indent="0">
              <a:lnSpc>
                <a:spcPct val="135000"/>
              </a:lnSpc>
              <a:buNone/>
            </a:pPr>
            <a:r>
              <a:rPr lang="en-US" sz="1500" b="1" dirty="0">
                <a:solidFill>
                  <a:srgbClr val="FFFFFF"/>
                </a:solidFill>
                <a:latin typeface="Calibri" pitchFamily="34" charset="0"/>
                <a:ea typeface="Calibri" pitchFamily="34" charset="-122"/>
                <a:cs typeface="Calibri" pitchFamily="34" charset="-120"/>
              </a:rPr>
              <a:t>D = { (xᵢ, aᵢ, yᵢ) }  — x = features, a ∈ {0,1} = protected attribute (Sex), y ∈ {0,1} = income label
This objective never references a, and in this project a is removed from the feature matrix entirely — no model here can read Sex. But because P(y=1 | a=Male) ≫ P(y=1 | a=Female) in the data, the model reconstructs the gap from proxies: relationship (whose levels are Husband and Wife), marital-status, occupation. Removing the attribute does not remove the information.</a:t>
            </a:r>
            <a:endParaRPr lang="en-US" sz="1500" dirty="0"/>
          </a:p>
        </p:txBody>
      </p:sp>
      <p:sp>
        <p:nvSpPr>
          <p:cNvPr id="6" name="Shape 4"/>
          <p:cNvSpPr/>
          <p:nvPr/>
        </p:nvSpPr>
        <p:spPr>
          <a:xfrm>
            <a:off x="640080" y="5074920"/>
            <a:ext cx="10881360" cy="1051560"/>
          </a:xfrm>
          <a:prstGeom prst="roundRect">
            <a:avLst>
              <a:gd name="adj" fmla="val 6957"/>
            </a:avLst>
          </a:prstGeom>
          <a:solidFill>
            <a:srgbClr val="26307A"/>
          </a:solidFill>
          <a:ln/>
        </p:spPr>
        <p:txBody>
          <a:bodyPr/>
          <a:lstStyle/>
          <a:p>
            <a:endParaRPr lang="en-US"/>
          </a:p>
        </p:txBody>
      </p:sp>
      <p:sp>
        <p:nvSpPr>
          <p:cNvPr id="7" name="Text 5"/>
          <p:cNvSpPr/>
          <p:nvPr/>
        </p:nvSpPr>
        <p:spPr>
          <a:xfrm>
            <a:off x="914400" y="5074920"/>
            <a:ext cx="10332720" cy="1051560"/>
          </a:xfrm>
          <a:prstGeom prst="rect">
            <a:avLst/>
          </a:prstGeom>
          <a:noFill/>
          <a:ln/>
        </p:spPr>
        <p:txBody>
          <a:bodyPr wrap="square"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Nothing malicious in the algorithm, it is plain empirical risk minimization on data with unequal base rates across groups. That gap is the entire source of the bias.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Measuring Bias: Fairness Metrics</a:t>
            </a:r>
            <a:endParaRPr lang="en-US" sz="3000" dirty="0"/>
          </a:p>
        </p:txBody>
      </p:sp>
      <p:sp>
        <p:nvSpPr>
          <p:cNvPr id="3" name="Text 1"/>
          <p:cNvSpPr/>
          <p:nvPr/>
        </p:nvSpPr>
        <p:spPr>
          <a:xfrm>
            <a:off x="640080" y="1097280"/>
            <a:ext cx="10515600" cy="365760"/>
          </a:xfrm>
          <a:prstGeom prst="rect">
            <a:avLst/>
          </a:prstGeom>
          <a:noFill/>
          <a:ln/>
        </p:spPr>
        <p:txBody>
          <a:bodyPr wrap="square" rtlCol="0" anchor="ctr"/>
          <a:lstStyle/>
          <a:p>
            <a:pPr marL="0" indent="0">
              <a:buNone/>
            </a:pPr>
            <a:r>
              <a:rPr lang="en-US" sz="1400" dirty="0">
                <a:solidFill>
                  <a:srgbClr val="5A6270"/>
                </a:solidFill>
                <a:latin typeface="Calibri" pitchFamily="34" charset="0"/>
                <a:ea typeface="Calibri" pitchFamily="34" charset="-122"/>
                <a:cs typeface="Calibri" pitchFamily="34" charset="-120"/>
              </a:rPr>
              <a:t>φ(h) quantifies how much predictions depend on the protected attribute a.</a:t>
            </a:r>
            <a:endParaRPr lang="en-US" sz="1400" dirty="0"/>
          </a:p>
        </p:txBody>
      </p:sp>
      <p:sp>
        <p:nvSpPr>
          <p:cNvPr id="4" name="Shape 2"/>
          <p:cNvSpPr/>
          <p:nvPr/>
        </p:nvSpPr>
        <p:spPr>
          <a:xfrm>
            <a:off x="640080" y="1874520"/>
            <a:ext cx="3429000" cy="4160520"/>
          </a:xfrm>
          <a:prstGeom prst="roundRect">
            <a:avLst>
              <a:gd name="adj" fmla="val 2667"/>
            </a:avLst>
          </a:prstGeom>
          <a:solidFill>
            <a:srgbClr val="F4F6FB"/>
          </a:solidFill>
          <a:ln/>
          <a:effectLst>
            <a:outerShdw blurRad="88900" dist="25400" dir="5400000" algn="bl" rotWithShape="0">
              <a:srgbClr val="000000">
                <a:alpha val="10000"/>
              </a:srgbClr>
            </a:outerShdw>
          </a:effectLst>
        </p:spPr>
        <p:txBody>
          <a:bodyPr/>
          <a:lstStyle/>
          <a:p>
            <a:endParaRPr lang="en-US"/>
          </a:p>
        </p:txBody>
      </p:sp>
      <p:sp>
        <p:nvSpPr>
          <p:cNvPr id="5" name="Shape 3"/>
          <p:cNvSpPr/>
          <p:nvPr/>
        </p:nvSpPr>
        <p:spPr>
          <a:xfrm>
            <a:off x="914400" y="2148840"/>
            <a:ext cx="457200" cy="54864"/>
          </a:xfrm>
          <a:prstGeom prst="rect">
            <a:avLst/>
          </a:prstGeom>
          <a:solidFill>
            <a:srgbClr val="E8A33D"/>
          </a:solidFill>
          <a:ln/>
        </p:spPr>
        <p:txBody>
          <a:bodyPr/>
          <a:lstStyle/>
          <a:p>
            <a:endParaRPr lang="en-US"/>
          </a:p>
        </p:txBody>
      </p:sp>
      <p:sp>
        <p:nvSpPr>
          <p:cNvPr id="6" name="Text 4"/>
          <p:cNvSpPr/>
          <p:nvPr/>
        </p:nvSpPr>
        <p:spPr>
          <a:xfrm>
            <a:off x="914400" y="2286000"/>
            <a:ext cx="2880360" cy="868680"/>
          </a:xfrm>
          <a:prstGeom prst="rect">
            <a:avLst/>
          </a:prstGeom>
          <a:noFill/>
          <a:ln/>
        </p:spPr>
        <p:txBody>
          <a:bodyPr wrap="square"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Demographic Parity</a:t>
            </a:r>
            <a:endParaRPr lang="en-US" sz="1600" dirty="0"/>
          </a:p>
          <a:p>
            <a:pPr marL="0" indent="0">
              <a:buNone/>
            </a:pPr>
            <a:r>
              <a:rPr lang="en-US" sz="1600" b="1" dirty="0">
                <a:solidFill>
                  <a:srgbClr val="1E2761"/>
                </a:solidFill>
                <a:latin typeface="Cambria" pitchFamily="34" charset="0"/>
                <a:ea typeface="Cambria" pitchFamily="34" charset="-122"/>
                <a:cs typeface="Cambria" pitchFamily="34" charset="-120"/>
              </a:rPr>
              <a:t>Difference</a:t>
            </a:r>
            <a:endParaRPr lang="en-US" sz="1600" dirty="0"/>
          </a:p>
        </p:txBody>
      </p:sp>
      <p:sp>
        <p:nvSpPr>
          <p:cNvPr id="7" name="Shape 5"/>
          <p:cNvSpPr/>
          <p:nvPr/>
        </p:nvSpPr>
        <p:spPr>
          <a:xfrm>
            <a:off x="914400" y="3246120"/>
            <a:ext cx="2880360" cy="1051560"/>
          </a:xfrm>
          <a:prstGeom prst="roundRect">
            <a:avLst>
              <a:gd name="adj" fmla="val 5217"/>
            </a:avLst>
          </a:prstGeom>
          <a:solidFill>
            <a:srgbClr val="1E2761"/>
          </a:solidFill>
          <a:ln/>
        </p:spPr>
        <p:txBody>
          <a:bodyPr/>
          <a:lstStyle/>
          <a:p>
            <a:endParaRPr lang="en-US"/>
          </a:p>
        </p:txBody>
      </p:sp>
      <p:sp>
        <p:nvSpPr>
          <p:cNvPr id="8" name="Text 6"/>
          <p:cNvSpPr/>
          <p:nvPr/>
        </p:nvSpPr>
        <p:spPr>
          <a:xfrm>
            <a:off x="1024128" y="3246120"/>
            <a:ext cx="2660904" cy="1051560"/>
          </a:xfrm>
          <a:prstGeom prst="rect">
            <a:avLst/>
          </a:prstGeom>
          <a:noFill/>
          <a:ln/>
        </p:spPr>
        <p:txBody>
          <a:bodyPr wrap="square" rtlCol="0" anchor="ctr"/>
          <a:lstStyle/>
          <a:p>
            <a:pPr marL="0" indent="0">
              <a:buNone/>
            </a:pPr>
            <a:r>
              <a:rPr lang="en-US" sz="1200" dirty="0">
                <a:solidFill>
                  <a:srgbClr val="E8A33D"/>
                </a:solidFill>
                <a:latin typeface="Courier New" pitchFamily="34" charset="0"/>
                <a:ea typeface="Courier New" pitchFamily="34" charset="-122"/>
                <a:cs typeface="Courier New" pitchFamily="34" charset="-120"/>
              </a:rPr>
              <a:t>| P(h(x)=1|a=1) −</a:t>
            </a:r>
            <a:endParaRPr lang="en-US" sz="1200" dirty="0"/>
          </a:p>
          <a:p>
            <a:pPr marL="0" indent="0">
              <a:buNone/>
            </a:pPr>
            <a:r>
              <a:rPr lang="en-US" sz="1200" dirty="0">
                <a:solidFill>
                  <a:srgbClr val="E8A33D"/>
                </a:solidFill>
                <a:latin typeface="Courier New" pitchFamily="34" charset="0"/>
                <a:ea typeface="Courier New" pitchFamily="34" charset="-122"/>
                <a:cs typeface="Courier New" pitchFamily="34" charset="-120"/>
              </a:rPr>
              <a:t>P(h(x)=1|a=0) |</a:t>
            </a:r>
            <a:endParaRPr lang="en-US" sz="1200" dirty="0"/>
          </a:p>
        </p:txBody>
      </p:sp>
      <p:sp>
        <p:nvSpPr>
          <p:cNvPr id="9" name="Text 7"/>
          <p:cNvSpPr/>
          <p:nvPr/>
        </p:nvSpPr>
        <p:spPr>
          <a:xfrm>
            <a:off x="914400" y="4480560"/>
            <a:ext cx="2880360" cy="1371600"/>
          </a:xfrm>
          <a:prstGeom prst="rect">
            <a:avLst/>
          </a:prstGeom>
          <a:noFill/>
          <a:ln/>
        </p:spPr>
        <p:txBody>
          <a:bodyPr wrap="square" rtlCol="0" anchor="t"/>
          <a:lstStyle/>
          <a:p>
            <a:pPr marL="0" indent="0">
              <a:buNone/>
            </a:pPr>
            <a:r>
              <a:rPr lang="en-US" sz="1200" dirty="0">
                <a:solidFill>
                  <a:srgbClr val="5A6270"/>
                </a:solidFill>
                <a:latin typeface="Calibri" pitchFamily="34" charset="0"/>
                <a:ea typeface="Calibri" pitchFamily="34" charset="-122"/>
                <a:cs typeface="Calibri" pitchFamily="34" charset="-120"/>
              </a:rPr>
              <a:t>Gap in positive-prediction rate between groups.</a:t>
            </a:r>
            <a:endParaRPr lang="en-US" sz="1200" dirty="0"/>
          </a:p>
        </p:txBody>
      </p:sp>
      <p:sp>
        <p:nvSpPr>
          <p:cNvPr id="10" name="Shape 8"/>
          <p:cNvSpPr/>
          <p:nvPr/>
        </p:nvSpPr>
        <p:spPr>
          <a:xfrm>
            <a:off x="4361688" y="1874520"/>
            <a:ext cx="3429000" cy="4160520"/>
          </a:xfrm>
          <a:prstGeom prst="roundRect">
            <a:avLst>
              <a:gd name="adj" fmla="val 2667"/>
            </a:avLst>
          </a:prstGeom>
          <a:solidFill>
            <a:srgbClr val="F4F6FB"/>
          </a:solidFill>
          <a:ln/>
          <a:effectLst>
            <a:outerShdw blurRad="88900" dist="25400" dir="5400000" algn="bl" rotWithShape="0">
              <a:srgbClr val="000000">
                <a:alpha val="10000"/>
              </a:srgbClr>
            </a:outerShdw>
          </a:effectLst>
        </p:spPr>
        <p:txBody>
          <a:bodyPr/>
          <a:lstStyle/>
          <a:p>
            <a:endParaRPr lang="en-US"/>
          </a:p>
        </p:txBody>
      </p:sp>
      <p:sp>
        <p:nvSpPr>
          <p:cNvPr id="11" name="Shape 9"/>
          <p:cNvSpPr/>
          <p:nvPr/>
        </p:nvSpPr>
        <p:spPr>
          <a:xfrm>
            <a:off x="4636008" y="2148840"/>
            <a:ext cx="457200" cy="54864"/>
          </a:xfrm>
          <a:prstGeom prst="rect">
            <a:avLst/>
          </a:prstGeom>
          <a:solidFill>
            <a:srgbClr val="E8A33D"/>
          </a:solidFill>
          <a:ln/>
        </p:spPr>
        <p:txBody>
          <a:bodyPr/>
          <a:lstStyle/>
          <a:p>
            <a:endParaRPr lang="en-US"/>
          </a:p>
        </p:txBody>
      </p:sp>
      <p:sp>
        <p:nvSpPr>
          <p:cNvPr id="12" name="Text 10"/>
          <p:cNvSpPr/>
          <p:nvPr/>
        </p:nvSpPr>
        <p:spPr>
          <a:xfrm>
            <a:off x="4636008" y="2286000"/>
            <a:ext cx="2880360" cy="868680"/>
          </a:xfrm>
          <a:prstGeom prst="rect">
            <a:avLst/>
          </a:prstGeom>
          <a:noFill/>
          <a:ln/>
        </p:spPr>
        <p:txBody>
          <a:bodyPr wrap="square"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Equalized Odds</a:t>
            </a:r>
            <a:endParaRPr lang="en-US" sz="1600" dirty="0"/>
          </a:p>
          <a:p>
            <a:pPr marL="0" indent="0">
              <a:buNone/>
            </a:pPr>
            <a:r>
              <a:rPr lang="en-US" sz="1600" b="1" dirty="0">
                <a:solidFill>
                  <a:srgbClr val="1E2761"/>
                </a:solidFill>
                <a:latin typeface="Cambria" pitchFamily="34" charset="0"/>
                <a:ea typeface="Cambria" pitchFamily="34" charset="-122"/>
                <a:cs typeface="Cambria" pitchFamily="34" charset="-120"/>
              </a:rPr>
              <a:t>Difference</a:t>
            </a:r>
            <a:endParaRPr lang="en-US" sz="1600" dirty="0"/>
          </a:p>
        </p:txBody>
      </p:sp>
      <p:sp>
        <p:nvSpPr>
          <p:cNvPr id="13" name="Shape 11"/>
          <p:cNvSpPr/>
          <p:nvPr/>
        </p:nvSpPr>
        <p:spPr>
          <a:xfrm>
            <a:off x="4636008" y="3246120"/>
            <a:ext cx="2880360" cy="1051560"/>
          </a:xfrm>
          <a:prstGeom prst="roundRect">
            <a:avLst>
              <a:gd name="adj" fmla="val 5217"/>
            </a:avLst>
          </a:prstGeom>
          <a:solidFill>
            <a:srgbClr val="1E2761"/>
          </a:solidFill>
          <a:ln/>
        </p:spPr>
        <p:txBody>
          <a:bodyPr/>
          <a:lstStyle/>
          <a:p>
            <a:endParaRPr lang="en-US"/>
          </a:p>
        </p:txBody>
      </p:sp>
      <p:sp>
        <p:nvSpPr>
          <p:cNvPr id="14" name="Text 12"/>
          <p:cNvSpPr/>
          <p:nvPr/>
        </p:nvSpPr>
        <p:spPr>
          <a:xfrm>
            <a:off x="4745736" y="3246120"/>
            <a:ext cx="2660904" cy="1051560"/>
          </a:xfrm>
          <a:prstGeom prst="rect">
            <a:avLst/>
          </a:prstGeom>
          <a:noFill/>
          <a:ln/>
        </p:spPr>
        <p:txBody>
          <a:bodyPr wrap="square" rtlCol="0" anchor="ctr"/>
          <a:lstStyle/>
          <a:p>
            <a:pPr marL="0" indent="0">
              <a:buNone/>
            </a:pPr>
            <a:r>
              <a:rPr lang="en-US" sz="1200" dirty="0">
                <a:solidFill>
                  <a:srgbClr val="E8A33D"/>
                </a:solidFill>
                <a:latin typeface="Courier New" pitchFamily="34" charset="0"/>
                <a:ea typeface="Courier New" pitchFamily="34" charset="-122"/>
                <a:cs typeface="Courier New" pitchFamily="34" charset="-120"/>
              </a:rPr>
              <a:t>max gap in TPR</a:t>
            </a:r>
            <a:endParaRPr lang="en-US" sz="1200" dirty="0"/>
          </a:p>
          <a:p>
            <a:pPr marL="0" indent="0">
              <a:buNone/>
            </a:pPr>
            <a:r>
              <a:rPr lang="en-US" sz="1200" dirty="0">
                <a:solidFill>
                  <a:srgbClr val="E8A33D"/>
                </a:solidFill>
                <a:latin typeface="Courier New" pitchFamily="34" charset="0"/>
                <a:ea typeface="Courier New" pitchFamily="34" charset="-122"/>
                <a:cs typeface="Courier New" pitchFamily="34" charset="-120"/>
              </a:rPr>
              <a:t>and FPR across groups</a:t>
            </a:r>
            <a:endParaRPr lang="en-US" sz="1200" dirty="0"/>
          </a:p>
        </p:txBody>
      </p:sp>
      <p:sp>
        <p:nvSpPr>
          <p:cNvPr id="15" name="Text 13"/>
          <p:cNvSpPr/>
          <p:nvPr/>
        </p:nvSpPr>
        <p:spPr>
          <a:xfrm>
            <a:off x="4636008" y="4480560"/>
            <a:ext cx="2880360" cy="1371600"/>
          </a:xfrm>
          <a:prstGeom prst="rect">
            <a:avLst/>
          </a:prstGeom>
          <a:noFill/>
          <a:ln/>
        </p:spPr>
        <p:txBody>
          <a:bodyPr wrap="square" rtlCol="0" anchor="t"/>
          <a:lstStyle/>
          <a:p>
            <a:pPr marL="0" indent="0">
              <a:buNone/>
            </a:pPr>
            <a:r>
              <a:rPr lang="en-US" sz="1200" dirty="0">
                <a:solidFill>
                  <a:srgbClr val="5A6270"/>
                </a:solidFill>
                <a:latin typeface="Calibri" pitchFamily="34" charset="0"/>
                <a:ea typeface="Calibri" pitchFamily="34" charset="-122"/>
                <a:cs typeface="Calibri" pitchFamily="34" charset="-120"/>
              </a:rPr>
              <a:t>Gap in true/false positive rates, conditioned on the real label.</a:t>
            </a:r>
            <a:endParaRPr lang="en-US" sz="1200" dirty="0"/>
          </a:p>
        </p:txBody>
      </p:sp>
      <p:sp>
        <p:nvSpPr>
          <p:cNvPr id="16" name="Shape 14"/>
          <p:cNvSpPr/>
          <p:nvPr/>
        </p:nvSpPr>
        <p:spPr>
          <a:xfrm>
            <a:off x="8083296" y="1874520"/>
            <a:ext cx="3429000" cy="4160520"/>
          </a:xfrm>
          <a:prstGeom prst="roundRect">
            <a:avLst>
              <a:gd name="adj" fmla="val 2667"/>
            </a:avLst>
          </a:prstGeom>
          <a:solidFill>
            <a:srgbClr val="F4F6FB"/>
          </a:solidFill>
          <a:ln/>
          <a:effectLst>
            <a:outerShdw blurRad="88900" dist="25400" dir="5400000" algn="bl" rotWithShape="0">
              <a:srgbClr val="000000">
                <a:alpha val="10000"/>
              </a:srgbClr>
            </a:outerShdw>
          </a:effectLst>
        </p:spPr>
        <p:txBody>
          <a:bodyPr/>
          <a:lstStyle/>
          <a:p>
            <a:endParaRPr lang="en-US"/>
          </a:p>
        </p:txBody>
      </p:sp>
      <p:sp>
        <p:nvSpPr>
          <p:cNvPr id="17" name="Shape 15"/>
          <p:cNvSpPr/>
          <p:nvPr/>
        </p:nvSpPr>
        <p:spPr>
          <a:xfrm>
            <a:off x="8357616" y="2148840"/>
            <a:ext cx="457200" cy="54864"/>
          </a:xfrm>
          <a:prstGeom prst="rect">
            <a:avLst/>
          </a:prstGeom>
          <a:solidFill>
            <a:srgbClr val="E8A33D"/>
          </a:solidFill>
          <a:ln/>
        </p:spPr>
        <p:txBody>
          <a:bodyPr/>
          <a:lstStyle/>
          <a:p>
            <a:endParaRPr lang="en-US"/>
          </a:p>
        </p:txBody>
      </p:sp>
      <p:sp>
        <p:nvSpPr>
          <p:cNvPr id="18" name="Text 16"/>
          <p:cNvSpPr/>
          <p:nvPr/>
        </p:nvSpPr>
        <p:spPr>
          <a:xfrm>
            <a:off x="8357616" y="2286000"/>
            <a:ext cx="2880360" cy="868680"/>
          </a:xfrm>
          <a:prstGeom prst="rect">
            <a:avLst/>
          </a:prstGeom>
          <a:noFill/>
          <a:ln/>
        </p:spPr>
        <p:txBody>
          <a:bodyPr wrap="square"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Disparate Impact</a:t>
            </a:r>
            <a:endParaRPr lang="en-US" sz="1600" dirty="0"/>
          </a:p>
          <a:p>
            <a:pPr marL="0" indent="0">
              <a:buNone/>
            </a:pPr>
            <a:r>
              <a:rPr lang="en-US" sz="1600" b="1" dirty="0">
                <a:solidFill>
                  <a:srgbClr val="1E2761"/>
                </a:solidFill>
                <a:latin typeface="Cambria" pitchFamily="34" charset="0"/>
                <a:ea typeface="Cambria" pitchFamily="34" charset="-122"/>
                <a:cs typeface="Cambria" pitchFamily="34" charset="-120"/>
              </a:rPr>
              <a:t>(ratio form)</a:t>
            </a:r>
            <a:endParaRPr lang="en-US" sz="1600" dirty="0"/>
          </a:p>
        </p:txBody>
      </p:sp>
      <p:sp>
        <p:nvSpPr>
          <p:cNvPr id="19" name="Shape 17"/>
          <p:cNvSpPr/>
          <p:nvPr/>
        </p:nvSpPr>
        <p:spPr>
          <a:xfrm>
            <a:off x="8357616" y="3246120"/>
            <a:ext cx="2880360" cy="1051560"/>
          </a:xfrm>
          <a:prstGeom prst="roundRect">
            <a:avLst>
              <a:gd name="adj" fmla="val 5217"/>
            </a:avLst>
          </a:prstGeom>
          <a:solidFill>
            <a:srgbClr val="1E2761"/>
          </a:solidFill>
          <a:ln/>
        </p:spPr>
        <p:txBody>
          <a:bodyPr/>
          <a:lstStyle/>
          <a:p>
            <a:endParaRPr lang="en-US"/>
          </a:p>
        </p:txBody>
      </p:sp>
      <p:sp>
        <p:nvSpPr>
          <p:cNvPr id="20" name="Text 18"/>
          <p:cNvSpPr/>
          <p:nvPr/>
        </p:nvSpPr>
        <p:spPr>
          <a:xfrm>
            <a:off x="8467344" y="3246120"/>
            <a:ext cx="2660904" cy="1051560"/>
          </a:xfrm>
          <a:prstGeom prst="rect">
            <a:avLst/>
          </a:prstGeom>
          <a:noFill/>
          <a:ln/>
        </p:spPr>
        <p:txBody>
          <a:bodyPr wrap="square" rtlCol="0" anchor="ctr"/>
          <a:lstStyle/>
          <a:p>
            <a:pPr marL="0" indent="0">
              <a:buNone/>
            </a:pPr>
            <a:r>
              <a:rPr lang="en-US" sz="1200" dirty="0">
                <a:solidFill>
                  <a:srgbClr val="E8A33D"/>
                </a:solidFill>
                <a:latin typeface="Courier New" pitchFamily="34" charset="0"/>
                <a:ea typeface="Courier New" pitchFamily="34" charset="-122"/>
                <a:cs typeface="Courier New" pitchFamily="34" charset="-120"/>
              </a:rPr>
              <a:t>P(h(x)=1|a=0) /</a:t>
            </a:r>
            <a:endParaRPr lang="en-US" sz="1200" dirty="0"/>
          </a:p>
          <a:p>
            <a:pPr marL="0" indent="0">
              <a:buNone/>
            </a:pPr>
            <a:r>
              <a:rPr lang="en-US" sz="1200" dirty="0">
                <a:solidFill>
                  <a:srgbClr val="E8A33D"/>
                </a:solidFill>
                <a:latin typeface="Courier New" pitchFamily="34" charset="0"/>
                <a:ea typeface="Courier New" pitchFamily="34" charset="-122"/>
                <a:cs typeface="Courier New" pitchFamily="34" charset="-120"/>
              </a:rPr>
              <a:t>P(h(x)=1|a=1)</a:t>
            </a:r>
            <a:endParaRPr lang="en-US" sz="1200" dirty="0"/>
          </a:p>
        </p:txBody>
      </p:sp>
      <p:sp>
        <p:nvSpPr>
          <p:cNvPr id="21" name="Text 19"/>
          <p:cNvSpPr/>
          <p:nvPr/>
        </p:nvSpPr>
        <p:spPr>
          <a:xfrm>
            <a:off x="8357616" y="4480560"/>
            <a:ext cx="2880360" cy="1371600"/>
          </a:xfrm>
          <a:prstGeom prst="rect">
            <a:avLst/>
          </a:prstGeom>
          <a:noFill/>
          <a:ln/>
        </p:spPr>
        <p:txBody>
          <a:bodyPr wrap="square" rtlCol="0" anchor="t"/>
          <a:lstStyle/>
          <a:p>
            <a:pPr marL="0" indent="0">
              <a:buNone/>
            </a:pPr>
            <a:r>
              <a:rPr lang="en-US" sz="1200" dirty="0">
                <a:solidFill>
                  <a:srgbClr val="5A6270"/>
                </a:solidFill>
                <a:latin typeface="Calibri" pitchFamily="34" charset="0"/>
                <a:ea typeface="Calibri" pitchFamily="34" charset="-122"/>
                <a:cs typeface="Calibri" pitchFamily="34" charset="-120"/>
              </a:rPr>
              <a:t>Ratio version of demographic parity; 1.0 is exact parity.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Reframing as Constrained Optimization</a:t>
            </a:r>
            <a:endParaRPr lang="en-US" sz="2800" dirty="0"/>
          </a:p>
        </p:txBody>
      </p:sp>
      <p:sp>
        <p:nvSpPr>
          <p:cNvPr id="3" name="Text 1"/>
          <p:cNvSpPr/>
          <p:nvPr/>
        </p:nvSpPr>
        <p:spPr>
          <a:xfrm>
            <a:off x="640080" y="1097280"/>
            <a:ext cx="10515600" cy="365760"/>
          </a:xfrm>
          <a:prstGeom prst="rect">
            <a:avLst/>
          </a:prstGeom>
          <a:noFill/>
          <a:ln/>
        </p:spPr>
        <p:txBody>
          <a:bodyPr wrap="square" rtlCol="0" anchor="ctr"/>
          <a:lstStyle/>
          <a:p>
            <a:pPr marL="0" indent="0">
              <a:buNone/>
            </a:pPr>
            <a:r>
              <a:rPr lang="en-US" sz="1400" dirty="0">
                <a:solidFill>
                  <a:srgbClr val="5A6270"/>
                </a:solidFill>
                <a:latin typeface="Calibri" pitchFamily="34" charset="0"/>
                <a:ea typeface="Calibri" pitchFamily="34" charset="-122"/>
                <a:cs typeface="Calibri" pitchFamily="34" charset="-120"/>
              </a:rPr>
              <a:t>This reframing is what makes the whole project purely algorithmic.</a:t>
            </a:r>
            <a:endParaRPr lang="en-US" sz="1400" dirty="0"/>
          </a:p>
        </p:txBody>
      </p:sp>
      <p:sp>
        <p:nvSpPr>
          <p:cNvPr id="4" name="Shape 2"/>
          <p:cNvSpPr/>
          <p:nvPr/>
        </p:nvSpPr>
        <p:spPr>
          <a:xfrm>
            <a:off x="1280160" y="1828800"/>
            <a:ext cx="9601200" cy="1371600"/>
          </a:xfrm>
          <a:prstGeom prst="roundRect">
            <a:avLst>
              <a:gd name="adj" fmla="val 6667"/>
            </a:avLst>
          </a:prstGeom>
          <a:solidFill>
            <a:srgbClr val="1E2761"/>
          </a:solidFill>
          <a:ln/>
        </p:spPr>
        <p:txBody>
          <a:bodyPr/>
          <a:lstStyle/>
          <a:p>
            <a:endParaRPr lang="en-US"/>
          </a:p>
        </p:txBody>
      </p:sp>
      <p:sp>
        <p:nvSpPr>
          <p:cNvPr id="5" name="Text 3"/>
          <p:cNvSpPr/>
          <p:nvPr/>
        </p:nvSpPr>
        <p:spPr>
          <a:xfrm>
            <a:off x="1554480" y="1828800"/>
            <a:ext cx="9052560" cy="1371600"/>
          </a:xfrm>
          <a:prstGeom prst="rect">
            <a:avLst/>
          </a:prstGeom>
          <a:noFill/>
          <a:ln/>
        </p:spPr>
        <p:txBody>
          <a:bodyPr wrap="square" rtlCol="0" anchor="ctr"/>
          <a:lstStyle/>
          <a:p>
            <a:pPr marL="0" indent="0" algn="ctr">
              <a:buNone/>
            </a:pPr>
            <a:r>
              <a:rPr lang="en-US" sz="2400" dirty="0">
                <a:solidFill>
                  <a:srgbClr val="E8A33D"/>
                </a:solidFill>
                <a:latin typeface="Courier New" pitchFamily="34" charset="0"/>
                <a:ea typeface="Courier New" pitchFamily="34" charset="-122"/>
                <a:cs typeface="Courier New" pitchFamily="34" charset="-120"/>
              </a:rPr>
              <a:t>minₕ  E[𝟙{h(x) ≠ y}]     subject to     φ(h) ≤ ε</a:t>
            </a:r>
            <a:endParaRPr lang="en-US" sz="2400" dirty="0"/>
          </a:p>
        </p:txBody>
      </p:sp>
      <p:sp>
        <p:nvSpPr>
          <p:cNvPr id="6" name="Shape 4"/>
          <p:cNvSpPr/>
          <p:nvPr/>
        </p:nvSpPr>
        <p:spPr>
          <a:xfrm>
            <a:off x="640080" y="3703320"/>
            <a:ext cx="822960" cy="822960"/>
          </a:xfrm>
          <a:prstGeom prst="ellipse">
            <a:avLst/>
          </a:prstGeom>
          <a:solidFill>
            <a:srgbClr val="1E276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70509" y="3933749"/>
            <a:ext cx="362102" cy="362102"/>
          </a:xfrm>
          <a:prstGeom prst="rect">
            <a:avLst/>
          </a:prstGeom>
        </p:spPr>
      </p:pic>
      <p:sp>
        <p:nvSpPr>
          <p:cNvPr id="8" name="Text 5"/>
          <p:cNvSpPr/>
          <p:nvPr/>
        </p:nvSpPr>
        <p:spPr>
          <a:xfrm>
            <a:off x="1645920" y="3657600"/>
            <a:ext cx="2377440" cy="45720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Data untouched</a:t>
            </a:r>
            <a:endParaRPr lang="en-US" sz="1450" dirty="0"/>
          </a:p>
        </p:txBody>
      </p:sp>
      <p:sp>
        <p:nvSpPr>
          <p:cNvPr id="9" name="Text 6"/>
          <p:cNvSpPr/>
          <p:nvPr/>
        </p:nvSpPr>
        <p:spPr>
          <a:xfrm>
            <a:off x="640080" y="4617720"/>
            <a:ext cx="3383280" cy="1463040"/>
          </a:xfrm>
          <a:prstGeom prst="rect">
            <a:avLst/>
          </a:prstGeom>
          <a:noFill/>
          <a:ln/>
        </p:spPr>
        <p:txBody>
          <a:bodyPr wrap="square" rtlCol="0" anchor="t"/>
          <a:lstStyle/>
          <a:p>
            <a:pPr marL="0" indent="0">
              <a:buNone/>
            </a:pPr>
            <a:r>
              <a:rPr lang="en-US" sz="1200" dirty="0">
                <a:solidFill>
                  <a:srgbClr val="5A6270"/>
                </a:solidFill>
                <a:latin typeface="Calibri" pitchFamily="34" charset="0"/>
                <a:ea typeface="Calibri" pitchFamily="34" charset="-122"/>
                <a:cs typeface="Calibri" pitchFamily="34" charset="-120"/>
              </a:rPr>
              <a:t>D is never edited, reweighted-in-place, or filtered. The training set stays exactly as collected.</a:t>
            </a:r>
            <a:endParaRPr lang="en-US" sz="1200" dirty="0"/>
          </a:p>
        </p:txBody>
      </p:sp>
      <p:sp>
        <p:nvSpPr>
          <p:cNvPr id="10" name="Shape 7"/>
          <p:cNvSpPr/>
          <p:nvPr/>
        </p:nvSpPr>
        <p:spPr>
          <a:xfrm>
            <a:off x="4343400" y="3703320"/>
            <a:ext cx="822960" cy="822960"/>
          </a:xfrm>
          <a:prstGeom prst="ellipse">
            <a:avLst/>
          </a:prstGeom>
          <a:solidFill>
            <a:srgbClr val="1E2761"/>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4573829" y="3933749"/>
            <a:ext cx="362102" cy="362102"/>
          </a:xfrm>
          <a:prstGeom prst="rect">
            <a:avLst/>
          </a:prstGeom>
        </p:spPr>
      </p:pic>
      <p:sp>
        <p:nvSpPr>
          <p:cNvPr id="12" name="Text 8"/>
          <p:cNvSpPr/>
          <p:nvPr/>
        </p:nvSpPr>
        <p:spPr>
          <a:xfrm>
            <a:off x="5349240" y="3657600"/>
            <a:ext cx="2377440" cy="45720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Objective changes</a:t>
            </a:r>
            <a:endParaRPr lang="en-US" sz="1450" dirty="0"/>
          </a:p>
        </p:txBody>
      </p:sp>
      <p:sp>
        <p:nvSpPr>
          <p:cNvPr id="13" name="Text 9"/>
          <p:cNvSpPr/>
          <p:nvPr/>
        </p:nvSpPr>
        <p:spPr>
          <a:xfrm>
            <a:off x="4343400" y="4617720"/>
            <a:ext cx="3383280" cy="1463040"/>
          </a:xfrm>
          <a:prstGeom prst="rect">
            <a:avLst/>
          </a:prstGeom>
          <a:noFill/>
          <a:ln/>
        </p:spPr>
        <p:txBody>
          <a:bodyPr wrap="square" rtlCol="0" anchor="t"/>
          <a:lstStyle/>
          <a:p>
            <a:pPr marL="0" indent="0">
              <a:buNone/>
            </a:pPr>
            <a:r>
              <a:rPr lang="en-US" sz="1200" dirty="0">
                <a:solidFill>
                  <a:srgbClr val="5A6270"/>
                </a:solidFill>
                <a:latin typeface="Calibri" pitchFamily="34" charset="0"/>
                <a:ea typeface="Calibri" pitchFamily="34" charset="-122"/>
                <a:cs typeface="Calibri" pitchFamily="34" charset="-120"/>
              </a:rPr>
              <a:t>A constraint region φ(h) ≤ ε is added; the search is now for the best classifier inside that region.</a:t>
            </a:r>
            <a:endParaRPr lang="en-US" sz="1200" dirty="0"/>
          </a:p>
        </p:txBody>
      </p:sp>
      <p:sp>
        <p:nvSpPr>
          <p:cNvPr id="14" name="Shape 10"/>
          <p:cNvSpPr/>
          <p:nvPr/>
        </p:nvSpPr>
        <p:spPr>
          <a:xfrm>
            <a:off x="8046720" y="3703320"/>
            <a:ext cx="822960" cy="822960"/>
          </a:xfrm>
          <a:prstGeom prst="ellipse">
            <a:avLst/>
          </a:prstGeom>
          <a:solidFill>
            <a:srgbClr val="1E2761"/>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8277149" y="3933749"/>
            <a:ext cx="362102" cy="362102"/>
          </a:xfrm>
          <a:prstGeom prst="rect">
            <a:avLst/>
          </a:prstGeom>
        </p:spPr>
      </p:pic>
      <p:sp>
        <p:nvSpPr>
          <p:cNvPr id="16" name="Text 11"/>
          <p:cNvSpPr/>
          <p:nvPr/>
        </p:nvSpPr>
        <p:spPr>
          <a:xfrm>
            <a:off x="9052560" y="3657600"/>
            <a:ext cx="2377440" cy="45720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Trade-off is explicit</a:t>
            </a:r>
            <a:endParaRPr lang="en-US" sz="1450" dirty="0"/>
          </a:p>
        </p:txBody>
      </p:sp>
      <p:sp>
        <p:nvSpPr>
          <p:cNvPr id="17" name="Text 12"/>
          <p:cNvSpPr/>
          <p:nvPr/>
        </p:nvSpPr>
        <p:spPr>
          <a:xfrm>
            <a:off x="8046720" y="4617720"/>
            <a:ext cx="3383280" cy="1463040"/>
          </a:xfrm>
          <a:prstGeom prst="rect">
            <a:avLst/>
          </a:prstGeom>
          <a:noFill/>
          <a:ln/>
        </p:spPr>
        <p:txBody>
          <a:bodyPr wrap="square" rtlCol="0" anchor="t"/>
          <a:lstStyle/>
          <a:p>
            <a:pPr marL="0" indent="0">
              <a:buNone/>
            </a:pPr>
            <a:r>
              <a:rPr lang="en-US" sz="1200" dirty="0">
                <a:solidFill>
                  <a:srgbClr val="5A6270"/>
                </a:solidFill>
                <a:latin typeface="Calibri" pitchFamily="34" charset="0"/>
                <a:ea typeface="Calibri" pitchFamily="34" charset="-122"/>
                <a:cs typeface="Calibri" pitchFamily="34" charset="-120"/>
              </a:rPr>
              <a:t>Every method here trades some accuracy for lower φ(h) — the size of that trade-off is the result.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Base Paper: A Reductions Approach</a:t>
            </a:r>
            <a:endParaRPr lang="en-US" sz="2800" dirty="0"/>
          </a:p>
        </p:txBody>
      </p:sp>
      <p:sp>
        <p:nvSpPr>
          <p:cNvPr id="3" name="Text 1"/>
          <p:cNvSpPr/>
          <p:nvPr/>
        </p:nvSpPr>
        <p:spPr>
          <a:xfrm>
            <a:off x="640080" y="1097280"/>
            <a:ext cx="10515600" cy="365760"/>
          </a:xfrm>
          <a:prstGeom prst="rect">
            <a:avLst/>
          </a:prstGeom>
          <a:noFill/>
          <a:ln/>
        </p:spPr>
        <p:txBody>
          <a:bodyPr wrap="square" rtlCol="0" anchor="ctr"/>
          <a:lstStyle/>
          <a:p>
            <a:pPr marL="0" indent="0">
              <a:buNone/>
            </a:pPr>
            <a:r>
              <a:rPr lang="en-US" sz="1400" i="1" dirty="0">
                <a:solidFill>
                  <a:srgbClr val="5A6270"/>
                </a:solidFill>
                <a:latin typeface="Calibri" pitchFamily="34" charset="0"/>
                <a:ea typeface="Calibri" pitchFamily="34" charset="-122"/>
                <a:cs typeface="Calibri" pitchFamily="34" charset="-120"/>
              </a:rPr>
              <a:t>Agarwal, Beygelzimer, Dudík, Langford &amp; Wallach (2018) — ICML</a:t>
            </a:r>
            <a:endParaRPr lang="en-US" sz="1400" dirty="0"/>
          </a:p>
        </p:txBody>
      </p:sp>
      <p:sp>
        <p:nvSpPr>
          <p:cNvPr id="4" name="Text 2"/>
          <p:cNvSpPr/>
          <p:nvPr/>
        </p:nvSpPr>
        <p:spPr>
          <a:xfrm>
            <a:off x="640080" y="1691640"/>
            <a:ext cx="10515600" cy="365760"/>
          </a:xfrm>
          <a:prstGeom prst="rect">
            <a:avLst/>
          </a:prstGeom>
          <a:noFill/>
          <a:ln/>
        </p:spPr>
        <p:txBody>
          <a:bodyPr wrap="square" rtlCol="0" anchor="ctr"/>
          <a:lstStyle/>
          <a:p>
            <a:pPr marL="0" indent="0">
              <a:buNone/>
            </a:pPr>
            <a:r>
              <a:rPr lang="en-US" sz="1400" dirty="0">
                <a:solidFill>
                  <a:srgbClr val="1B1B1F"/>
                </a:solidFill>
                <a:latin typeface="Calibri" pitchFamily="34" charset="0"/>
                <a:ea typeface="Calibri" pitchFamily="34" charset="-122"/>
                <a:cs typeface="Calibri" pitchFamily="34" charset="-120"/>
              </a:rPr>
              <a:t>Solves the constrained problem as a two-player zero-sum game:</a:t>
            </a:r>
            <a:endParaRPr lang="en-US" sz="1400" dirty="0"/>
          </a:p>
        </p:txBody>
      </p:sp>
      <p:sp>
        <p:nvSpPr>
          <p:cNvPr id="5" name="Shape 3"/>
          <p:cNvSpPr/>
          <p:nvPr/>
        </p:nvSpPr>
        <p:spPr>
          <a:xfrm>
            <a:off x="640080" y="2103120"/>
            <a:ext cx="10881360" cy="1005840"/>
          </a:xfrm>
          <a:prstGeom prst="roundRect">
            <a:avLst>
              <a:gd name="adj" fmla="val 7273"/>
            </a:avLst>
          </a:prstGeom>
          <a:solidFill>
            <a:srgbClr val="1E2761"/>
          </a:solidFill>
          <a:ln/>
        </p:spPr>
        <p:txBody>
          <a:bodyPr/>
          <a:lstStyle/>
          <a:p>
            <a:endParaRPr lang="en-US"/>
          </a:p>
        </p:txBody>
      </p:sp>
      <p:sp>
        <p:nvSpPr>
          <p:cNvPr id="6" name="Text 4"/>
          <p:cNvSpPr/>
          <p:nvPr/>
        </p:nvSpPr>
        <p:spPr>
          <a:xfrm>
            <a:off x="914400" y="2103120"/>
            <a:ext cx="10332720" cy="1005840"/>
          </a:xfrm>
          <a:prstGeom prst="rect">
            <a:avLst/>
          </a:prstGeom>
          <a:noFill/>
          <a:ln/>
        </p:spPr>
        <p:txBody>
          <a:bodyPr wrap="square" rtlCol="0" anchor="ctr"/>
          <a:lstStyle/>
          <a:p>
            <a:pPr marL="0" indent="0">
              <a:buNone/>
            </a:pPr>
            <a:r>
              <a:rPr lang="en-US" sz="2000" dirty="0">
                <a:solidFill>
                  <a:srgbClr val="E8A33D"/>
                </a:solidFill>
                <a:latin typeface="Courier New" pitchFamily="34" charset="0"/>
                <a:ea typeface="Courier New" pitchFamily="34" charset="-122"/>
                <a:cs typeface="Courier New" pitchFamily="34" charset="-120"/>
              </a:rPr>
              <a:t>minₕ maxλ   error(h) + λᵀ (φ(h) − ε)</a:t>
            </a:r>
            <a:endParaRPr lang="en-US" sz="2000" dirty="0"/>
          </a:p>
        </p:txBody>
      </p:sp>
      <p:sp>
        <p:nvSpPr>
          <p:cNvPr id="7" name="Shape 5"/>
          <p:cNvSpPr/>
          <p:nvPr/>
        </p:nvSpPr>
        <p:spPr>
          <a:xfrm>
            <a:off x="640080" y="3337560"/>
            <a:ext cx="5257800" cy="1097280"/>
          </a:xfrm>
          <a:prstGeom prst="roundRect">
            <a:avLst>
              <a:gd name="adj" fmla="val 6667"/>
            </a:avLst>
          </a:prstGeom>
          <a:solidFill>
            <a:srgbClr val="F4F6FB"/>
          </a:solidFill>
          <a:ln/>
        </p:spPr>
        <p:txBody>
          <a:bodyPr/>
          <a:lstStyle/>
          <a:p>
            <a:endParaRPr lang="en-US"/>
          </a:p>
        </p:txBody>
      </p:sp>
      <p:sp>
        <p:nvSpPr>
          <p:cNvPr id="8" name="Text 6"/>
          <p:cNvSpPr/>
          <p:nvPr/>
        </p:nvSpPr>
        <p:spPr>
          <a:xfrm>
            <a:off x="914400" y="3337560"/>
            <a:ext cx="4709160" cy="1097280"/>
          </a:xfrm>
          <a:prstGeom prst="rect">
            <a:avLst/>
          </a:prstGeom>
          <a:noFill/>
          <a:ln/>
        </p:spPr>
        <p:txBody>
          <a:bodyPr wrap="square" rtlCol="0" anchor="ctr"/>
          <a:lstStyle/>
          <a:p>
            <a:pPr marL="0" indent="0">
              <a:lnSpc>
                <a:spcPct val="120000"/>
              </a:lnSpc>
              <a:buNone/>
            </a:pPr>
            <a:r>
              <a:rPr lang="en-US" sz="1300" b="1" dirty="0">
                <a:solidFill>
                  <a:srgbClr val="1E2761"/>
                </a:solidFill>
                <a:latin typeface="Calibri" pitchFamily="34" charset="0"/>
                <a:ea typeface="Calibri" pitchFamily="34" charset="-122"/>
                <a:cs typeface="Calibri" pitchFamily="34" charset="-120"/>
              </a:rPr>
              <a:t>Learner:  </a:t>
            </a:r>
            <a:r>
              <a:rPr lang="en-US" sz="1300" dirty="0">
                <a:solidFill>
                  <a:srgbClr val="5A6270"/>
                </a:solidFill>
                <a:latin typeface="Calibri" pitchFamily="34" charset="0"/>
                <a:ea typeface="Calibri" pitchFamily="34" charset="-122"/>
                <a:cs typeface="Calibri" pitchFamily="34" charset="-120"/>
              </a:rPr>
              <a:t>Picks h to minimize error minus a fairness penalty.</a:t>
            </a:r>
            <a:endParaRPr lang="en-US" sz="1300" dirty="0"/>
          </a:p>
        </p:txBody>
      </p:sp>
      <p:sp>
        <p:nvSpPr>
          <p:cNvPr id="9" name="Shape 7"/>
          <p:cNvSpPr/>
          <p:nvPr/>
        </p:nvSpPr>
        <p:spPr>
          <a:xfrm>
            <a:off x="6217920" y="3337560"/>
            <a:ext cx="5257800" cy="1097280"/>
          </a:xfrm>
          <a:prstGeom prst="roundRect">
            <a:avLst>
              <a:gd name="adj" fmla="val 6667"/>
            </a:avLst>
          </a:prstGeom>
          <a:solidFill>
            <a:srgbClr val="F4F6FB"/>
          </a:solidFill>
          <a:ln/>
        </p:spPr>
        <p:txBody>
          <a:bodyPr/>
          <a:lstStyle/>
          <a:p>
            <a:endParaRPr lang="en-US"/>
          </a:p>
        </p:txBody>
      </p:sp>
      <p:sp>
        <p:nvSpPr>
          <p:cNvPr id="10" name="Text 8"/>
          <p:cNvSpPr/>
          <p:nvPr/>
        </p:nvSpPr>
        <p:spPr>
          <a:xfrm>
            <a:off x="6492240" y="3337560"/>
            <a:ext cx="4709160" cy="1097280"/>
          </a:xfrm>
          <a:prstGeom prst="rect">
            <a:avLst/>
          </a:prstGeom>
          <a:noFill/>
          <a:ln/>
        </p:spPr>
        <p:txBody>
          <a:bodyPr wrap="square" rtlCol="0" anchor="ctr"/>
          <a:lstStyle/>
          <a:p>
            <a:pPr marL="0" indent="0">
              <a:lnSpc>
                <a:spcPct val="120000"/>
              </a:lnSpc>
              <a:buNone/>
            </a:pPr>
            <a:r>
              <a:rPr lang="en-US" sz="1300" b="1" dirty="0">
                <a:solidFill>
                  <a:srgbClr val="1E2761"/>
                </a:solidFill>
                <a:latin typeface="Calibri" pitchFamily="34" charset="0"/>
                <a:ea typeface="Calibri" pitchFamily="34" charset="-122"/>
                <a:cs typeface="Calibri" pitchFamily="34" charset="-120"/>
              </a:rPr>
              <a:t>Regulator:  </a:t>
            </a:r>
            <a:r>
              <a:rPr lang="en-US" sz="1300" dirty="0">
                <a:solidFill>
                  <a:srgbClr val="5A6270"/>
                </a:solidFill>
                <a:latin typeface="Calibri" pitchFamily="34" charset="0"/>
                <a:ea typeface="Calibri" pitchFamily="34" charset="-122"/>
                <a:cs typeface="Calibri" pitchFamily="34" charset="-120"/>
              </a:rPr>
              <a:t>Picks Lagrange multipliers λ, penalizing violations harder as h gets less fair.</a:t>
            </a:r>
            <a:endParaRPr lang="en-US" sz="1300" dirty="0"/>
          </a:p>
        </p:txBody>
      </p:sp>
      <p:sp>
        <p:nvSpPr>
          <p:cNvPr id="11" name="Text 9"/>
          <p:cNvSpPr/>
          <p:nvPr/>
        </p:nvSpPr>
        <p:spPr>
          <a:xfrm>
            <a:off x="640080" y="4617720"/>
            <a:ext cx="10881360" cy="548640"/>
          </a:xfrm>
          <a:prstGeom prst="rect">
            <a:avLst/>
          </a:prstGeom>
          <a:noFill/>
          <a:ln/>
        </p:spPr>
        <p:txBody>
          <a:bodyPr wrap="square" rtlCol="0" anchor="ctr"/>
          <a:lstStyle/>
          <a:p>
            <a:pPr marL="0" indent="0">
              <a:buNone/>
            </a:pPr>
            <a:r>
              <a:rPr lang="en-US" sz="1300" i="1" dirty="0">
                <a:solidFill>
                  <a:srgbClr val="5A6270"/>
                </a:solidFill>
                <a:latin typeface="Calibri" pitchFamily="34" charset="0"/>
                <a:ea typeface="Calibri" pitchFamily="34" charset="-122"/>
                <a:cs typeface="Calibri" pitchFamily="34" charset="-120"/>
              </a:rPr>
              <a:t>Practically: iteratively reweight training examples and retrain the base classifier — wraps around any classifier without touching the dataset.</a:t>
            </a:r>
            <a:endParaRPr lang="en-US" sz="1300" dirty="0"/>
          </a:p>
        </p:txBody>
      </p:sp>
      <p:sp>
        <p:nvSpPr>
          <p:cNvPr id="12" name="Shape 10"/>
          <p:cNvSpPr/>
          <p:nvPr/>
        </p:nvSpPr>
        <p:spPr>
          <a:xfrm>
            <a:off x="640080" y="5349240"/>
            <a:ext cx="10881360" cy="914400"/>
          </a:xfrm>
          <a:prstGeom prst="roundRect">
            <a:avLst>
              <a:gd name="adj" fmla="val 8000"/>
            </a:avLst>
          </a:prstGeom>
          <a:solidFill>
            <a:srgbClr val="FBF1E1"/>
          </a:solidFill>
          <a:ln/>
        </p:spPr>
        <p:txBody>
          <a:bodyPr/>
          <a:lstStyle/>
          <a:p>
            <a:endParaRPr lang="en-US"/>
          </a:p>
        </p:txBody>
      </p:sp>
      <p:sp>
        <p:nvSpPr>
          <p:cNvPr id="13" name="Text 11"/>
          <p:cNvSpPr/>
          <p:nvPr/>
        </p:nvSpPr>
        <p:spPr>
          <a:xfrm>
            <a:off x="914400" y="5349240"/>
            <a:ext cx="10332720" cy="914400"/>
          </a:xfrm>
          <a:prstGeom prst="rect">
            <a:avLst/>
          </a:prstGeom>
          <a:noFill/>
          <a:ln/>
        </p:spPr>
        <p:txBody>
          <a:bodyPr wrap="square" rtlCol="0" anchor="ctr"/>
          <a:lstStyle/>
          <a:p>
            <a:pPr marL="0" indent="0">
              <a:buNone/>
            </a:pPr>
            <a:r>
              <a:rPr lang="en-US" sz="1350" b="1" dirty="0">
                <a:solidFill>
                  <a:srgbClr val="6B4A18"/>
                </a:solidFill>
                <a:latin typeface="Calibri" pitchFamily="34" charset="0"/>
                <a:ea typeface="Calibri" pitchFamily="34" charset="-122"/>
                <a:cs typeface="Calibri" pitchFamily="34" charset="-120"/>
              </a:rPr>
              <a:t>Reference implementation:  </a:t>
            </a:r>
            <a:r>
              <a:rPr lang="en-US" sz="1350" dirty="0">
                <a:solidFill>
                  <a:srgbClr val="6B4A18"/>
                </a:solidFill>
                <a:latin typeface="Courier New" pitchFamily="34" charset="0"/>
                <a:ea typeface="Courier New" pitchFamily="34" charset="-122"/>
                <a:cs typeface="Courier New" pitchFamily="34" charset="-120"/>
              </a:rPr>
              <a:t>fairlearn.reductions.ExponentiatedGradient</a:t>
            </a:r>
            <a:r>
              <a:rPr lang="en-US" sz="1350" dirty="0">
                <a:solidFill>
                  <a:srgbClr val="6B4A18"/>
                </a:solidFill>
                <a:latin typeface="Calibri" pitchFamily="34" charset="0"/>
                <a:ea typeface="Calibri" pitchFamily="34" charset="-122"/>
                <a:cs typeface="Calibri" pitchFamily="34" charset="-120"/>
              </a:rPr>
              <a:t>  and  </a:t>
            </a:r>
            <a:r>
              <a:rPr lang="en-US" sz="1350" dirty="0">
                <a:solidFill>
                  <a:srgbClr val="6B4A18"/>
                </a:solidFill>
                <a:latin typeface="Courier New" pitchFamily="34" charset="0"/>
                <a:ea typeface="Courier New" pitchFamily="34" charset="-122"/>
                <a:cs typeface="Courier New" pitchFamily="34" charset="-120"/>
              </a:rPr>
              <a:t>GridSearch</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Base-Paper Track: Deliverables</a:t>
            </a:r>
            <a:endParaRPr lang="en-US" sz="2800" dirty="0"/>
          </a:p>
        </p:txBody>
      </p:sp>
      <p:sp>
        <p:nvSpPr>
          <p:cNvPr id="3" name="Shape 1"/>
          <p:cNvSpPr/>
          <p:nvPr/>
        </p:nvSpPr>
        <p:spPr>
          <a:xfrm>
            <a:off x="640080" y="1554480"/>
            <a:ext cx="10881360" cy="1143000"/>
          </a:xfrm>
          <a:prstGeom prst="roundRect">
            <a:avLst>
              <a:gd name="adj" fmla="val 6400"/>
            </a:avLst>
          </a:prstGeom>
          <a:solidFill>
            <a:srgbClr val="F4F6FB"/>
          </a:solidFill>
          <a:ln w="12700">
            <a:solidFill>
              <a:srgbClr val="E3E6EC"/>
            </a:solidFill>
            <a:prstDash val="solid"/>
          </a:ln>
        </p:spPr>
        <p:txBody>
          <a:bodyPr/>
          <a:lstStyle/>
          <a:p>
            <a:endParaRPr lang="en-US"/>
          </a:p>
        </p:txBody>
      </p:sp>
      <p:sp>
        <p:nvSpPr>
          <p:cNvPr id="4" name="Shape 2"/>
          <p:cNvSpPr/>
          <p:nvPr/>
        </p:nvSpPr>
        <p:spPr>
          <a:xfrm>
            <a:off x="914400" y="1805940"/>
            <a:ext cx="640080" cy="640080"/>
          </a:xfrm>
          <a:prstGeom prst="ellipse">
            <a:avLst/>
          </a:prstGeom>
          <a:solidFill>
            <a:srgbClr val="1E2761"/>
          </a:solidFill>
          <a:ln/>
        </p:spPr>
        <p:txBody>
          <a:bodyPr/>
          <a:lstStyle/>
          <a:p>
            <a:endParaRPr lang="en-US"/>
          </a:p>
        </p:txBody>
      </p:sp>
      <p:sp>
        <p:nvSpPr>
          <p:cNvPr id="5" name="Text 3"/>
          <p:cNvSpPr/>
          <p:nvPr/>
        </p:nvSpPr>
        <p:spPr>
          <a:xfrm>
            <a:off x="914400" y="1805940"/>
            <a:ext cx="640080" cy="640080"/>
          </a:xfrm>
          <a:prstGeom prst="rect">
            <a:avLst/>
          </a:prstGeom>
          <a:noFill/>
          <a:ln/>
        </p:spPr>
        <p:txBody>
          <a:bodyPr wrap="square" rtlCol="0" anchor="ctr"/>
          <a:lstStyle/>
          <a:p>
            <a:pPr marL="0" indent="0" algn="ctr">
              <a:buNone/>
            </a:pPr>
            <a:r>
              <a:rPr lang="en-US" sz="2000" b="1" dirty="0">
                <a:solidFill>
                  <a:srgbClr val="E8A33D"/>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783080" y="1664208"/>
            <a:ext cx="9052560" cy="457200"/>
          </a:xfrm>
          <a:prstGeom prst="rect">
            <a:avLst/>
          </a:prstGeom>
          <a:noFill/>
          <a:ln/>
        </p:spPr>
        <p:txBody>
          <a:bodyPr wrap="square"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Baseline Decision Tree</a:t>
            </a:r>
            <a:endParaRPr lang="en-US" sz="1600" dirty="0"/>
          </a:p>
        </p:txBody>
      </p:sp>
      <p:sp>
        <p:nvSpPr>
          <p:cNvPr id="7" name="Text 5"/>
          <p:cNvSpPr/>
          <p:nvPr/>
        </p:nvSpPr>
        <p:spPr>
          <a:xfrm>
            <a:off x="1783080" y="2121408"/>
            <a:ext cx="9052560" cy="502920"/>
          </a:xfrm>
          <a:prstGeom prst="rect">
            <a:avLst/>
          </a:prstGeom>
          <a:noFill/>
          <a:ln/>
        </p:spPr>
        <p:txBody>
          <a:bodyPr wrap="square" rtlCol="0" anchor="t"/>
          <a:lstStyle/>
          <a:p>
            <a:pPr marL="0" indent="0">
              <a:buNone/>
            </a:pPr>
            <a:r>
              <a:rPr lang="en-US" sz="1250" dirty="0">
                <a:solidFill>
                  <a:srgbClr val="5A6270"/>
                </a:solidFill>
                <a:latin typeface="Calibri" pitchFamily="34" charset="0"/>
                <a:ea typeface="Calibri" pitchFamily="34" charset="-122"/>
                <a:cs typeface="Calibri" pitchFamily="34" charset="-120"/>
              </a:rPr>
              <a:t>Accuracy + all three fairness metrics, no mitigation.</a:t>
            </a:r>
            <a:endParaRPr lang="en-US" sz="1250" dirty="0"/>
          </a:p>
        </p:txBody>
      </p:sp>
      <p:sp>
        <p:nvSpPr>
          <p:cNvPr id="8" name="Shape 6"/>
          <p:cNvSpPr/>
          <p:nvPr/>
        </p:nvSpPr>
        <p:spPr>
          <a:xfrm>
            <a:off x="640080" y="2834640"/>
            <a:ext cx="10881360" cy="1143000"/>
          </a:xfrm>
          <a:prstGeom prst="roundRect">
            <a:avLst>
              <a:gd name="adj" fmla="val 6400"/>
            </a:avLst>
          </a:prstGeom>
          <a:solidFill>
            <a:srgbClr val="FFFFFF"/>
          </a:solidFill>
          <a:ln w="12700">
            <a:solidFill>
              <a:srgbClr val="E3E6EC"/>
            </a:solidFill>
            <a:prstDash val="solid"/>
          </a:ln>
        </p:spPr>
        <p:txBody>
          <a:bodyPr/>
          <a:lstStyle/>
          <a:p>
            <a:endParaRPr lang="en-US"/>
          </a:p>
        </p:txBody>
      </p:sp>
      <p:sp>
        <p:nvSpPr>
          <p:cNvPr id="9" name="Shape 7"/>
          <p:cNvSpPr/>
          <p:nvPr/>
        </p:nvSpPr>
        <p:spPr>
          <a:xfrm>
            <a:off x="914400" y="3086100"/>
            <a:ext cx="640080" cy="640080"/>
          </a:xfrm>
          <a:prstGeom prst="ellipse">
            <a:avLst/>
          </a:prstGeom>
          <a:solidFill>
            <a:srgbClr val="1E2761"/>
          </a:solidFill>
          <a:ln/>
        </p:spPr>
        <p:txBody>
          <a:bodyPr/>
          <a:lstStyle/>
          <a:p>
            <a:endParaRPr lang="en-US"/>
          </a:p>
        </p:txBody>
      </p:sp>
      <p:sp>
        <p:nvSpPr>
          <p:cNvPr id="10" name="Text 8"/>
          <p:cNvSpPr/>
          <p:nvPr/>
        </p:nvSpPr>
        <p:spPr>
          <a:xfrm>
            <a:off x="914400" y="3086100"/>
            <a:ext cx="640080" cy="640080"/>
          </a:xfrm>
          <a:prstGeom prst="rect">
            <a:avLst/>
          </a:prstGeom>
          <a:noFill/>
          <a:ln/>
        </p:spPr>
        <p:txBody>
          <a:bodyPr wrap="square" rtlCol="0" anchor="ctr"/>
          <a:lstStyle/>
          <a:p>
            <a:pPr marL="0" indent="0" algn="ctr">
              <a:buNone/>
            </a:pPr>
            <a:r>
              <a:rPr lang="en-US" sz="2000" b="1" dirty="0">
                <a:solidFill>
                  <a:srgbClr val="E8A33D"/>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783080" y="2944368"/>
            <a:ext cx="9052560" cy="457200"/>
          </a:xfrm>
          <a:prstGeom prst="rect">
            <a:avLst/>
          </a:prstGeom>
          <a:noFill/>
          <a:ln/>
        </p:spPr>
        <p:txBody>
          <a:bodyPr wrap="square"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Exponentiated Gradient — Demographic Parity</a:t>
            </a:r>
            <a:endParaRPr lang="en-US" sz="1600" dirty="0"/>
          </a:p>
        </p:txBody>
      </p:sp>
      <p:sp>
        <p:nvSpPr>
          <p:cNvPr id="12" name="Text 10"/>
          <p:cNvSpPr/>
          <p:nvPr/>
        </p:nvSpPr>
        <p:spPr>
          <a:xfrm>
            <a:off x="1783080" y="3401568"/>
            <a:ext cx="9052560" cy="502920"/>
          </a:xfrm>
          <a:prstGeom prst="rect">
            <a:avLst/>
          </a:prstGeom>
          <a:noFill/>
          <a:ln/>
        </p:spPr>
        <p:txBody>
          <a:bodyPr wrap="square" rtlCol="0" anchor="t"/>
          <a:lstStyle/>
          <a:p>
            <a:pPr marL="0" indent="0">
              <a:buNone/>
            </a:pPr>
            <a:r>
              <a:rPr lang="en-US" sz="1250" dirty="0">
                <a:solidFill>
                  <a:srgbClr val="5A6270"/>
                </a:solidFill>
                <a:latin typeface="Calibri" pitchFamily="34" charset="0"/>
                <a:ea typeface="Calibri" pitchFamily="34" charset="-122"/>
                <a:cs typeface="Calibri" pitchFamily="34" charset="-120"/>
              </a:rPr>
              <a:t>Same tree, wrapped with a demographic-parity constraint.</a:t>
            </a:r>
            <a:endParaRPr lang="en-US" sz="1250" dirty="0"/>
          </a:p>
        </p:txBody>
      </p:sp>
      <p:sp>
        <p:nvSpPr>
          <p:cNvPr id="13" name="Shape 11"/>
          <p:cNvSpPr/>
          <p:nvPr/>
        </p:nvSpPr>
        <p:spPr>
          <a:xfrm>
            <a:off x="640080" y="4114800"/>
            <a:ext cx="10881360" cy="1143000"/>
          </a:xfrm>
          <a:prstGeom prst="roundRect">
            <a:avLst>
              <a:gd name="adj" fmla="val 6400"/>
            </a:avLst>
          </a:prstGeom>
          <a:solidFill>
            <a:srgbClr val="F4F6FB"/>
          </a:solidFill>
          <a:ln w="12700">
            <a:solidFill>
              <a:srgbClr val="E3E6EC"/>
            </a:solidFill>
            <a:prstDash val="solid"/>
          </a:ln>
        </p:spPr>
        <p:txBody>
          <a:bodyPr/>
          <a:lstStyle/>
          <a:p>
            <a:endParaRPr lang="en-US"/>
          </a:p>
        </p:txBody>
      </p:sp>
      <p:sp>
        <p:nvSpPr>
          <p:cNvPr id="14" name="Shape 12"/>
          <p:cNvSpPr/>
          <p:nvPr/>
        </p:nvSpPr>
        <p:spPr>
          <a:xfrm>
            <a:off x="914400" y="4366260"/>
            <a:ext cx="640080" cy="640080"/>
          </a:xfrm>
          <a:prstGeom prst="ellipse">
            <a:avLst/>
          </a:prstGeom>
          <a:solidFill>
            <a:srgbClr val="1E2761"/>
          </a:solidFill>
          <a:ln/>
        </p:spPr>
        <p:txBody>
          <a:bodyPr/>
          <a:lstStyle/>
          <a:p>
            <a:endParaRPr lang="en-US"/>
          </a:p>
        </p:txBody>
      </p:sp>
      <p:sp>
        <p:nvSpPr>
          <p:cNvPr id="15" name="Text 13"/>
          <p:cNvSpPr/>
          <p:nvPr/>
        </p:nvSpPr>
        <p:spPr>
          <a:xfrm>
            <a:off x="914400" y="4366260"/>
            <a:ext cx="640080" cy="640080"/>
          </a:xfrm>
          <a:prstGeom prst="rect">
            <a:avLst/>
          </a:prstGeom>
          <a:noFill/>
          <a:ln/>
        </p:spPr>
        <p:txBody>
          <a:bodyPr wrap="square" rtlCol="0" anchor="ctr"/>
          <a:lstStyle/>
          <a:p>
            <a:pPr marL="0" indent="0" algn="ctr">
              <a:buNone/>
            </a:pPr>
            <a:r>
              <a:rPr lang="en-US" sz="2000" b="1" dirty="0">
                <a:solidFill>
                  <a:srgbClr val="E8A33D"/>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783080" y="4224528"/>
            <a:ext cx="9052560" cy="457200"/>
          </a:xfrm>
          <a:prstGeom prst="rect">
            <a:avLst/>
          </a:prstGeom>
          <a:noFill/>
          <a:ln/>
        </p:spPr>
        <p:txBody>
          <a:bodyPr wrap="square"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Exponentiated Gradient — Equalized Odds</a:t>
            </a:r>
            <a:endParaRPr lang="en-US" sz="1600" dirty="0"/>
          </a:p>
        </p:txBody>
      </p:sp>
      <p:sp>
        <p:nvSpPr>
          <p:cNvPr id="17" name="Text 15"/>
          <p:cNvSpPr/>
          <p:nvPr/>
        </p:nvSpPr>
        <p:spPr>
          <a:xfrm>
            <a:off x="1783080" y="4681728"/>
            <a:ext cx="9052560" cy="502920"/>
          </a:xfrm>
          <a:prstGeom prst="rect">
            <a:avLst/>
          </a:prstGeom>
          <a:noFill/>
          <a:ln/>
        </p:spPr>
        <p:txBody>
          <a:bodyPr wrap="square" rtlCol="0" anchor="t"/>
          <a:lstStyle/>
          <a:p>
            <a:pPr marL="0" indent="0">
              <a:buNone/>
            </a:pPr>
            <a:r>
              <a:rPr lang="en-US" sz="1250" dirty="0">
                <a:solidFill>
                  <a:srgbClr val="5A6270"/>
                </a:solidFill>
                <a:latin typeface="Calibri" pitchFamily="34" charset="0"/>
                <a:ea typeface="Calibri" pitchFamily="34" charset="-122"/>
                <a:cs typeface="Calibri" pitchFamily="34" charset="-120"/>
              </a:rPr>
              <a:t>Same tree, wrapped with an equalized-odds constraint instead.</a:t>
            </a:r>
            <a:endParaRPr lang="en-US" sz="1250" dirty="0"/>
          </a:p>
        </p:txBody>
      </p:sp>
      <p:sp>
        <p:nvSpPr>
          <p:cNvPr id="18" name="Shape 16"/>
          <p:cNvSpPr/>
          <p:nvPr/>
        </p:nvSpPr>
        <p:spPr>
          <a:xfrm>
            <a:off x="640080" y="5394960"/>
            <a:ext cx="10881360" cy="1143000"/>
          </a:xfrm>
          <a:prstGeom prst="roundRect">
            <a:avLst>
              <a:gd name="adj" fmla="val 6400"/>
            </a:avLst>
          </a:prstGeom>
          <a:solidFill>
            <a:srgbClr val="FFFFFF"/>
          </a:solidFill>
          <a:ln w="12700">
            <a:solidFill>
              <a:srgbClr val="E3E6EC"/>
            </a:solidFill>
            <a:prstDash val="solid"/>
          </a:ln>
        </p:spPr>
        <p:txBody>
          <a:bodyPr/>
          <a:lstStyle/>
          <a:p>
            <a:endParaRPr lang="en-US"/>
          </a:p>
        </p:txBody>
      </p:sp>
      <p:sp>
        <p:nvSpPr>
          <p:cNvPr id="19" name="Shape 17"/>
          <p:cNvSpPr/>
          <p:nvPr/>
        </p:nvSpPr>
        <p:spPr>
          <a:xfrm>
            <a:off x="914400" y="5646420"/>
            <a:ext cx="640080" cy="640080"/>
          </a:xfrm>
          <a:prstGeom prst="ellipse">
            <a:avLst/>
          </a:prstGeom>
          <a:solidFill>
            <a:srgbClr val="1E2761"/>
          </a:solidFill>
          <a:ln/>
        </p:spPr>
        <p:txBody>
          <a:bodyPr/>
          <a:lstStyle/>
          <a:p>
            <a:endParaRPr lang="en-US"/>
          </a:p>
        </p:txBody>
      </p:sp>
      <p:sp>
        <p:nvSpPr>
          <p:cNvPr id="20" name="Text 18"/>
          <p:cNvSpPr/>
          <p:nvPr/>
        </p:nvSpPr>
        <p:spPr>
          <a:xfrm>
            <a:off x="914400" y="5646420"/>
            <a:ext cx="640080" cy="640080"/>
          </a:xfrm>
          <a:prstGeom prst="rect">
            <a:avLst/>
          </a:prstGeom>
          <a:noFill/>
          <a:ln/>
        </p:spPr>
        <p:txBody>
          <a:bodyPr wrap="square" rtlCol="0" anchor="ctr"/>
          <a:lstStyle/>
          <a:p>
            <a:pPr marL="0" indent="0" algn="ctr">
              <a:buNone/>
            </a:pPr>
            <a:r>
              <a:rPr lang="en-US" sz="2000" b="1" dirty="0">
                <a:solidFill>
                  <a:srgbClr val="E8A33D"/>
                </a:solidFill>
                <a:latin typeface="Cambria" pitchFamily="34" charset="0"/>
                <a:ea typeface="Cambria" pitchFamily="34" charset="-122"/>
                <a:cs typeface="Cambria" pitchFamily="34" charset="-120"/>
              </a:rPr>
              <a:t>4</a:t>
            </a:r>
            <a:endParaRPr lang="en-US" sz="2000" dirty="0"/>
          </a:p>
        </p:txBody>
      </p:sp>
      <p:sp>
        <p:nvSpPr>
          <p:cNvPr id="21" name="Text 19"/>
          <p:cNvSpPr/>
          <p:nvPr/>
        </p:nvSpPr>
        <p:spPr>
          <a:xfrm>
            <a:off x="1783080" y="5504688"/>
            <a:ext cx="9052560" cy="457200"/>
          </a:xfrm>
          <a:prstGeom prst="rect">
            <a:avLst/>
          </a:prstGeom>
          <a:noFill/>
          <a:ln/>
        </p:spPr>
        <p:txBody>
          <a:bodyPr wrap="square"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GridSearch Pareto Sweep</a:t>
            </a:r>
            <a:endParaRPr lang="en-US" sz="1600" dirty="0"/>
          </a:p>
        </p:txBody>
      </p:sp>
      <p:sp>
        <p:nvSpPr>
          <p:cNvPr id="22" name="Text 20"/>
          <p:cNvSpPr/>
          <p:nvPr/>
        </p:nvSpPr>
        <p:spPr>
          <a:xfrm>
            <a:off x="1783080" y="5961888"/>
            <a:ext cx="9052560" cy="502920"/>
          </a:xfrm>
          <a:prstGeom prst="rect">
            <a:avLst/>
          </a:prstGeom>
          <a:noFill/>
          <a:ln/>
        </p:spPr>
        <p:txBody>
          <a:bodyPr wrap="square" rtlCol="0" anchor="t"/>
          <a:lstStyle/>
          <a:p>
            <a:pPr marL="0" indent="0">
              <a:buNone/>
            </a:pPr>
            <a:r>
              <a:rPr lang="en-US" sz="1250" dirty="0">
                <a:solidFill>
                  <a:srgbClr val="5A6270"/>
                </a:solidFill>
                <a:latin typeface="Calibri" pitchFamily="34" charset="0"/>
                <a:ea typeface="Calibri" pitchFamily="34" charset="-122"/>
                <a:cs typeface="Calibri" pitchFamily="34" charset="-120"/>
              </a:rPr>
              <a:t>Sweep of λ values plotted as an accuracy-vs-fairness frontier.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Ablation Study: Swapping the Mitigation Method</a:t>
            </a:r>
            <a:endParaRPr lang="en-US" sz="2600" dirty="0"/>
          </a:p>
        </p:txBody>
      </p:sp>
      <p:sp>
        <p:nvSpPr>
          <p:cNvPr id="3" name="Text 1"/>
          <p:cNvSpPr/>
          <p:nvPr/>
        </p:nvSpPr>
        <p:spPr>
          <a:xfrm>
            <a:off x="640080" y="1051560"/>
            <a:ext cx="10515600" cy="365760"/>
          </a:xfrm>
          <a:prstGeom prst="rect">
            <a:avLst/>
          </a:prstGeom>
          <a:noFill/>
          <a:ln/>
        </p:spPr>
        <p:txBody>
          <a:bodyPr wrap="square" rtlCol="0" anchor="ctr"/>
          <a:lstStyle/>
          <a:p>
            <a:pPr marL="0" indent="0">
              <a:buNone/>
            </a:pPr>
            <a:r>
              <a:rPr lang="en-US" sz="1350" dirty="0">
                <a:solidFill>
                  <a:srgbClr val="5A6270"/>
                </a:solidFill>
                <a:latin typeface="Calibri" pitchFamily="34" charset="0"/>
                <a:ea typeface="Calibri" pitchFamily="34" charset="-122"/>
                <a:cs typeface="Calibri" pitchFamily="34" charset="-120"/>
              </a:rPr>
              <a:t>Same data, same base classifier, same metrics — only the mitigation algorithm changes.</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4114800"/>
        </p:xfrm>
        <a:graphic>
          <a:graphicData uri="http://schemas.openxmlformats.org/drawingml/2006/table">
            <a:tbl>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126480">
                  <a:extLst>
                    <a:ext uri="{9D8B030D-6E8A-4147-A177-3AD203B41FA5}">
                      <a16:colId xmlns:a16="http://schemas.microsoft.com/office/drawing/2014/main" val="20002"/>
                    </a:ext>
                  </a:extLst>
                </a:gridCol>
              </a:tblGrid>
              <a:tr h="68580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1E2761"/>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1E2761"/>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Mechanism</a:t>
                      </a:r>
                      <a:endParaRPr lang="en-US" sz="12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85800">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No mitigation</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marL="0" indent="0">
                        <a:buNone/>
                      </a:pPr>
                      <a:r>
                        <a:rPr lang="en-US" sz="1150" b="1" dirty="0">
                          <a:solidFill>
                            <a:srgbClr val="1B1B1F"/>
                          </a:solidFill>
                          <a:latin typeface="Calibri" pitchFamily="34" charset="0"/>
                          <a:ea typeface="Calibri" pitchFamily="34" charset="-122"/>
                          <a:cs typeface="Calibri" pitchFamily="34" charset="-120"/>
                        </a:rPr>
                        <a:t>Exponentiated Gradient</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In-processing</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Lagrangian game, reweight-and-retrain loop</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GridSearch</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In-processing</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Sweep fixed λ values, select Pareto-frontier model</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Prejudice Remover</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In-processing</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Fairness penalty folded directly into the loss</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extLst>
                  <a:ext uri="{0D108BD9-81ED-4DB2-BD59-A6C34878D82A}">
                    <a16:rowId xmlns:a16="http://schemas.microsoft.com/office/drawing/2014/main" val="10004"/>
                  </a:ext>
                </a:extLst>
              </a:tr>
              <a:tr h="685800">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Adversarial Debiasing</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In-processing</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tc>
                  <a:txBody>
                    <a:bodyPr/>
                    <a:lstStyle/>
                    <a:p>
                      <a:pPr marL="0" indent="0">
                        <a:buNone/>
                      </a:pPr>
                      <a:r>
                        <a:rPr lang="en-US" sz="1150" dirty="0">
                          <a:solidFill>
                            <a:srgbClr val="1B1B1F"/>
                          </a:solidFill>
                          <a:latin typeface="Calibri" pitchFamily="34" charset="0"/>
                          <a:ea typeface="Calibri" pitchFamily="34" charset="-122"/>
                          <a:cs typeface="Calibri" pitchFamily="34" charset="-120"/>
                        </a:rPr>
                        <a:t>Adversary predicts a from h(x); predictor is penalized when it succeeds</a:t>
                      </a:r>
                      <a:endParaRPr lang="en-US" sz="1150" dirty="0">
                        <a:latin typeface="Calibri" charset="0"/>
                        <a:ea typeface="Calibri" charset="0"/>
                        <a:cs typeface="Calibri" charset="0"/>
                      </a:endParaRPr>
                    </a:p>
                  </a:txBody>
                  <a:tcPr anchor="ctr">
                    <a:lnL w="12700" cap="flat" cmpd="sng" algn="ctr">
                      <a:solidFill>
                        <a:srgbClr val="E3E6EC"/>
                      </a:solidFill>
                      <a:prstDash val="solid"/>
                      <a:round/>
                      <a:headEnd type="none" w="med" len="med"/>
                      <a:tailEnd type="none" w="med" len="med"/>
                    </a:lnL>
                    <a:lnR w="12700" cap="flat" cmpd="sng" algn="ctr">
                      <a:solidFill>
                        <a:srgbClr val="E3E6EC"/>
                      </a:solidFill>
                      <a:prstDash val="solid"/>
                      <a:round/>
                      <a:headEnd type="none" w="med" len="med"/>
                      <a:tailEnd type="none" w="med" len="med"/>
                    </a:lnR>
                    <a:lnT w="12700" cap="flat" cmpd="sng" algn="ctr">
                      <a:solidFill>
                        <a:srgbClr val="E3E6EC"/>
                      </a:solidFill>
                      <a:prstDash val="solid"/>
                      <a:round/>
                      <a:headEnd type="none" w="med" len="med"/>
                      <a:tailEnd type="none" w="med" len="med"/>
                    </a:lnT>
                    <a:lnB w="12700" cap="flat" cmpd="sng" algn="ctr">
                      <a:solidFill>
                        <a:srgbClr val="E3E6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640080" y="5852160"/>
            <a:ext cx="10515600" cy="365760"/>
          </a:xfrm>
          <a:prstGeom prst="rect">
            <a:avLst/>
          </a:prstGeom>
          <a:noFill/>
          <a:ln/>
        </p:spPr>
        <p:txBody>
          <a:bodyPr wrap="square" rtlCol="0" anchor="ctr"/>
          <a:lstStyle/>
          <a:p>
            <a:pPr marL="0" indent="0">
              <a:buNone/>
            </a:pPr>
            <a:r>
              <a:rPr lang="en-US" sz="1100" i="1" dirty="0">
                <a:solidFill>
                  <a:srgbClr val="5A6270"/>
                </a:solidFill>
                <a:latin typeface="Calibri" pitchFamily="34" charset="0"/>
                <a:ea typeface="Calibri" pitchFamily="34" charset="-122"/>
                <a:cs typeface="Calibri" pitchFamily="34" charset="-120"/>
              </a:rPr>
              <a:t>Bolded row = the base-paper method (Agarwal et al., 2018).</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Tooling &amp; Pipeline</a:t>
            </a:r>
            <a:endParaRPr lang="en-US" sz="3000" dirty="0"/>
          </a:p>
        </p:txBody>
      </p:sp>
      <p:sp>
        <p:nvSpPr>
          <p:cNvPr id="3" name="Shape 1"/>
          <p:cNvSpPr/>
          <p:nvPr/>
        </p:nvSpPr>
        <p:spPr>
          <a:xfrm>
            <a:off x="640080" y="1920240"/>
            <a:ext cx="2514600" cy="3657600"/>
          </a:xfrm>
          <a:prstGeom prst="roundRect">
            <a:avLst>
              <a:gd name="adj" fmla="val 3636"/>
            </a:avLst>
          </a:prstGeom>
          <a:solidFill>
            <a:srgbClr val="141A4D"/>
          </a:solidFill>
          <a:ln/>
        </p:spPr>
        <p:txBody>
          <a:bodyPr/>
          <a:lstStyle/>
          <a:p>
            <a:endParaRPr lang="en-US"/>
          </a:p>
        </p:txBody>
      </p:sp>
      <p:sp>
        <p:nvSpPr>
          <p:cNvPr id="4" name="Shape 2"/>
          <p:cNvSpPr/>
          <p:nvPr/>
        </p:nvSpPr>
        <p:spPr>
          <a:xfrm>
            <a:off x="1440180" y="2286000"/>
            <a:ext cx="914400" cy="914400"/>
          </a:xfrm>
          <a:prstGeom prst="ellipse">
            <a:avLst/>
          </a:prstGeom>
          <a:solidFill>
            <a:srgbClr val="CADCFC"/>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659636" y="2505456"/>
            <a:ext cx="475488" cy="475488"/>
          </a:xfrm>
          <a:prstGeom prst="rect">
            <a:avLst/>
          </a:prstGeom>
        </p:spPr>
      </p:pic>
      <p:sp>
        <p:nvSpPr>
          <p:cNvPr id="6" name="Text 3"/>
          <p:cNvSpPr/>
          <p:nvPr/>
        </p:nvSpPr>
        <p:spPr>
          <a:xfrm>
            <a:off x="777240" y="3383280"/>
            <a:ext cx="2240280" cy="457200"/>
          </a:xfrm>
          <a:prstGeom prst="rect">
            <a:avLst/>
          </a:prstGeom>
          <a:noFill/>
          <a:ln/>
        </p:spPr>
        <p:txBody>
          <a:bodyPr wrap="square" rtlCol="0" anchor="ctr"/>
          <a:lstStyle/>
          <a:p>
            <a:pPr marL="0" indent="0" algn="ctr">
              <a:buNone/>
            </a:pPr>
            <a:r>
              <a:rPr lang="en-US" sz="1500" b="1" dirty="0">
                <a:solidFill>
                  <a:srgbClr val="E8A33D"/>
                </a:solidFill>
                <a:latin typeface="Cambria" pitchFamily="34" charset="0"/>
                <a:ea typeface="Cambria" pitchFamily="34" charset="-122"/>
                <a:cs typeface="Cambria" pitchFamily="34" charset="-120"/>
              </a:rPr>
              <a:t>fairlearn</a:t>
            </a:r>
            <a:endParaRPr lang="en-US" sz="1500" dirty="0"/>
          </a:p>
        </p:txBody>
      </p:sp>
      <p:sp>
        <p:nvSpPr>
          <p:cNvPr id="7" name="Text 4"/>
          <p:cNvSpPr/>
          <p:nvPr/>
        </p:nvSpPr>
        <p:spPr>
          <a:xfrm>
            <a:off x="868680" y="3886200"/>
            <a:ext cx="2057400" cy="1554480"/>
          </a:xfrm>
          <a:prstGeom prst="rect">
            <a:avLst/>
          </a:prstGeom>
          <a:noFill/>
          <a:ln/>
        </p:spPr>
        <p:txBody>
          <a:bodyPr wrap="square" rtlCol="0" anchor="t"/>
          <a:lstStyle/>
          <a:p>
            <a:pPr marL="0" indent="0" algn="ctr">
              <a:buNone/>
            </a:pPr>
            <a:r>
              <a:rPr lang="en-US" sz="1100" dirty="0">
                <a:solidFill>
                  <a:srgbClr val="CADCFC"/>
                </a:solidFill>
                <a:latin typeface="Calibri" pitchFamily="34" charset="0"/>
                <a:ea typeface="Calibri" pitchFamily="34" charset="-122"/>
                <a:cs typeface="Calibri" pitchFamily="34" charset="-120"/>
              </a:rPr>
              <a:t>ExponentiatedGradient, GridSearch, MetricFrame reporting/plots</a:t>
            </a:r>
            <a:endParaRPr lang="en-US" sz="1100" dirty="0"/>
          </a:p>
        </p:txBody>
      </p:sp>
      <p:sp>
        <p:nvSpPr>
          <p:cNvPr id="8" name="Shape 5"/>
          <p:cNvSpPr/>
          <p:nvPr/>
        </p:nvSpPr>
        <p:spPr>
          <a:xfrm>
            <a:off x="3410712" y="1920240"/>
            <a:ext cx="2514600" cy="3657600"/>
          </a:xfrm>
          <a:prstGeom prst="roundRect">
            <a:avLst>
              <a:gd name="adj" fmla="val 3636"/>
            </a:avLst>
          </a:prstGeom>
          <a:solidFill>
            <a:srgbClr val="141A4D"/>
          </a:solidFill>
          <a:ln/>
        </p:spPr>
        <p:txBody>
          <a:bodyPr/>
          <a:lstStyle/>
          <a:p>
            <a:endParaRPr lang="en-US"/>
          </a:p>
        </p:txBody>
      </p:sp>
      <p:sp>
        <p:nvSpPr>
          <p:cNvPr id="9" name="Shape 6"/>
          <p:cNvSpPr/>
          <p:nvPr/>
        </p:nvSpPr>
        <p:spPr>
          <a:xfrm>
            <a:off x="4210812" y="2286000"/>
            <a:ext cx="914400" cy="914400"/>
          </a:xfrm>
          <a:prstGeom prst="ellipse">
            <a:avLst/>
          </a:prstGeom>
          <a:solidFill>
            <a:srgbClr val="CADCFC"/>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4430268" y="2505456"/>
            <a:ext cx="475488" cy="475488"/>
          </a:xfrm>
          <a:prstGeom prst="rect">
            <a:avLst/>
          </a:prstGeom>
        </p:spPr>
      </p:pic>
      <p:sp>
        <p:nvSpPr>
          <p:cNvPr id="11" name="Text 7"/>
          <p:cNvSpPr/>
          <p:nvPr/>
        </p:nvSpPr>
        <p:spPr>
          <a:xfrm>
            <a:off x="3547872" y="3383280"/>
            <a:ext cx="2240280" cy="457200"/>
          </a:xfrm>
          <a:prstGeom prst="rect">
            <a:avLst/>
          </a:prstGeom>
          <a:noFill/>
          <a:ln/>
        </p:spPr>
        <p:txBody>
          <a:bodyPr wrap="square" rtlCol="0" anchor="ctr"/>
          <a:lstStyle/>
          <a:p>
            <a:pPr marL="0" indent="0" algn="ctr">
              <a:buNone/>
            </a:pPr>
            <a:r>
              <a:rPr lang="en-US" sz="1500" b="1" dirty="0">
                <a:solidFill>
                  <a:srgbClr val="E8A33D"/>
                </a:solidFill>
                <a:latin typeface="Cambria" pitchFamily="34" charset="0"/>
                <a:ea typeface="Cambria" pitchFamily="34" charset="-122"/>
                <a:cs typeface="Cambria" pitchFamily="34" charset="-120"/>
              </a:rPr>
              <a:t>PyTorch</a:t>
            </a:r>
            <a:endParaRPr lang="en-US" sz="1500" dirty="0"/>
          </a:p>
        </p:txBody>
      </p:sp>
      <p:sp>
        <p:nvSpPr>
          <p:cNvPr id="12" name="Text 8"/>
          <p:cNvSpPr/>
          <p:nvPr/>
        </p:nvSpPr>
        <p:spPr>
          <a:xfrm>
            <a:off x="3639312" y="3886200"/>
            <a:ext cx="2057400" cy="1554480"/>
          </a:xfrm>
          <a:prstGeom prst="rect">
            <a:avLst/>
          </a:prstGeom>
          <a:noFill/>
          <a:ln/>
        </p:spPr>
        <p:txBody>
          <a:bodyPr wrap="square" rtlCol="0" anchor="t"/>
          <a:lstStyle/>
          <a:p>
            <a:pPr marL="0" indent="0" algn="ctr">
              <a:buNone/>
            </a:pPr>
            <a:r>
              <a:rPr lang="en-US" sz="1100" dirty="0">
                <a:solidFill>
                  <a:srgbClr val="CADCFC"/>
                </a:solidFill>
                <a:latin typeface="Calibri" pitchFamily="34" charset="0"/>
                <a:ea typeface="Calibri" pitchFamily="34" charset="-122"/>
                <a:cs typeface="Calibri" pitchFamily="34" charset="-120"/>
              </a:rPr>
              <a:t>Prejudice Remover and Adversarial Debiasing implemented from their papers — aif360 was rejected (TF1 chain; temp-file subprocess). Verified by degenerate-case tests.</a:t>
            </a:r>
            <a:endParaRPr lang="en-US" sz="1100" dirty="0"/>
          </a:p>
        </p:txBody>
      </p:sp>
      <p:sp>
        <p:nvSpPr>
          <p:cNvPr id="13" name="Shape 9"/>
          <p:cNvSpPr/>
          <p:nvPr/>
        </p:nvSpPr>
        <p:spPr>
          <a:xfrm>
            <a:off x="6181344" y="1920240"/>
            <a:ext cx="2514600" cy="3657600"/>
          </a:xfrm>
          <a:prstGeom prst="roundRect">
            <a:avLst>
              <a:gd name="adj" fmla="val 3636"/>
            </a:avLst>
          </a:prstGeom>
          <a:solidFill>
            <a:srgbClr val="141A4D"/>
          </a:solidFill>
          <a:ln/>
        </p:spPr>
        <p:txBody>
          <a:bodyPr/>
          <a:lstStyle/>
          <a:p>
            <a:endParaRPr lang="en-US"/>
          </a:p>
        </p:txBody>
      </p:sp>
      <p:sp>
        <p:nvSpPr>
          <p:cNvPr id="14" name="Shape 10"/>
          <p:cNvSpPr/>
          <p:nvPr/>
        </p:nvSpPr>
        <p:spPr>
          <a:xfrm>
            <a:off x="6981444" y="2286000"/>
            <a:ext cx="914400" cy="914400"/>
          </a:xfrm>
          <a:prstGeom prst="ellipse">
            <a:avLst/>
          </a:prstGeom>
          <a:solidFill>
            <a:srgbClr val="CADCFC"/>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7200900" y="2505456"/>
            <a:ext cx="475488" cy="475488"/>
          </a:xfrm>
          <a:prstGeom prst="rect">
            <a:avLst/>
          </a:prstGeom>
        </p:spPr>
      </p:pic>
      <p:sp>
        <p:nvSpPr>
          <p:cNvPr id="16" name="Text 11"/>
          <p:cNvSpPr/>
          <p:nvPr/>
        </p:nvSpPr>
        <p:spPr>
          <a:xfrm>
            <a:off x="6318504" y="3383280"/>
            <a:ext cx="2240280" cy="457200"/>
          </a:xfrm>
          <a:prstGeom prst="rect">
            <a:avLst/>
          </a:prstGeom>
          <a:noFill/>
          <a:ln/>
        </p:spPr>
        <p:txBody>
          <a:bodyPr wrap="square" rtlCol="0" anchor="ctr"/>
          <a:lstStyle/>
          <a:p>
            <a:pPr marL="0" indent="0" algn="ctr">
              <a:buNone/>
            </a:pPr>
            <a:r>
              <a:rPr lang="en-US" sz="1500" b="1" dirty="0">
                <a:solidFill>
                  <a:srgbClr val="E8A33D"/>
                </a:solidFill>
                <a:latin typeface="Cambria" pitchFamily="34" charset="0"/>
                <a:ea typeface="Cambria" pitchFamily="34" charset="-122"/>
                <a:cs typeface="Cambria" pitchFamily="34" charset="-120"/>
              </a:rPr>
              <a:t>scikit-learn</a:t>
            </a:r>
            <a:endParaRPr lang="en-US" sz="1500" dirty="0"/>
          </a:p>
        </p:txBody>
      </p:sp>
      <p:sp>
        <p:nvSpPr>
          <p:cNvPr id="17" name="Text 12"/>
          <p:cNvSpPr/>
          <p:nvPr/>
        </p:nvSpPr>
        <p:spPr>
          <a:xfrm>
            <a:off x="6409944" y="3886200"/>
            <a:ext cx="2057400" cy="1554480"/>
          </a:xfrm>
          <a:prstGeom prst="rect">
            <a:avLst/>
          </a:prstGeom>
          <a:noFill/>
          <a:ln/>
        </p:spPr>
        <p:txBody>
          <a:bodyPr wrap="square" rtlCol="0" anchor="t"/>
          <a:lstStyle/>
          <a:p>
            <a:pPr marL="0" indent="0" algn="ctr">
              <a:buNone/>
            </a:pPr>
            <a:r>
              <a:rPr lang="en-US" sz="1100" dirty="0">
                <a:solidFill>
                  <a:srgbClr val="CADCFC"/>
                </a:solidFill>
                <a:latin typeface="Calibri" pitchFamily="34" charset="0"/>
                <a:ea typeface="Calibri" pitchFamily="34" charset="-122"/>
                <a:cs typeface="Calibri" pitchFamily="34" charset="-120"/>
              </a:rPr>
              <a:t>Decision tree and logistic regression, split, encoding</a:t>
            </a:r>
            <a:endParaRPr lang="en-US" sz="1100" dirty="0"/>
          </a:p>
        </p:txBody>
      </p:sp>
      <p:sp>
        <p:nvSpPr>
          <p:cNvPr id="18" name="Shape 13"/>
          <p:cNvSpPr/>
          <p:nvPr/>
        </p:nvSpPr>
        <p:spPr>
          <a:xfrm>
            <a:off x="8951976" y="1920240"/>
            <a:ext cx="2514600" cy="3657600"/>
          </a:xfrm>
          <a:prstGeom prst="roundRect">
            <a:avLst>
              <a:gd name="adj" fmla="val 3636"/>
            </a:avLst>
          </a:prstGeom>
          <a:solidFill>
            <a:srgbClr val="141A4D"/>
          </a:solidFill>
          <a:ln/>
        </p:spPr>
        <p:txBody>
          <a:bodyPr/>
          <a:lstStyle/>
          <a:p>
            <a:endParaRPr lang="en-US"/>
          </a:p>
        </p:txBody>
      </p:sp>
      <p:sp>
        <p:nvSpPr>
          <p:cNvPr id="19" name="Shape 14"/>
          <p:cNvSpPr/>
          <p:nvPr/>
        </p:nvSpPr>
        <p:spPr>
          <a:xfrm>
            <a:off x="9752076" y="2286000"/>
            <a:ext cx="914400" cy="914400"/>
          </a:xfrm>
          <a:prstGeom prst="ellipse">
            <a:avLst/>
          </a:prstGeom>
          <a:solidFill>
            <a:srgbClr val="CADCFC"/>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9971532" y="2505456"/>
            <a:ext cx="475488" cy="475488"/>
          </a:xfrm>
          <a:prstGeom prst="rect">
            <a:avLst/>
          </a:prstGeom>
        </p:spPr>
      </p:pic>
      <p:sp>
        <p:nvSpPr>
          <p:cNvPr id="21" name="Text 15"/>
          <p:cNvSpPr/>
          <p:nvPr/>
        </p:nvSpPr>
        <p:spPr>
          <a:xfrm>
            <a:off x="9089136" y="3383280"/>
            <a:ext cx="2240280" cy="457200"/>
          </a:xfrm>
          <a:prstGeom prst="rect">
            <a:avLst/>
          </a:prstGeom>
          <a:noFill/>
          <a:ln/>
        </p:spPr>
        <p:txBody>
          <a:bodyPr wrap="square" rtlCol="0" anchor="ctr"/>
          <a:lstStyle/>
          <a:p>
            <a:pPr marL="0" indent="0" algn="ctr">
              <a:buNone/>
            </a:pPr>
            <a:r>
              <a:rPr lang="en-US" sz="1500" b="1" dirty="0">
                <a:solidFill>
                  <a:srgbClr val="E8A33D"/>
                </a:solidFill>
                <a:latin typeface="Cambria" pitchFamily="34" charset="0"/>
                <a:ea typeface="Cambria" pitchFamily="34" charset="-122"/>
                <a:cs typeface="Cambria" pitchFamily="34" charset="-120"/>
              </a:rPr>
              <a:t>shap</a:t>
            </a:r>
            <a:endParaRPr lang="en-US" sz="1500" dirty="0"/>
          </a:p>
        </p:txBody>
      </p:sp>
      <p:sp>
        <p:nvSpPr>
          <p:cNvPr id="22" name="Text 16"/>
          <p:cNvSpPr/>
          <p:nvPr/>
        </p:nvSpPr>
        <p:spPr>
          <a:xfrm>
            <a:off x="9180576" y="3886200"/>
            <a:ext cx="2057400" cy="1554480"/>
          </a:xfrm>
          <a:prstGeom prst="rect">
            <a:avLst/>
          </a:prstGeom>
          <a:noFill/>
          <a:ln/>
        </p:spPr>
        <p:txBody>
          <a:bodyPr wrap="square" rtlCol="0" anchor="t"/>
          <a:lstStyle/>
          <a:p>
            <a:pPr marL="0" indent="0" algn="ctr">
              <a:buNone/>
            </a:pPr>
            <a:r>
              <a:rPr lang="en-US" sz="1100" dirty="0">
                <a:solidFill>
                  <a:srgbClr val="CADCFC"/>
                </a:solidFill>
                <a:latin typeface="Calibri" pitchFamily="34" charset="0"/>
                <a:ea typeface="Calibri" pitchFamily="34" charset="-122"/>
                <a:cs typeface="Calibri" pitchFamily="34" charset="-120"/>
              </a:rPr>
              <a:t>Before/after attribution — stretch goal, completed. It refuted our own prediction.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Definition of Done — all three met</a:t>
            </a:r>
            <a:endParaRPr lang="en-US" sz="3000" dirty="0"/>
          </a:p>
        </p:txBody>
      </p:sp>
      <p:sp>
        <p:nvSpPr>
          <p:cNvPr id="3" name="Text 1"/>
          <p:cNvSpPr/>
          <p:nvPr/>
        </p:nvSpPr>
        <p:spPr>
          <a:xfrm>
            <a:off x="640080" y="1143000"/>
            <a:ext cx="5577840" cy="365760"/>
          </a:xfrm>
          <a:prstGeom prst="rect">
            <a:avLst/>
          </a:prstGeom>
          <a:noFill/>
          <a:ln/>
        </p:spPr>
        <p:txBody>
          <a:bodyPr wrap="square" rtlCol="0" anchor="ctr"/>
          <a:lstStyle/>
          <a:p>
            <a:pPr marL="0" indent="0">
              <a:buNone/>
            </a:pPr>
            <a:r>
              <a:rPr lang="en-US" sz="1250" dirty="0">
                <a:solidFill>
                  <a:srgbClr val="5A6270"/>
                </a:solidFill>
                <a:latin typeface="Calibri" pitchFamily="34" charset="0"/>
                <a:ea typeface="Calibri" pitchFamily="34" charset="-122"/>
                <a:cs typeface="Calibri" pitchFamily="34" charset="-120"/>
              </a:rPr>
              <a:t>Accuracy vs. demographic parity violation — measured</a:t>
            </a:r>
            <a:endParaRPr lang="en-US" sz="1250" dirty="0"/>
          </a:p>
        </p:txBody>
      </p:sp>
      <p:sp>
        <p:nvSpPr>
          <p:cNvPr id="5" name="Text 2"/>
          <p:cNvSpPr/>
          <p:nvPr/>
        </p:nvSpPr>
        <p:spPr>
          <a:xfrm>
            <a:off x="640080" y="4251960"/>
            <a:ext cx="5577840" cy="320040"/>
          </a:xfrm>
          <a:prstGeom prst="rect">
            <a:avLst/>
          </a:prstGeom>
          <a:noFill/>
          <a:ln/>
        </p:spPr>
        <p:txBody>
          <a:bodyPr wrap="square" rtlCol="0" anchor="ctr"/>
          <a:lstStyle/>
          <a:p>
            <a:pPr marL="0" indent="0">
              <a:buNone/>
            </a:pPr>
            <a:r>
              <a:rPr lang="en-US" sz="1050" i="1" dirty="0">
                <a:solidFill>
                  <a:srgbClr val="5A6270"/>
                </a:solidFill>
                <a:latin typeface="Calibri" pitchFamily="34" charset="0"/>
                <a:ea typeface="Calibri" pitchFamily="34" charset="-122"/>
                <a:cs typeface="Calibri" pitchFamily="34" charset="-120"/>
              </a:rPr>
              <a:t>Real GridSearch sweep, 15 λ values. Open rings mark the non-dominated frontier; dominated points are shown too.</a:t>
            </a:r>
            <a:endParaRPr lang="en-US" sz="1050" dirty="0"/>
          </a:p>
        </p:txBody>
      </p:sp>
      <p:sp>
        <p:nvSpPr>
          <p:cNvPr id="6" name="Shape 3"/>
          <p:cNvSpPr/>
          <p:nvPr/>
        </p:nvSpPr>
        <p:spPr>
          <a:xfrm>
            <a:off x="6446520" y="1143000"/>
            <a:ext cx="5074920" cy="3017520"/>
          </a:xfrm>
          <a:prstGeom prst="roundRect">
            <a:avLst>
              <a:gd name="adj" fmla="val 3030"/>
            </a:avLst>
          </a:prstGeom>
          <a:solidFill>
            <a:srgbClr val="F4F6FB"/>
          </a:solidFill>
          <a:ln/>
        </p:spPr>
        <p:txBody>
          <a:bodyPr/>
          <a:lstStyle/>
          <a:p>
            <a:endParaRPr lang="en-US"/>
          </a:p>
        </p:txBody>
      </p:sp>
      <p:sp>
        <p:nvSpPr>
          <p:cNvPr id="7" name="Shape 4"/>
          <p:cNvSpPr/>
          <p:nvPr/>
        </p:nvSpPr>
        <p:spPr>
          <a:xfrm>
            <a:off x="6675120" y="1371600"/>
            <a:ext cx="594360" cy="594360"/>
          </a:xfrm>
          <a:prstGeom prst="ellipse">
            <a:avLst/>
          </a:prstGeom>
          <a:solidFill>
            <a:srgbClr val="1E2761"/>
          </a:solidFill>
          <a:ln/>
        </p:spPr>
        <p:txBody>
          <a:bodyPr/>
          <a:lstStyle/>
          <a:p>
            <a:endParaRPr lang="en-US"/>
          </a:p>
        </p:txBody>
      </p:sp>
      <p:pic>
        <p:nvPicPr>
          <p:cNvPr id="8" name="Image 0" descr="preencoded.png"/>
          <p:cNvPicPr>
            <a:picLocks noChangeAspect="1"/>
          </p:cNvPicPr>
          <p:nvPr/>
        </p:nvPicPr>
        <p:blipFill>
          <a:blip r:embed="rId4"/>
          <a:stretch>
            <a:fillRect/>
          </a:stretch>
        </p:blipFill>
        <p:spPr>
          <a:xfrm>
            <a:off x="6805879" y="1502359"/>
            <a:ext cx="332842" cy="332842"/>
          </a:xfrm>
          <a:prstGeom prst="rect">
            <a:avLst/>
          </a:prstGeom>
        </p:spPr>
      </p:pic>
      <p:sp>
        <p:nvSpPr>
          <p:cNvPr id="9" name="Text 5"/>
          <p:cNvSpPr/>
          <p:nvPr/>
        </p:nvSpPr>
        <p:spPr>
          <a:xfrm>
            <a:off x="7406640" y="1371600"/>
            <a:ext cx="3931920" cy="5943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Results table</a:t>
            </a:r>
            <a:endParaRPr lang="en-US" sz="1500" dirty="0"/>
          </a:p>
        </p:txBody>
      </p:sp>
      <p:sp>
        <p:nvSpPr>
          <p:cNvPr id="10" name="Text 6"/>
          <p:cNvSpPr/>
          <p:nvPr/>
        </p:nvSpPr>
        <p:spPr>
          <a:xfrm>
            <a:off x="6675120" y="2103120"/>
            <a:ext cx="4572000" cy="1920240"/>
          </a:xfrm>
          <a:prstGeom prst="rect">
            <a:avLst/>
          </a:prstGeom>
          <a:noFill/>
          <a:ln/>
        </p:spPr>
        <p:txBody>
          <a:bodyPr wrap="square" rtlCol="0" anchor="t"/>
          <a:lstStyle/>
          <a:p>
            <a:pPr marL="0" indent="0">
              <a:lnSpc>
                <a:spcPct val="125000"/>
              </a:lnSpc>
              <a:buNone/>
            </a:pPr>
            <a:r>
              <a:rPr lang="en-US" sz="1150" dirty="0">
                <a:solidFill>
                  <a:srgbClr val="5A6270"/>
                </a:solidFill>
                <a:latin typeface="Calibri" pitchFamily="34" charset="0"/>
                <a:ea typeface="Calibri" pitchFamily="34" charset="-122"/>
                <a:cs typeface="Calibri" pitchFamily="34" charset="-120"/>
              </a:rPr>
              <a:t>Rows: Baseline, Exp. Gradient (DP), Exp. Gradient (EO), GridSearch, Prejudice Remover, Adversarial Debiasing</a:t>
            </a:r>
            <a:endParaRPr lang="en-US" sz="1150" dirty="0"/>
          </a:p>
          <a:p>
            <a:pPr marL="0" indent="0">
              <a:lnSpc>
                <a:spcPct val="125000"/>
              </a:lnSpc>
              <a:buNone/>
            </a:pPr>
            <a:endParaRPr lang="en-US" sz="1150" dirty="0"/>
          </a:p>
          <a:p>
            <a:pPr marL="0" indent="0">
              <a:lnSpc>
                <a:spcPct val="125000"/>
              </a:lnSpc>
              <a:buNone/>
            </a:pPr>
            <a:r>
              <a:rPr lang="en-US" sz="1150" dirty="0">
                <a:solidFill>
                  <a:srgbClr val="5A6270"/>
                </a:solidFill>
                <a:latin typeface="Calibri" pitchFamily="34" charset="0"/>
                <a:ea typeface="Calibri" pitchFamily="34" charset="-122"/>
                <a:cs typeface="Calibri" pitchFamily="34" charset="-120"/>
              </a:rPr>
              <a:t>Columns: Accuracy, Demographic Parity Diff, Equalized Odds Diff, Disparate Impact</a:t>
            </a:r>
            <a:endParaRPr lang="en-US" sz="1150" dirty="0"/>
          </a:p>
        </p:txBody>
      </p:sp>
      <p:sp>
        <p:nvSpPr>
          <p:cNvPr id="11" name="Text 7"/>
          <p:cNvSpPr/>
          <p:nvPr/>
        </p:nvSpPr>
        <p:spPr>
          <a:xfrm>
            <a:off x="640080" y="4526280"/>
            <a:ext cx="105156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The three ablation questions — answered</a:t>
            </a:r>
            <a:endParaRPr lang="en-US" sz="1500" dirty="0"/>
          </a:p>
        </p:txBody>
      </p:sp>
      <p:sp>
        <p:nvSpPr>
          <p:cNvPr id="12" name="Shape 8"/>
          <p:cNvSpPr/>
          <p:nvPr/>
        </p:nvSpPr>
        <p:spPr>
          <a:xfrm>
            <a:off x="640080" y="5029200"/>
            <a:ext cx="201168" cy="201168"/>
          </a:xfrm>
          <a:prstGeom prst="ellipse">
            <a:avLst/>
          </a:prstGeom>
          <a:solidFill>
            <a:srgbClr val="E8A33D"/>
          </a:solidFill>
          <a:ln/>
        </p:spPr>
        <p:txBody>
          <a:bodyPr/>
          <a:lstStyle/>
          <a:p>
            <a:endParaRPr lang="en-US"/>
          </a:p>
        </p:txBody>
      </p:sp>
      <p:sp>
        <p:nvSpPr>
          <p:cNvPr id="13" name="Text 9"/>
          <p:cNvSpPr/>
          <p:nvPr/>
        </p:nvSpPr>
        <p:spPr>
          <a:xfrm>
            <a:off x="1005840" y="4983480"/>
            <a:ext cx="10332720" cy="411480"/>
          </a:xfrm>
          <a:prstGeom prst="rect">
            <a:avLst/>
          </a:prstGeom>
          <a:noFill/>
          <a:ln/>
        </p:spPr>
        <p:txBody>
          <a:bodyPr wrap="square" rtlCol="0" anchor="ctr"/>
          <a:lstStyle/>
          <a:p>
            <a:pPr marL="0" indent="0">
              <a:buNone/>
            </a:pPr>
            <a:r>
              <a:rPr lang="en-US" sz="1300" dirty="0">
                <a:solidFill>
                  <a:srgbClr val="1B1B1F"/>
                </a:solidFill>
                <a:latin typeface="Calibri" pitchFamily="34" charset="0"/>
                <a:ea typeface="Calibri" pitchFamily="34" charset="-122"/>
                <a:cs typeface="Calibri" pitchFamily="34" charset="-120"/>
              </a:rPr>
              <a:t>Closest to zero bias per accuracy point? Prejudice Remover (11.7 pts/pt) — but GridSearch reaches the lowest absolute gap.</a:t>
            </a:r>
            <a:endParaRPr lang="en-US" sz="1300" dirty="0"/>
          </a:p>
        </p:txBody>
      </p:sp>
      <p:sp>
        <p:nvSpPr>
          <p:cNvPr id="14" name="Shape 10"/>
          <p:cNvSpPr/>
          <p:nvPr/>
        </p:nvSpPr>
        <p:spPr>
          <a:xfrm>
            <a:off x="640080" y="5532120"/>
            <a:ext cx="201168" cy="201168"/>
          </a:xfrm>
          <a:prstGeom prst="ellipse">
            <a:avLst/>
          </a:prstGeom>
          <a:solidFill>
            <a:srgbClr val="E8A33D"/>
          </a:solidFill>
          <a:ln/>
        </p:spPr>
        <p:txBody>
          <a:bodyPr/>
          <a:lstStyle/>
          <a:p>
            <a:endParaRPr lang="en-US"/>
          </a:p>
        </p:txBody>
      </p:sp>
      <p:sp>
        <p:nvSpPr>
          <p:cNvPr id="15" name="Text 11"/>
          <p:cNvSpPr/>
          <p:nvPr/>
        </p:nvSpPr>
        <p:spPr>
          <a:xfrm>
            <a:off x="1005840" y="5486400"/>
            <a:ext cx="10332720" cy="411480"/>
          </a:xfrm>
          <a:prstGeom prst="rect">
            <a:avLst/>
          </a:prstGeom>
          <a:noFill/>
          <a:ln/>
        </p:spPr>
        <p:txBody>
          <a:bodyPr wrap="square" rtlCol="0" anchor="ctr"/>
          <a:lstStyle/>
          <a:p>
            <a:pPr marL="0" indent="0">
              <a:buNone/>
            </a:pPr>
            <a:r>
              <a:rPr lang="en-US" sz="1300" dirty="0">
                <a:solidFill>
                  <a:srgbClr val="1B1B1F"/>
                </a:solidFill>
                <a:latin typeface="Calibri" pitchFamily="34" charset="0"/>
                <a:ea typeface="Calibri" pitchFamily="34" charset="-122"/>
                <a:cs typeface="Calibri" pitchFamily="34" charset="-120"/>
              </a:rPr>
              <a:t>Most stable? Adversarial Debiasing — the opposite of what we predicted. GridSearch is the least stable, by 6×.</a:t>
            </a:r>
            <a:endParaRPr lang="en-US" sz="1300" dirty="0"/>
          </a:p>
        </p:txBody>
      </p:sp>
      <p:sp>
        <p:nvSpPr>
          <p:cNvPr id="16" name="Shape 12"/>
          <p:cNvSpPr/>
          <p:nvPr/>
        </p:nvSpPr>
        <p:spPr>
          <a:xfrm>
            <a:off x="640080" y="6035040"/>
            <a:ext cx="201168" cy="201168"/>
          </a:xfrm>
          <a:prstGeom prst="ellipse">
            <a:avLst/>
          </a:prstGeom>
          <a:solidFill>
            <a:srgbClr val="E8A33D"/>
          </a:solidFill>
          <a:ln/>
        </p:spPr>
        <p:txBody>
          <a:bodyPr/>
          <a:lstStyle/>
          <a:p>
            <a:endParaRPr lang="en-US"/>
          </a:p>
        </p:txBody>
      </p:sp>
      <p:sp>
        <p:nvSpPr>
          <p:cNvPr id="17" name="Text 13"/>
          <p:cNvSpPr/>
          <p:nvPr/>
        </p:nvSpPr>
        <p:spPr>
          <a:xfrm>
            <a:off x="1005840" y="5989320"/>
            <a:ext cx="10332720" cy="411480"/>
          </a:xfrm>
          <a:prstGeom prst="rect">
            <a:avLst/>
          </a:prstGeom>
          <a:noFill/>
          <a:ln/>
        </p:spPr>
        <p:txBody>
          <a:bodyPr wrap="square" rtlCol="0" anchor="ctr"/>
          <a:lstStyle/>
          <a:p>
            <a:pPr marL="0" indent="0">
              <a:buNone/>
            </a:pPr>
            <a:r>
              <a:rPr lang="en-US" sz="1300" dirty="0">
                <a:solidFill>
                  <a:srgbClr val="1B1B1F"/>
                </a:solidFill>
                <a:latin typeface="Calibri" pitchFamily="34" charset="0"/>
                <a:ea typeface="Calibri" pitchFamily="34" charset="-122"/>
                <a:cs typeface="Calibri" pitchFamily="34" charset="-120"/>
              </a:rPr>
              <a:t>Does the ranking change by metric? It inverts. Four of five methods are worse than no mitigation on equalized odds.</a:t>
            </a:r>
            <a:endParaRPr lang="en-US" sz="1300" dirty="0"/>
          </a:p>
        </p:txBody>
      </p:sp>
      <p:pic>
        <p:nvPicPr>
          <p:cNvPr id="18" name="Picture 17" descr="pareto_demographic_parity.png"/>
          <p:cNvPicPr>
            <a:picLocks noChangeAspect="1"/>
          </p:cNvPicPr>
          <p:nvPr/>
        </p:nvPicPr>
        <p:blipFill>
          <a:blip r:embed="rId5"/>
          <a:stretch>
            <a:fillRect/>
          </a:stretch>
        </p:blipFill>
        <p:spPr>
          <a:xfrm>
            <a:off x="640080" y="1554480"/>
            <a:ext cx="5577840" cy="379466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00000"/>
              </a:lnSpc>
            </a:pPr>
            <a:r>
              <a:rPr sz="2600" b="1">
                <a:solidFill>
                  <a:srgbClr val="1E2761"/>
                </a:solidFill>
                <a:latin typeface="Cambria"/>
              </a:rPr>
              <a:t>Result 1 — The Unmitigated Baseline</a:t>
            </a:r>
          </a:p>
        </p:txBody>
      </p:sp>
      <p:sp>
        <p:nvSpPr>
          <p:cNvPr id="3" name="TextBox 2"/>
          <p:cNvSpPr txBox="1"/>
          <p:nvPr/>
        </p:nvSpPr>
        <p:spPr>
          <a:xfrm>
            <a:off x="640080" y="1033271"/>
            <a:ext cx="10881360" cy="384048"/>
          </a:xfrm>
          <a:prstGeom prst="rect">
            <a:avLst/>
          </a:prstGeom>
          <a:noFill/>
        </p:spPr>
        <p:txBody>
          <a:bodyPr wrap="square">
            <a:spAutoFit/>
          </a:bodyPr>
          <a:lstStyle/>
          <a:p>
            <a:pPr algn="l">
              <a:lnSpc>
                <a:spcPct val="100000"/>
              </a:lnSpc>
            </a:pPr>
            <a:r>
              <a:rPr sz="1350" b="0">
                <a:solidFill>
                  <a:srgbClr val="5A6270"/>
                </a:solidFill>
                <a:latin typeface="Calibri"/>
              </a:rPr>
              <a:t>5 random seeds, mean ± std. This is what there is to fix.</a:t>
            </a:r>
          </a:p>
        </p:txBody>
      </p:sp>
      <p:graphicFrame>
        <p:nvGraphicFramePr>
          <p:cNvPr id="4" name="Table 3"/>
          <p:cNvGraphicFramePr>
            <a:graphicFrameLocks noGrp="1"/>
          </p:cNvGraphicFramePr>
          <p:nvPr/>
        </p:nvGraphicFramePr>
        <p:xfrm>
          <a:off x="640080" y="1645920"/>
          <a:ext cx="10881360" cy="1042416"/>
        </p:xfrm>
        <a:graphic>
          <a:graphicData uri="http://schemas.openxmlformats.org/drawingml/2006/table">
            <a:tbl>
              <a:tblPr firstRow="1">
                <a:tableStyleId>{5C22544A-7EE6-4342-B048-85BDC9FD1C3A}</a:tableStyleId>
              </a:tblPr>
              <a:tblGrid>
                <a:gridCol w="2720340"/>
                <a:gridCol w="1994916"/>
                <a:gridCol w="1994916"/>
                <a:gridCol w="1994916"/>
                <a:gridCol w="2176272"/>
              </a:tblGrid>
              <a:tr h="384048">
                <a:tc>
                  <a:txBody>
                    <a:bodyPr wrap="square"/>
                    <a:lstStyle/>
                    <a:p>
                      <a:pPr algn="l"/>
                      <a:r>
                        <a:rPr sz="1100" b="1">
                          <a:solidFill>
                            <a:srgbClr val="FFFFFF"/>
                          </a:solidFill>
                          <a:latin typeface="Calibri"/>
                        </a:rPr>
                        <a:t>Base classifier</a:t>
                      </a:r>
                    </a:p>
                  </a:txBody>
                  <a:tcPr marL="91440" marR="73152" marT="18288" marB="18288">
                    <a:solidFill>
                      <a:srgbClr val="1E2761"/>
                    </a:solidFill>
                  </a:tcPr>
                </a:tc>
                <a:tc>
                  <a:txBody>
                    <a:bodyPr wrap="square"/>
                    <a:lstStyle/>
                    <a:p>
                      <a:pPr algn="r"/>
                      <a:r>
                        <a:rPr sz="1100" b="1">
                          <a:solidFill>
                            <a:srgbClr val="FFFFFF"/>
                          </a:solidFill>
                          <a:latin typeface="Calibri"/>
                        </a:rPr>
                        <a:t>Accuracy</a:t>
                      </a:r>
                    </a:p>
                  </a:txBody>
                  <a:tcPr marL="91440" marR="73152" marT="18288" marB="18288">
                    <a:solidFill>
                      <a:srgbClr val="1E2761"/>
                    </a:solidFill>
                  </a:tcPr>
                </a:tc>
                <a:tc>
                  <a:txBody>
                    <a:bodyPr wrap="square"/>
                    <a:lstStyle/>
                    <a:p>
                      <a:pPr algn="r"/>
                      <a:r>
                        <a:rPr sz="1100" b="1">
                          <a:solidFill>
                            <a:srgbClr val="FFFFFF"/>
                          </a:solidFill>
                          <a:latin typeface="Calibri"/>
                        </a:rPr>
                        <a:t>DP diff</a:t>
                      </a:r>
                    </a:p>
                  </a:txBody>
                  <a:tcPr marL="91440" marR="73152" marT="18288" marB="18288">
                    <a:solidFill>
                      <a:srgbClr val="1E2761"/>
                    </a:solidFill>
                  </a:tcPr>
                </a:tc>
                <a:tc>
                  <a:txBody>
                    <a:bodyPr wrap="square"/>
                    <a:lstStyle/>
                    <a:p>
                      <a:pPr algn="r"/>
                      <a:r>
                        <a:rPr sz="1100" b="1">
                          <a:solidFill>
                            <a:srgbClr val="FFFFFF"/>
                          </a:solidFill>
                          <a:latin typeface="Calibri"/>
                        </a:rPr>
                        <a:t>EO diff</a:t>
                      </a:r>
                    </a:p>
                  </a:txBody>
                  <a:tcPr marL="91440" marR="73152" marT="18288" marB="18288">
                    <a:solidFill>
                      <a:srgbClr val="1E2761"/>
                    </a:solidFill>
                  </a:tcPr>
                </a:tc>
                <a:tc>
                  <a:txBody>
                    <a:bodyPr wrap="square"/>
                    <a:lstStyle/>
                    <a:p>
                      <a:pPr algn="r"/>
                      <a:r>
                        <a:rPr sz="1100" b="1">
                          <a:solidFill>
                            <a:srgbClr val="FFFFFF"/>
                          </a:solidFill>
                          <a:latin typeface="Calibri"/>
                        </a:rPr>
                        <a:t>Disparate impact</a:t>
                      </a:r>
                    </a:p>
                  </a:txBody>
                  <a:tcPr marL="91440" marR="73152" marT="18288" marB="18288">
                    <a:solidFill>
                      <a:srgbClr val="1E2761"/>
                    </a:solidFill>
                  </a:tcPr>
                </a:tc>
              </a:tr>
              <a:tr h="329184">
                <a:tc>
                  <a:txBody>
                    <a:bodyPr wrap="square"/>
                    <a:lstStyle/>
                    <a:p>
                      <a:pPr algn="l"/>
                      <a:r>
                        <a:rPr sz="1150" b="0">
                          <a:solidFill>
                            <a:srgbClr val="1B1B1F"/>
                          </a:solidFill>
                          <a:latin typeface="Calibri"/>
                        </a:rPr>
                        <a:t>Decision tree</a:t>
                      </a:r>
                    </a:p>
                  </a:txBody>
                  <a:tcPr marL="91440" marR="73152" marT="18288" marB="18288">
                    <a:solidFill>
                      <a:srgbClr val="FFFFFF"/>
                    </a:solidFill>
                  </a:tcPr>
                </a:tc>
                <a:tc>
                  <a:txBody>
                    <a:bodyPr wrap="square"/>
                    <a:lstStyle/>
                    <a:p>
                      <a:pPr algn="r"/>
                      <a:r>
                        <a:rPr sz="1150" b="0">
                          <a:solidFill>
                            <a:srgbClr val="1B1B1F"/>
                          </a:solidFill>
                          <a:latin typeface="Calibri"/>
                        </a:rPr>
                        <a:t>0.8518</a:t>
                      </a:r>
                    </a:p>
                  </a:txBody>
                  <a:tcPr marL="91440" marR="73152" marT="18288" marB="18288">
                    <a:solidFill>
                      <a:srgbClr val="FFFFFF"/>
                    </a:solidFill>
                  </a:tcPr>
                </a:tc>
                <a:tc>
                  <a:txBody>
                    <a:bodyPr wrap="square"/>
                    <a:lstStyle/>
                    <a:p>
                      <a:pPr algn="r"/>
                      <a:r>
                        <a:rPr sz="1150" b="0">
                          <a:solidFill>
                            <a:srgbClr val="1B1B1F"/>
                          </a:solidFill>
                          <a:latin typeface="Calibri"/>
                        </a:rPr>
                        <a:t>0.1556</a:t>
                      </a:r>
                    </a:p>
                  </a:txBody>
                  <a:tcPr marL="91440" marR="73152" marT="18288" marB="18288">
                    <a:solidFill>
                      <a:srgbClr val="FFFFFF"/>
                    </a:solidFill>
                  </a:tcPr>
                </a:tc>
                <a:tc>
                  <a:txBody>
                    <a:bodyPr wrap="square"/>
                    <a:lstStyle/>
                    <a:p>
                      <a:pPr algn="r"/>
                      <a:r>
                        <a:rPr sz="1150" b="0">
                          <a:solidFill>
                            <a:srgbClr val="1B1B1F"/>
                          </a:solidFill>
                          <a:latin typeface="Calibri"/>
                        </a:rPr>
                        <a:t>0.0799</a:t>
                      </a:r>
                    </a:p>
                  </a:txBody>
                  <a:tcPr marL="91440" marR="73152" marT="18288" marB="18288">
                    <a:solidFill>
                      <a:srgbClr val="FFFFFF"/>
                    </a:solidFill>
                  </a:tcPr>
                </a:tc>
                <a:tc>
                  <a:txBody>
                    <a:bodyPr wrap="square"/>
                    <a:lstStyle/>
                    <a:p>
                      <a:pPr algn="r"/>
                      <a:r>
                        <a:rPr sz="1150" b="0">
                          <a:solidFill>
                            <a:srgbClr val="1B1B1F"/>
                          </a:solidFill>
                          <a:latin typeface="Calibri"/>
                        </a:rPr>
                        <a:t>0.3061</a:t>
                      </a:r>
                    </a:p>
                  </a:txBody>
                  <a:tcPr marL="91440" marR="73152" marT="18288" marB="18288">
                    <a:solidFill>
                      <a:srgbClr val="FFFFFF"/>
                    </a:solidFill>
                  </a:tcPr>
                </a:tc>
              </a:tr>
              <a:tr h="329184">
                <a:tc>
                  <a:txBody>
                    <a:bodyPr wrap="square"/>
                    <a:lstStyle/>
                    <a:p>
                      <a:pPr algn="l"/>
                      <a:r>
                        <a:rPr sz="1150" b="0">
                          <a:solidFill>
                            <a:srgbClr val="1B1B1F"/>
                          </a:solidFill>
                          <a:latin typeface="Calibri"/>
                        </a:rPr>
                        <a:t>Logistic regression</a:t>
                      </a:r>
                    </a:p>
                  </a:txBody>
                  <a:tcPr marL="91440" marR="73152" marT="18288" marB="18288">
                    <a:solidFill>
                      <a:srgbClr val="F4F6FA"/>
                    </a:solidFill>
                  </a:tcPr>
                </a:tc>
                <a:tc>
                  <a:txBody>
                    <a:bodyPr wrap="square"/>
                    <a:lstStyle/>
                    <a:p>
                      <a:pPr algn="r"/>
                      <a:r>
                        <a:rPr sz="1150" b="0">
                          <a:solidFill>
                            <a:srgbClr val="1B1B1F"/>
                          </a:solidFill>
                          <a:latin typeface="Calibri"/>
                        </a:rPr>
                        <a:t>0.8465</a:t>
                      </a:r>
                    </a:p>
                  </a:txBody>
                  <a:tcPr marL="91440" marR="73152" marT="18288" marB="18288">
                    <a:solidFill>
                      <a:srgbClr val="F4F6FA"/>
                    </a:solidFill>
                  </a:tcPr>
                </a:tc>
                <a:tc>
                  <a:txBody>
                    <a:bodyPr wrap="square"/>
                    <a:lstStyle/>
                    <a:p>
                      <a:pPr algn="r"/>
                      <a:r>
                        <a:rPr sz="1150" b="0">
                          <a:solidFill>
                            <a:srgbClr val="1B1B1F"/>
                          </a:solidFill>
                          <a:latin typeface="Calibri"/>
                        </a:rPr>
                        <a:t>0.1897</a:t>
                      </a:r>
                    </a:p>
                  </a:txBody>
                  <a:tcPr marL="91440" marR="73152" marT="18288" marB="18288">
                    <a:solidFill>
                      <a:srgbClr val="F4F6FA"/>
                    </a:solidFill>
                  </a:tcPr>
                </a:tc>
                <a:tc>
                  <a:txBody>
                    <a:bodyPr wrap="square"/>
                    <a:lstStyle/>
                    <a:p>
                      <a:pPr algn="r"/>
                      <a:r>
                        <a:rPr sz="1150" b="0">
                          <a:solidFill>
                            <a:srgbClr val="1B1B1F"/>
                          </a:solidFill>
                          <a:latin typeface="Calibri"/>
                        </a:rPr>
                        <a:t>0.1057</a:t>
                      </a:r>
                    </a:p>
                  </a:txBody>
                  <a:tcPr marL="91440" marR="73152" marT="18288" marB="18288">
                    <a:solidFill>
                      <a:srgbClr val="F4F6FA"/>
                    </a:solidFill>
                  </a:tcPr>
                </a:tc>
                <a:tc>
                  <a:txBody>
                    <a:bodyPr wrap="square"/>
                    <a:lstStyle/>
                    <a:p>
                      <a:pPr algn="r"/>
                      <a:r>
                        <a:rPr sz="1150" b="0">
                          <a:solidFill>
                            <a:srgbClr val="1B1B1F"/>
                          </a:solidFill>
                          <a:latin typeface="Calibri"/>
                        </a:rPr>
                        <a:t>0.2896</a:t>
                      </a:r>
                    </a:p>
                  </a:txBody>
                  <a:tcPr marL="91440" marR="73152" marT="18288" marB="18288">
                    <a:solidFill>
                      <a:srgbClr val="F4F6FA"/>
                    </a:solidFill>
                  </a:tcPr>
                </a:tc>
              </a:tr>
            </a:tbl>
          </a:graphicData>
        </a:graphic>
      </p:graphicFrame>
      <p:sp>
        <p:nvSpPr>
          <p:cNvPr id="5" name="Rounded Rectangle 4"/>
          <p:cNvSpPr/>
          <p:nvPr/>
        </p:nvSpPr>
        <p:spPr>
          <a:xfrm>
            <a:off x="640080" y="3291840"/>
            <a:ext cx="10881360" cy="123444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3429000"/>
            <a:ext cx="10332720" cy="960120"/>
          </a:xfrm>
          <a:prstGeom prst="rect">
            <a:avLst/>
          </a:prstGeom>
          <a:noFill/>
        </p:spPr>
        <p:txBody>
          <a:bodyPr wrap="square">
            <a:spAutoFit/>
          </a:bodyPr>
          <a:lstStyle/>
          <a:p>
            <a:pPr algn="l">
              <a:lnSpc>
                <a:spcPct val="100000"/>
              </a:lnSpc>
            </a:pPr>
            <a:r>
              <a:rPr sz="1400" b="0">
                <a:solidFill>
                  <a:srgbClr val="1B1B1F"/>
                </a:solidFill>
                <a:latin typeface="Calibri"/>
              </a:rPr>
              <a:t>Disparate impact of 0.29–0.31 means women are selected at under a third of the male rate. The EEOC four-fifths rule flags anything below 0.80 — this is off by nearly a factor of three.</a:t>
            </a:r>
          </a:p>
        </p:txBody>
      </p:sp>
      <p:sp>
        <p:nvSpPr>
          <p:cNvPr id="7" name="TextBox 6"/>
          <p:cNvSpPr txBox="1"/>
          <p:nvPr/>
        </p:nvSpPr>
        <p:spPr>
          <a:xfrm>
            <a:off x="640080" y="4800600"/>
            <a:ext cx="3291840" cy="566928"/>
          </a:xfrm>
          <a:prstGeom prst="rect">
            <a:avLst/>
          </a:prstGeom>
          <a:noFill/>
        </p:spPr>
        <p:txBody>
          <a:bodyPr wrap="square">
            <a:spAutoFit/>
          </a:bodyPr>
          <a:lstStyle/>
          <a:p>
            <a:pPr algn="ctr">
              <a:lnSpc>
                <a:spcPct val="100000"/>
              </a:lnSpc>
            </a:pPr>
            <a:r>
              <a:rPr sz="3000" b="1">
                <a:solidFill>
                  <a:srgbClr val="EB6834"/>
                </a:solidFill>
                <a:latin typeface="Cambria"/>
              </a:rPr>
              <a:t>0.30</a:t>
            </a:r>
          </a:p>
        </p:txBody>
      </p:sp>
      <p:sp>
        <p:nvSpPr>
          <p:cNvPr id="8" name="TextBox 7"/>
          <p:cNvSpPr txBox="1"/>
          <p:nvPr/>
        </p:nvSpPr>
        <p:spPr>
          <a:xfrm>
            <a:off x="640080" y="5367528"/>
            <a:ext cx="3291840" cy="685800"/>
          </a:xfrm>
          <a:prstGeom prst="rect">
            <a:avLst/>
          </a:prstGeom>
          <a:noFill/>
        </p:spPr>
        <p:txBody>
          <a:bodyPr wrap="square">
            <a:spAutoFit/>
          </a:bodyPr>
          <a:lstStyle/>
          <a:p>
            <a:pPr algn="ctr">
              <a:lnSpc>
                <a:spcPct val="95000"/>
              </a:lnSpc>
            </a:pPr>
            <a:r>
              <a:rPr sz="1100" b="0">
                <a:solidFill>
                  <a:srgbClr val="5A6270"/>
                </a:solidFill>
                <a:latin typeface="Calibri"/>
              </a:rPr>
              <a:t>disparate impact</a:t>
            </a:r>
          </a:p>
          <a:p>
            <a:pPr algn="ctr">
              <a:lnSpc>
                <a:spcPct val="95000"/>
              </a:lnSpc>
            </a:pPr>
            <a:r>
              <a:rPr sz="1100" b="0">
                <a:solidFill>
                  <a:srgbClr val="5A6270"/>
                </a:solidFill>
                <a:latin typeface="Calibri"/>
              </a:rPr>
              <a:t>(0.80 is the legal threshold)</a:t>
            </a:r>
          </a:p>
        </p:txBody>
      </p:sp>
      <p:sp>
        <p:nvSpPr>
          <p:cNvPr id="9" name="TextBox 8"/>
          <p:cNvSpPr txBox="1"/>
          <p:nvPr/>
        </p:nvSpPr>
        <p:spPr>
          <a:xfrm>
            <a:off x="4434840" y="4800600"/>
            <a:ext cx="3291840" cy="566928"/>
          </a:xfrm>
          <a:prstGeom prst="rect">
            <a:avLst/>
          </a:prstGeom>
          <a:noFill/>
        </p:spPr>
        <p:txBody>
          <a:bodyPr wrap="square">
            <a:spAutoFit/>
          </a:bodyPr>
          <a:lstStyle/>
          <a:p>
            <a:pPr algn="ctr">
              <a:lnSpc>
                <a:spcPct val="100000"/>
              </a:lnSpc>
            </a:pPr>
            <a:r>
              <a:rPr sz="3000" b="1">
                <a:solidFill>
                  <a:srgbClr val="1E2761"/>
                </a:solidFill>
                <a:latin typeface="Cambria"/>
              </a:rPr>
              <a:t>85%</a:t>
            </a:r>
          </a:p>
        </p:txBody>
      </p:sp>
      <p:sp>
        <p:nvSpPr>
          <p:cNvPr id="10" name="TextBox 9"/>
          <p:cNvSpPr txBox="1"/>
          <p:nvPr/>
        </p:nvSpPr>
        <p:spPr>
          <a:xfrm>
            <a:off x="4434840" y="5367528"/>
            <a:ext cx="3291840" cy="685800"/>
          </a:xfrm>
          <a:prstGeom prst="rect">
            <a:avLst/>
          </a:prstGeom>
          <a:noFill/>
        </p:spPr>
        <p:txBody>
          <a:bodyPr wrap="square">
            <a:spAutoFit/>
          </a:bodyPr>
          <a:lstStyle/>
          <a:p>
            <a:pPr algn="ctr">
              <a:lnSpc>
                <a:spcPct val="95000"/>
              </a:lnSpc>
            </a:pPr>
            <a:r>
              <a:rPr sz="1100" b="0">
                <a:solidFill>
                  <a:srgbClr val="5A6270"/>
                </a:solidFill>
                <a:latin typeface="Calibri"/>
              </a:rPr>
              <a:t>accuracy — the metric a team</a:t>
            </a:r>
          </a:p>
          <a:p>
            <a:pPr algn="ctr">
              <a:lnSpc>
                <a:spcPct val="95000"/>
              </a:lnSpc>
            </a:pPr>
            <a:r>
              <a:rPr sz="1100" b="0">
                <a:solidFill>
                  <a:srgbClr val="5A6270"/>
                </a:solidFill>
                <a:latin typeface="Calibri"/>
              </a:rPr>
              <a:t>would actually be watching</a:t>
            </a:r>
          </a:p>
        </p:txBody>
      </p:sp>
      <p:sp>
        <p:nvSpPr>
          <p:cNvPr id="11" name="TextBox 10"/>
          <p:cNvSpPr txBox="1"/>
          <p:nvPr/>
        </p:nvSpPr>
        <p:spPr>
          <a:xfrm>
            <a:off x="8229600" y="4800600"/>
            <a:ext cx="3291840" cy="566928"/>
          </a:xfrm>
          <a:prstGeom prst="rect">
            <a:avLst/>
          </a:prstGeom>
          <a:noFill/>
        </p:spPr>
        <p:txBody>
          <a:bodyPr wrap="square">
            <a:spAutoFit/>
          </a:bodyPr>
          <a:lstStyle/>
          <a:p>
            <a:pPr algn="ctr">
              <a:lnSpc>
                <a:spcPct val="100000"/>
              </a:lnSpc>
            </a:pPr>
            <a:r>
              <a:rPr sz="3000" b="1">
                <a:solidFill>
                  <a:srgbClr val="1E2761"/>
                </a:solidFill>
                <a:latin typeface="Cambria"/>
              </a:rPr>
              <a:t>0</a:t>
            </a:r>
          </a:p>
        </p:txBody>
      </p:sp>
      <p:sp>
        <p:nvSpPr>
          <p:cNvPr id="12" name="TextBox 11"/>
          <p:cNvSpPr txBox="1"/>
          <p:nvPr/>
        </p:nvSpPr>
        <p:spPr>
          <a:xfrm>
            <a:off x="8229600" y="5367528"/>
            <a:ext cx="3291840" cy="685800"/>
          </a:xfrm>
          <a:prstGeom prst="rect">
            <a:avLst/>
          </a:prstGeom>
          <a:noFill/>
        </p:spPr>
        <p:txBody>
          <a:bodyPr wrap="square">
            <a:spAutoFit/>
          </a:bodyPr>
          <a:lstStyle/>
          <a:p>
            <a:pPr algn="ctr">
              <a:lnSpc>
                <a:spcPct val="95000"/>
              </a:lnSpc>
            </a:pPr>
            <a:r>
              <a:rPr sz="1100" b="0">
                <a:solidFill>
                  <a:srgbClr val="5A6270"/>
                </a:solidFill>
                <a:latin typeface="Calibri"/>
              </a:rPr>
              <a:t>features naming Sex.</a:t>
            </a:r>
          </a:p>
          <a:p>
            <a:pPr algn="ctr">
              <a:lnSpc>
                <a:spcPct val="95000"/>
              </a:lnSpc>
            </a:pPr>
            <a:r>
              <a:rPr sz="1100" b="0">
                <a:solidFill>
                  <a:srgbClr val="5A6270"/>
                </a:solidFill>
                <a:latin typeface="Calibri"/>
              </a:rPr>
              <a:t>The model found it anyway.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00000"/>
              </a:lnSpc>
            </a:pPr>
            <a:r>
              <a:rPr sz="2600" b="1">
                <a:solidFill>
                  <a:srgbClr val="1E2761"/>
                </a:solidFill>
                <a:latin typeface="Cambria"/>
              </a:rPr>
              <a:t>Result 2 — The Base Paper Works</a:t>
            </a:r>
          </a:p>
        </p:txBody>
      </p:sp>
      <p:sp>
        <p:nvSpPr>
          <p:cNvPr id="3" name="TextBox 2"/>
          <p:cNvSpPr txBox="1"/>
          <p:nvPr/>
        </p:nvSpPr>
        <p:spPr>
          <a:xfrm>
            <a:off x="640080" y="1033271"/>
            <a:ext cx="10881360" cy="384048"/>
          </a:xfrm>
          <a:prstGeom prst="rect">
            <a:avLst/>
          </a:prstGeom>
          <a:noFill/>
        </p:spPr>
        <p:txBody>
          <a:bodyPr wrap="square">
            <a:spAutoFit/>
          </a:bodyPr>
          <a:lstStyle/>
          <a:p>
            <a:pPr algn="l">
              <a:lnSpc>
                <a:spcPct val="100000"/>
              </a:lnSpc>
            </a:pPr>
            <a:r>
              <a:rPr sz="1350" b="0">
                <a:solidFill>
                  <a:srgbClr val="5A6270"/>
                </a:solidFill>
                <a:latin typeface="Calibri"/>
              </a:rPr>
              <a:t>Agarwal et al. (2018), decision tree, ε = 0.01, 5 seeds. Every claim the paper makes held up.</a:t>
            </a:r>
          </a:p>
        </p:txBody>
      </p:sp>
      <p:graphicFrame>
        <p:nvGraphicFramePr>
          <p:cNvPr id="4" name="Table 3"/>
          <p:cNvGraphicFramePr>
            <a:graphicFrameLocks noGrp="1"/>
          </p:cNvGraphicFramePr>
          <p:nvPr/>
        </p:nvGraphicFramePr>
        <p:xfrm>
          <a:off x="640080" y="1691640"/>
          <a:ext cx="10881359" cy="1371600"/>
        </p:xfrm>
        <a:graphic>
          <a:graphicData uri="http://schemas.openxmlformats.org/drawingml/2006/table">
            <a:tbl>
              <a:tblPr firstRow="1">
                <a:tableStyleId>{5C22544A-7EE6-4342-B048-85BDC9FD1C3A}</a:tableStyleId>
              </a:tblPr>
              <a:tblGrid>
                <a:gridCol w="3291840"/>
                <a:gridCol w="1828800"/>
                <a:gridCol w="1828800"/>
                <a:gridCol w="1828800"/>
                <a:gridCol w="2103119"/>
              </a:tblGrid>
              <a:tr h="384048">
                <a:tc>
                  <a:txBody>
                    <a:bodyPr wrap="square"/>
                    <a:lstStyle/>
                    <a:p>
                      <a:pPr algn="l"/>
                      <a:r>
                        <a:rPr sz="1100" b="1">
                          <a:solidFill>
                            <a:srgbClr val="FFFFFF"/>
                          </a:solidFill>
                          <a:latin typeface="Calibri"/>
                        </a:rPr>
                        <a:t>Method</a:t>
                      </a:r>
                    </a:p>
                  </a:txBody>
                  <a:tcPr marL="91440" marR="73152" marT="18288" marB="18288">
                    <a:solidFill>
                      <a:srgbClr val="1E2761"/>
                    </a:solidFill>
                  </a:tcPr>
                </a:tc>
                <a:tc>
                  <a:txBody>
                    <a:bodyPr wrap="square"/>
                    <a:lstStyle/>
                    <a:p>
                      <a:pPr algn="r"/>
                      <a:r>
                        <a:rPr sz="1100" b="1">
                          <a:solidFill>
                            <a:srgbClr val="FFFFFF"/>
                          </a:solidFill>
                          <a:latin typeface="Calibri"/>
                        </a:rPr>
                        <a:t>Accuracy</a:t>
                      </a:r>
                    </a:p>
                  </a:txBody>
                  <a:tcPr marL="91440" marR="73152" marT="18288" marB="18288">
                    <a:solidFill>
                      <a:srgbClr val="1E2761"/>
                    </a:solidFill>
                  </a:tcPr>
                </a:tc>
                <a:tc>
                  <a:txBody>
                    <a:bodyPr wrap="square"/>
                    <a:lstStyle/>
                    <a:p>
                      <a:pPr algn="r"/>
                      <a:r>
                        <a:rPr sz="1100" b="1">
                          <a:solidFill>
                            <a:srgbClr val="FFFFFF"/>
                          </a:solidFill>
                          <a:latin typeface="Calibri"/>
                        </a:rPr>
                        <a:t>DP diff</a:t>
                      </a:r>
                    </a:p>
                  </a:txBody>
                  <a:tcPr marL="91440" marR="73152" marT="18288" marB="18288">
                    <a:solidFill>
                      <a:srgbClr val="1E2761"/>
                    </a:solidFill>
                  </a:tcPr>
                </a:tc>
                <a:tc>
                  <a:txBody>
                    <a:bodyPr wrap="square"/>
                    <a:lstStyle/>
                    <a:p>
                      <a:pPr algn="r"/>
                      <a:r>
                        <a:rPr sz="1100" b="1">
                          <a:solidFill>
                            <a:srgbClr val="FFFFFF"/>
                          </a:solidFill>
                          <a:latin typeface="Calibri"/>
                        </a:rPr>
                        <a:t>EO diff</a:t>
                      </a:r>
                    </a:p>
                  </a:txBody>
                  <a:tcPr marL="91440" marR="73152" marT="18288" marB="18288">
                    <a:solidFill>
                      <a:srgbClr val="1E2761"/>
                    </a:solidFill>
                  </a:tcPr>
                </a:tc>
                <a:tc>
                  <a:txBody>
                    <a:bodyPr wrap="square"/>
                    <a:lstStyle/>
                    <a:p>
                      <a:pPr algn="r"/>
                      <a:r>
                        <a:rPr sz="1100" b="1">
                          <a:solidFill>
                            <a:srgbClr val="FFFFFF"/>
                          </a:solidFill>
                          <a:latin typeface="Calibri"/>
                        </a:rPr>
                        <a:t>Disparate impact</a:t>
                      </a:r>
                    </a:p>
                  </a:txBody>
                  <a:tcPr marL="91440" marR="73152" marT="18288" marB="18288">
                    <a:solidFill>
                      <a:srgbClr val="1E2761"/>
                    </a:solidFill>
                  </a:tcPr>
                </a:tc>
              </a:tr>
              <a:tr h="329184">
                <a:tc>
                  <a:txBody>
                    <a:bodyPr wrap="square"/>
                    <a:lstStyle/>
                    <a:p>
                      <a:pPr algn="l"/>
                      <a:r>
                        <a:rPr sz="1150" b="0">
                          <a:solidFill>
                            <a:srgbClr val="1B1B1F"/>
                          </a:solidFill>
                          <a:latin typeface="Calibri"/>
                        </a:rPr>
                        <a:t>Baseline tree</a:t>
                      </a:r>
                    </a:p>
                  </a:txBody>
                  <a:tcPr marL="91440" marR="73152" marT="18288" marB="18288">
                    <a:solidFill>
                      <a:srgbClr val="FFFFFF"/>
                    </a:solidFill>
                  </a:tcPr>
                </a:tc>
                <a:tc>
                  <a:txBody>
                    <a:bodyPr wrap="square"/>
                    <a:lstStyle/>
                    <a:p>
                      <a:pPr algn="r"/>
                      <a:r>
                        <a:rPr sz="1150" b="0">
                          <a:solidFill>
                            <a:srgbClr val="1B1B1F"/>
                          </a:solidFill>
                          <a:latin typeface="Calibri"/>
                        </a:rPr>
                        <a:t>0.8517</a:t>
                      </a:r>
                    </a:p>
                  </a:txBody>
                  <a:tcPr marL="91440" marR="73152" marT="18288" marB="18288">
                    <a:solidFill>
                      <a:srgbClr val="FFFFFF"/>
                    </a:solidFill>
                  </a:tcPr>
                </a:tc>
                <a:tc>
                  <a:txBody>
                    <a:bodyPr wrap="square"/>
                    <a:lstStyle/>
                    <a:p>
                      <a:pPr algn="r"/>
                      <a:r>
                        <a:rPr sz="1150" b="0">
                          <a:solidFill>
                            <a:srgbClr val="1B1B1F"/>
                          </a:solidFill>
                          <a:latin typeface="Calibri"/>
                        </a:rPr>
                        <a:t>0.1613</a:t>
                      </a:r>
                    </a:p>
                  </a:txBody>
                  <a:tcPr marL="91440" marR="73152" marT="18288" marB="18288">
                    <a:solidFill>
                      <a:srgbClr val="FFFFFF"/>
                    </a:solidFill>
                  </a:tcPr>
                </a:tc>
                <a:tc>
                  <a:txBody>
                    <a:bodyPr wrap="square"/>
                    <a:lstStyle/>
                    <a:p>
                      <a:pPr algn="r"/>
                      <a:r>
                        <a:rPr sz="1150" b="0">
                          <a:solidFill>
                            <a:srgbClr val="1B1B1F"/>
                          </a:solidFill>
                          <a:latin typeface="Calibri"/>
                        </a:rPr>
                        <a:t>0.0831</a:t>
                      </a:r>
                    </a:p>
                  </a:txBody>
                  <a:tcPr marL="91440" marR="73152" marT="18288" marB="18288">
                    <a:solidFill>
                      <a:srgbClr val="FFFFFF"/>
                    </a:solidFill>
                  </a:tcPr>
                </a:tc>
                <a:tc>
                  <a:txBody>
                    <a:bodyPr wrap="square"/>
                    <a:lstStyle/>
                    <a:p>
                      <a:pPr algn="r"/>
                      <a:r>
                        <a:rPr sz="1150" b="0">
                          <a:solidFill>
                            <a:srgbClr val="1B1B1F"/>
                          </a:solidFill>
                          <a:latin typeface="Calibri"/>
                        </a:rPr>
                        <a:t>0.3086</a:t>
                      </a:r>
                    </a:p>
                  </a:txBody>
                  <a:tcPr marL="91440" marR="73152" marT="18288" marB="18288">
                    <a:solidFill>
                      <a:srgbClr val="FFFFFF"/>
                    </a:solidFill>
                  </a:tcPr>
                </a:tc>
              </a:tr>
              <a:tr h="329184">
                <a:tc>
                  <a:txBody>
                    <a:bodyPr wrap="square"/>
                    <a:lstStyle/>
                    <a:p>
                      <a:pPr algn="l"/>
                      <a:r>
                        <a:rPr sz="1150" b="1">
                          <a:solidFill>
                            <a:srgbClr val="1B1B1F"/>
                          </a:solidFill>
                          <a:latin typeface="Calibri"/>
                        </a:rPr>
                        <a:t>ExpGrad — Demographic Parity</a:t>
                      </a:r>
                    </a:p>
                  </a:txBody>
                  <a:tcPr marL="91440" marR="73152" marT="18288" marB="18288">
                    <a:solidFill>
                      <a:srgbClr val="FDF3E2"/>
                    </a:solidFill>
                  </a:tcPr>
                </a:tc>
                <a:tc>
                  <a:txBody>
                    <a:bodyPr wrap="square"/>
                    <a:lstStyle/>
                    <a:p>
                      <a:pPr algn="r"/>
                      <a:r>
                        <a:rPr sz="1150" b="1">
                          <a:solidFill>
                            <a:srgbClr val="1B1B1F"/>
                          </a:solidFill>
                          <a:latin typeface="Calibri"/>
                        </a:rPr>
                        <a:t>0.8364</a:t>
                      </a:r>
                    </a:p>
                  </a:txBody>
                  <a:tcPr marL="91440" marR="73152" marT="18288" marB="18288">
                    <a:solidFill>
                      <a:srgbClr val="FDF3E2"/>
                    </a:solidFill>
                  </a:tcPr>
                </a:tc>
                <a:tc>
                  <a:txBody>
                    <a:bodyPr wrap="square"/>
                    <a:lstStyle/>
                    <a:p>
                      <a:pPr algn="r"/>
                      <a:r>
                        <a:rPr sz="1150" b="1">
                          <a:solidFill>
                            <a:srgbClr val="1B1B1F"/>
                          </a:solidFill>
                          <a:latin typeface="Calibri"/>
                        </a:rPr>
                        <a:t>0.0187</a:t>
                      </a:r>
                    </a:p>
                  </a:txBody>
                  <a:tcPr marL="91440" marR="73152" marT="18288" marB="18288">
                    <a:solidFill>
                      <a:srgbClr val="FDF3E2"/>
                    </a:solidFill>
                  </a:tcPr>
                </a:tc>
                <a:tc>
                  <a:txBody>
                    <a:bodyPr wrap="square"/>
                    <a:lstStyle/>
                    <a:p>
                      <a:pPr algn="r"/>
                      <a:r>
                        <a:rPr sz="1150" b="1">
                          <a:solidFill>
                            <a:srgbClr val="1B1B1F"/>
                          </a:solidFill>
                          <a:latin typeface="Calibri"/>
                        </a:rPr>
                        <a:t>0.2773</a:t>
                      </a:r>
                    </a:p>
                  </a:txBody>
                  <a:tcPr marL="91440" marR="73152" marT="18288" marB="18288">
                    <a:solidFill>
                      <a:srgbClr val="FDF3E2"/>
                    </a:solidFill>
                  </a:tcPr>
                </a:tc>
                <a:tc>
                  <a:txBody>
                    <a:bodyPr wrap="square"/>
                    <a:lstStyle/>
                    <a:p>
                      <a:pPr algn="r"/>
                      <a:r>
                        <a:rPr sz="1150" b="1">
                          <a:solidFill>
                            <a:srgbClr val="1B1B1F"/>
                          </a:solidFill>
                          <a:latin typeface="Calibri"/>
                        </a:rPr>
                        <a:t>0.8834</a:t>
                      </a:r>
                    </a:p>
                  </a:txBody>
                  <a:tcPr marL="91440" marR="73152" marT="18288" marB="18288">
                    <a:solidFill>
                      <a:srgbClr val="FDF3E2"/>
                    </a:solidFill>
                  </a:tcPr>
                </a:tc>
              </a:tr>
              <a:tr h="329184">
                <a:tc>
                  <a:txBody>
                    <a:bodyPr wrap="square"/>
                    <a:lstStyle/>
                    <a:p>
                      <a:pPr algn="l"/>
                      <a:r>
                        <a:rPr sz="1150" b="0">
                          <a:solidFill>
                            <a:srgbClr val="1B1B1F"/>
                          </a:solidFill>
                          <a:latin typeface="Calibri"/>
                        </a:rPr>
                        <a:t>ExpGrad — Equalized Odds</a:t>
                      </a:r>
                    </a:p>
                  </a:txBody>
                  <a:tcPr marL="91440" marR="73152" marT="18288" marB="18288">
                    <a:solidFill>
                      <a:srgbClr val="FFFFFF"/>
                    </a:solidFill>
                  </a:tcPr>
                </a:tc>
                <a:tc>
                  <a:txBody>
                    <a:bodyPr wrap="square"/>
                    <a:lstStyle/>
                    <a:p>
                      <a:pPr algn="r"/>
                      <a:r>
                        <a:rPr sz="1150" b="0">
                          <a:solidFill>
                            <a:srgbClr val="1B1B1F"/>
                          </a:solidFill>
                          <a:latin typeface="Calibri"/>
                        </a:rPr>
                        <a:t>0.8471</a:t>
                      </a:r>
                    </a:p>
                  </a:txBody>
                  <a:tcPr marL="91440" marR="73152" marT="18288" marB="18288">
                    <a:solidFill>
                      <a:srgbClr val="FFFFFF"/>
                    </a:solidFill>
                  </a:tcPr>
                </a:tc>
                <a:tc>
                  <a:txBody>
                    <a:bodyPr wrap="square"/>
                    <a:lstStyle/>
                    <a:p>
                      <a:pPr algn="r"/>
                      <a:r>
                        <a:rPr sz="1150" b="0">
                          <a:solidFill>
                            <a:srgbClr val="1B1B1F"/>
                          </a:solidFill>
                          <a:latin typeface="Calibri"/>
                        </a:rPr>
                        <a:t>0.1125</a:t>
                      </a:r>
                    </a:p>
                  </a:txBody>
                  <a:tcPr marL="91440" marR="73152" marT="18288" marB="18288">
                    <a:solidFill>
                      <a:srgbClr val="FFFFFF"/>
                    </a:solidFill>
                  </a:tcPr>
                </a:tc>
                <a:tc>
                  <a:txBody>
                    <a:bodyPr wrap="square"/>
                    <a:lstStyle/>
                    <a:p>
                      <a:pPr algn="r"/>
                      <a:r>
                        <a:rPr sz="1150" b="0">
                          <a:solidFill>
                            <a:srgbClr val="1B1B1F"/>
                          </a:solidFill>
                          <a:latin typeface="Calibri"/>
                        </a:rPr>
                        <a:t>0.0355</a:t>
                      </a:r>
                    </a:p>
                  </a:txBody>
                  <a:tcPr marL="91440" marR="73152" marT="18288" marB="18288">
                    <a:solidFill>
                      <a:srgbClr val="FFFFFF"/>
                    </a:solidFill>
                  </a:tcPr>
                </a:tc>
                <a:tc>
                  <a:txBody>
                    <a:bodyPr wrap="square"/>
                    <a:lstStyle/>
                    <a:p>
                      <a:pPr algn="r"/>
                      <a:r>
                        <a:rPr sz="1150" b="0">
                          <a:solidFill>
                            <a:srgbClr val="1B1B1F"/>
                          </a:solidFill>
                          <a:latin typeface="Calibri"/>
                        </a:rPr>
                        <a:t>0.4573</a:t>
                      </a:r>
                    </a:p>
                  </a:txBody>
                  <a:tcPr marL="91440" marR="73152" marT="18288" marB="18288">
                    <a:solidFill>
                      <a:srgbClr val="FFFFFF"/>
                    </a:solidFill>
                  </a:tcPr>
                </a:tc>
              </a:tr>
            </a:tbl>
          </a:graphicData>
        </a:graphic>
      </p:graphicFrame>
      <p:sp>
        <p:nvSpPr>
          <p:cNvPr id="5" name="TextBox 4"/>
          <p:cNvSpPr txBox="1"/>
          <p:nvPr/>
        </p:nvSpPr>
        <p:spPr>
          <a:xfrm>
            <a:off x="640080" y="3383280"/>
            <a:ext cx="3291840" cy="566928"/>
          </a:xfrm>
          <a:prstGeom prst="rect">
            <a:avLst/>
          </a:prstGeom>
          <a:noFill/>
        </p:spPr>
        <p:txBody>
          <a:bodyPr wrap="square">
            <a:spAutoFit/>
          </a:bodyPr>
          <a:lstStyle/>
          <a:p>
            <a:pPr algn="ctr">
              <a:lnSpc>
                <a:spcPct val="100000"/>
              </a:lnSpc>
            </a:pPr>
            <a:r>
              <a:rPr sz="3000" b="1">
                <a:solidFill>
                  <a:srgbClr val="1BAF7A"/>
                </a:solidFill>
                <a:latin typeface="Cambria"/>
              </a:rPr>
              <a:t>−88%</a:t>
            </a:r>
          </a:p>
        </p:txBody>
      </p:sp>
      <p:sp>
        <p:nvSpPr>
          <p:cNvPr id="6" name="TextBox 5"/>
          <p:cNvSpPr txBox="1"/>
          <p:nvPr/>
        </p:nvSpPr>
        <p:spPr>
          <a:xfrm>
            <a:off x="640080" y="3950208"/>
            <a:ext cx="3291840" cy="685800"/>
          </a:xfrm>
          <a:prstGeom prst="rect">
            <a:avLst/>
          </a:prstGeom>
          <a:noFill/>
        </p:spPr>
        <p:txBody>
          <a:bodyPr wrap="square">
            <a:spAutoFit/>
          </a:bodyPr>
          <a:lstStyle/>
          <a:p>
            <a:pPr algn="ctr">
              <a:lnSpc>
                <a:spcPct val="95000"/>
              </a:lnSpc>
            </a:pPr>
            <a:r>
              <a:rPr sz="1100" b="0">
                <a:solidFill>
                  <a:srgbClr val="5A6270"/>
                </a:solidFill>
                <a:latin typeface="Calibri"/>
              </a:rPr>
              <a:t>demographic parity violation</a:t>
            </a:r>
          </a:p>
          <a:p>
            <a:pPr algn="ctr">
              <a:lnSpc>
                <a:spcPct val="95000"/>
              </a:lnSpc>
            </a:pPr>
            <a:r>
              <a:rPr sz="1100" b="0">
                <a:solidFill>
                  <a:srgbClr val="5A6270"/>
                </a:solidFill>
                <a:latin typeface="Calibri"/>
              </a:rPr>
              <a:t>0.161 → 0.019</a:t>
            </a:r>
          </a:p>
        </p:txBody>
      </p:sp>
      <p:sp>
        <p:nvSpPr>
          <p:cNvPr id="7" name="TextBox 6"/>
          <p:cNvSpPr txBox="1"/>
          <p:nvPr/>
        </p:nvSpPr>
        <p:spPr>
          <a:xfrm>
            <a:off x="4434840" y="3383280"/>
            <a:ext cx="3291840" cy="566928"/>
          </a:xfrm>
          <a:prstGeom prst="rect">
            <a:avLst/>
          </a:prstGeom>
          <a:noFill/>
        </p:spPr>
        <p:txBody>
          <a:bodyPr wrap="square">
            <a:spAutoFit/>
          </a:bodyPr>
          <a:lstStyle/>
          <a:p>
            <a:pPr algn="ctr">
              <a:lnSpc>
                <a:spcPct val="100000"/>
              </a:lnSpc>
            </a:pPr>
            <a:r>
              <a:rPr sz="3000" b="1">
                <a:solidFill>
                  <a:srgbClr val="1E2761"/>
                </a:solidFill>
                <a:latin typeface="Cambria"/>
              </a:rPr>
              <a:t>1.5 pts</a:t>
            </a:r>
          </a:p>
        </p:txBody>
      </p:sp>
      <p:sp>
        <p:nvSpPr>
          <p:cNvPr id="8" name="TextBox 7"/>
          <p:cNvSpPr txBox="1"/>
          <p:nvPr/>
        </p:nvSpPr>
        <p:spPr>
          <a:xfrm>
            <a:off x="4434840" y="3950208"/>
            <a:ext cx="3291840" cy="685800"/>
          </a:xfrm>
          <a:prstGeom prst="rect">
            <a:avLst/>
          </a:prstGeom>
          <a:noFill/>
        </p:spPr>
        <p:txBody>
          <a:bodyPr wrap="square">
            <a:spAutoFit/>
          </a:bodyPr>
          <a:lstStyle/>
          <a:p>
            <a:pPr algn="ctr">
              <a:lnSpc>
                <a:spcPct val="95000"/>
              </a:lnSpc>
            </a:pPr>
            <a:r>
              <a:rPr sz="1100" b="0">
                <a:solidFill>
                  <a:srgbClr val="5A6270"/>
                </a:solidFill>
                <a:latin typeface="Calibri"/>
              </a:rPr>
              <a:t>accuracy paid for it</a:t>
            </a:r>
          </a:p>
          <a:p>
            <a:pPr algn="ctr">
              <a:lnSpc>
                <a:spcPct val="95000"/>
              </a:lnSpc>
            </a:pPr>
            <a:r>
              <a:rPr sz="1100" b="0">
                <a:solidFill>
                  <a:srgbClr val="5A6270"/>
                </a:solidFill>
                <a:latin typeface="Calibri"/>
              </a:rPr>
              <a:t>0.8517 → 0.8364</a:t>
            </a:r>
          </a:p>
        </p:txBody>
      </p:sp>
      <p:sp>
        <p:nvSpPr>
          <p:cNvPr id="9" name="TextBox 8"/>
          <p:cNvSpPr txBox="1"/>
          <p:nvPr/>
        </p:nvSpPr>
        <p:spPr>
          <a:xfrm>
            <a:off x="8229600" y="3383280"/>
            <a:ext cx="3291840" cy="566928"/>
          </a:xfrm>
          <a:prstGeom prst="rect">
            <a:avLst/>
          </a:prstGeom>
          <a:noFill/>
        </p:spPr>
        <p:txBody>
          <a:bodyPr wrap="square">
            <a:spAutoFit/>
          </a:bodyPr>
          <a:lstStyle/>
          <a:p>
            <a:pPr algn="ctr">
              <a:lnSpc>
                <a:spcPct val="100000"/>
              </a:lnSpc>
            </a:pPr>
            <a:r>
              <a:rPr sz="2600" b="1">
                <a:solidFill>
                  <a:srgbClr val="1BAF7A"/>
                </a:solidFill>
                <a:latin typeface="Cambria"/>
              </a:rPr>
              <a:t>0.31 → 0.88</a:t>
            </a:r>
          </a:p>
        </p:txBody>
      </p:sp>
      <p:sp>
        <p:nvSpPr>
          <p:cNvPr id="10" name="TextBox 9"/>
          <p:cNvSpPr txBox="1"/>
          <p:nvPr/>
        </p:nvSpPr>
        <p:spPr>
          <a:xfrm>
            <a:off x="8229600" y="3950208"/>
            <a:ext cx="3291840" cy="685800"/>
          </a:xfrm>
          <a:prstGeom prst="rect">
            <a:avLst/>
          </a:prstGeom>
          <a:noFill/>
        </p:spPr>
        <p:txBody>
          <a:bodyPr wrap="square">
            <a:spAutoFit/>
          </a:bodyPr>
          <a:lstStyle/>
          <a:p>
            <a:pPr algn="ctr">
              <a:lnSpc>
                <a:spcPct val="95000"/>
              </a:lnSpc>
            </a:pPr>
            <a:r>
              <a:rPr sz="1100" b="0">
                <a:solidFill>
                  <a:srgbClr val="5A6270"/>
                </a:solidFill>
                <a:latin typeface="Calibri"/>
              </a:rPr>
              <a:t>disparate impact:</a:t>
            </a:r>
          </a:p>
          <a:p>
            <a:pPr algn="ctr">
              <a:lnSpc>
                <a:spcPct val="95000"/>
              </a:lnSpc>
            </a:pPr>
            <a:r>
              <a:rPr sz="1100" b="0">
                <a:solidFill>
                  <a:srgbClr val="5A6270"/>
                </a:solidFill>
                <a:latin typeface="Calibri"/>
              </a:rPr>
              <a:t>fails, then passes</a:t>
            </a:r>
          </a:p>
        </p:txBody>
      </p:sp>
      <p:sp>
        <p:nvSpPr>
          <p:cNvPr id="11" name="Rounded Rectangle 10"/>
          <p:cNvSpPr/>
          <p:nvPr/>
        </p:nvSpPr>
        <p:spPr>
          <a:xfrm>
            <a:off x="640080" y="4846320"/>
            <a:ext cx="10881360" cy="141732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4983480"/>
            <a:ext cx="10332720" cy="1143000"/>
          </a:xfrm>
          <a:prstGeom prst="rect">
            <a:avLst/>
          </a:prstGeom>
          <a:noFill/>
        </p:spPr>
        <p:txBody>
          <a:bodyPr wrap="square">
            <a:spAutoFit/>
          </a:bodyPr>
          <a:lstStyle/>
          <a:p>
            <a:pPr algn="l">
              <a:lnSpc>
                <a:spcPct val="100000"/>
              </a:lnSpc>
            </a:pPr>
            <a:r>
              <a:rPr sz="1400" b="0">
                <a:solidFill>
                  <a:srgbClr val="1B1B1F"/>
                </a:solidFill>
                <a:latin typeface="Calibri"/>
              </a:rPr>
              <a:t>Each constraint fixes only the metric it was given: ExpGrad-DP leaves equalized odds worse than the baseline. That is correct behaviour — the algorithm does what it is asked and nothing more — and it is the seed of Result 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00000"/>
              </a:lnSpc>
            </a:pPr>
            <a:r>
              <a:rPr sz="2600" b="1">
                <a:solidFill>
                  <a:srgbClr val="1E2761"/>
                </a:solidFill>
                <a:latin typeface="Cambria"/>
              </a:rPr>
              <a:t>Result 3 — Six Mitigations, One Table</a:t>
            </a:r>
          </a:p>
        </p:txBody>
      </p:sp>
      <p:sp>
        <p:nvSpPr>
          <p:cNvPr id="3" name="TextBox 2"/>
          <p:cNvSpPr txBox="1"/>
          <p:nvPr/>
        </p:nvSpPr>
        <p:spPr>
          <a:xfrm>
            <a:off x="640080" y="1033271"/>
            <a:ext cx="10881360" cy="384048"/>
          </a:xfrm>
          <a:prstGeom prst="rect">
            <a:avLst/>
          </a:prstGeom>
          <a:noFill/>
        </p:spPr>
        <p:txBody>
          <a:bodyPr wrap="square">
            <a:spAutoFit/>
          </a:bodyPr>
          <a:lstStyle/>
          <a:p>
            <a:pPr algn="l">
              <a:lnSpc>
                <a:spcPct val="100000"/>
              </a:lnSpc>
            </a:pPr>
            <a:r>
              <a:rPr sz="1350" b="0">
                <a:solidFill>
                  <a:srgbClr val="5A6270"/>
                </a:solidFill>
                <a:latin typeface="Calibri"/>
              </a:rPr>
              <a:t>Same data, same base classifier (logistic regression), same metrics. Only the mitigation changes. 5 seeds.</a:t>
            </a:r>
          </a:p>
        </p:txBody>
      </p:sp>
      <p:graphicFrame>
        <p:nvGraphicFramePr>
          <p:cNvPr id="4" name="Table 3"/>
          <p:cNvGraphicFramePr>
            <a:graphicFrameLocks noGrp="1"/>
          </p:cNvGraphicFramePr>
          <p:nvPr/>
        </p:nvGraphicFramePr>
        <p:xfrm>
          <a:off x="640080" y="1737360"/>
          <a:ext cx="10881360" cy="2359152"/>
        </p:xfrm>
        <a:graphic>
          <a:graphicData uri="http://schemas.openxmlformats.org/drawingml/2006/table">
            <a:tbl>
              <a:tblPr firstRow="1">
                <a:tableStyleId>{5C22544A-7EE6-4342-B048-85BDC9FD1C3A}</a:tableStyleId>
              </a:tblPr>
              <a:tblGrid>
                <a:gridCol w="3474720"/>
                <a:gridCol w="1828800"/>
                <a:gridCol w="1828800"/>
                <a:gridCol w="1828800"/>
                <a:gridCol w="1920240"/>
              </a:tblGrid>
              <a:tr h="384048">
                <a:tc>
                  <a:txBody>
                    <a:bodyPr wrap="square"/>
                    <a:lstStyle/>
                    <a:p>
                      <a:pPr algn="l"/>
                      <a:r>
                        <a:rPr sz="1100" b="1">
                          <a:solidFill>
                            <a:srgbClr val="FFFFFF"/>
                          </a:solidFill>
                          <a:latin typeface="Calibri"/>
                        </a:rPr>
                        <a:t>Method</a:t>
                      </a:r>
                    </a:p>
                  </a:txBody>
                  <a:tcPr marL="91440" marR="73152" marT="18288" marB="18288">
                    <a:solidFill>
                      <a:srgbClr val="1E2761"/>
                    </a:solidFill>
                  </a:tcPr>
                </a:tc>
                <a:tc>
                  <a:txBody>
                    <a:bodyPr wrap="square"/>
                    <a:lstStyle/>
                    <a:p>
                      <a:pPr algn="r"/>
                      <a:r>
                        <a:rPr sz="1100" b="1">
                          <a:solidFill>
                            <a:srgbClr val="FFFFFF"/>
                          </a:solidFill>
                          <a:latin typeface="Calibri"/>
                        </a:rPr>
                        <a:t>Accuracy</a:t>
                      </a:r>
                    </a:p>
                  </a:txBody>
                  <a:tcPr marL="91440" marR="73152" marT="18288" marB="18288">
                    <a:solidFill>
                      <a:srgbClr val="1E2761"/>
                    </a:solidFill>
                  </a:tcPr>
                </a:tc>
                <a:tc>
                  <a:txBody>
                    <a:bodyPr wrap="square"/>
                    <a:lstStyle/>
                    <a:p>
                      <a:pPr algn="r"/>
                      <a:r>
                        <a:rPr sz="1100" b="1">
                          <a:solidFill>
                            <a:srgbClr val="FFFFFF"/>
                          </a:solidFill>
                          <a:latin typeface="Calibri"/>
                        </a:rPr>
                        <a:t>DP diff</a:t>
                      </a:r>
                    </a:p>
                  </a:txBody>
                  <a:tcPr marL="91440" marR="73152" marT="18288" marB="18288">
                    <a:solidFill>
                      <a:srgbClr val="1E2761"/>
                    </a:solidFill>
                  </a:tcPr>
                </a:tc>
                <a:tc>
                  <a:txBody>
                    <a:bodyPr wrap="square"/>
                    <a:lstStyle/>
                    <a:p>
                      <a:pPr algn="r"/>
                      <a:r>
                        <a:rPr sz="1100" b="1">
                          <a:solidFill>
                            <a:srgbClr val="FFFFFF"/>
                          </a:solidFill>
                          <a:latin typeface="Calibri"/>
                        </a:rPr>
                        <a:t>EO diff</a:t>
                      </a:r>
                    </a:p>
                  </a:txBody>
                  <a:tcPr marL="91440" marR="73152" marT="18288" marB="18288">
                    <a:solidFill>
                      <a:srgbClr val="1E2761"/>
                    </a:solidFill>
                  </a:tcPr>
                </a:tc>
                <a:tc>
                  <a:txBody>
                    <a:bodyPr wrap="square"/>
                    <a:lstStyle/>
                    <a:p>
                      <a:pPr algn="r"/>
                      <a:r>
                        <a:rPr sz="1100" b="1">
                          <a:solidFill>
                            <a:srgbClr val="FFFFFF"/>
                          </a:solidFill>
                          <a:latin typeface="Calibri"/>
                        </a:rPr>
                        <a:t>Disp. impact</a:t>
                      </a:r>
                    </a:p>
                  </a:txBody>
                  <a:tcPr marL="91440" marR="73152" marT="18288" marB="18288">
                    <a:solidFill>
                      <a:srgbClr val="1E2761"/>
                    </a:solidFill>
                  </a:tcPr>
                </a:tc>
              </a:tr>
              <a:tr h="329184">
                <a:tc>
                  <a:txBody>
                    <a:bodyPr wrap="square"/>
                    <a:lstStyle/>
                    <a:p>
                      <a:pPr algn="l"/>
                      <a:r>
                        <a:rPr sz="1150" b="0">
                          <a:solidFill>
                            <a:srgbClr val="1B1B1F"/>
                          </a:solidFill>
                          <a:latin typeface="Calibri"/>
                        </a:rPr>
                        <a:t>Baseline (no mitigation)</a:t>
                      </a:r>
                    </a:p>
                  </a:txBody>
                  <a:tcPr marL="91440" marR="73152" marT="18288" marB="18288">
                    <a:solidFill>
                      <a:srgbClr val="FFFFFF"/>
                    </a:solidFill>
                  </a:tcPr>
                </a:tc>
                <a:tc>
                  <a:txBody>
                    <a:bodyPr wrap="square"/>
                    <a:lstStyle/>
                    <a:p>
                      <a:pPr algn="r"/>
                      <a:r>
                        <a:rPr sz="1150" b="0">
                          <a:solidFill>
                            <a:srgbClr val="1B1B1F"/>
                          </a:solidFill>
                          <a:latin typeface="Calibri"/>
                        </a:rPr>
                        <a:t>0.8469</a:t>
                      </a:r>
                    </a:p>
                  </a:txBody>
                  <a:tcPr marL="91440" marR="73152" marT="18288" marB="18288">
                    <a:solidFill>
                      <a:srgbClr val="FFFFFF"/>
                    </a:solidFill>
                  </a:tcPr>
                </a:tc>
                <a:tc>
                  <a:txBody>
                    <a:bodyPr wrap="square"/>
                    <a:lstStyle/>
                    <a:p>
                      <a:pPr algn="r"/>
                      <a:r>
                        <a:rPr sz="1150" b="0">
                          <a:solidFill>
                            <a:srgbClr val="1B1B1F"/>
                          </a:solidFill>
                          <a:latin typeface="Calibri"/>
                        </a:rPr>
                        <a:t>0.1861</a:t>
                      </a:r>
                    </a:p>
                  </a:txBody>
                  <a:tcPr marL="91440" marR="73152" marT="18288" marB="18288">
                    <a:solidFill>
                      <a:srgbClr val="FFFFFF"/>
                    </a:solidFill>
                  </a:tcPr>
                </a:tc>
                <a:tc>
                  <a:txBody>
                    <a:bodyPr wrap="square"/>
                    <a:lstStyle/>
                    <a:p>
                      <a:pPr algn="r"/>
                      <a:r>
                        <a:rPr sz="1150" b="0">
                          <a:solidFill>
                            <a:srgbClr val="1B1B1F"/>
                          </a:solidFill>
                          <a:latin typeface="Calibri"/>
                        </a:rPr>
                        <a:t>0.0949</a:t>
                      </a:r>
                    </a:p>
                  </a:txBody>
                  <a:tcPr marL="91440" marR="73152" marT="18288" marB="18288">
                    <a:solidFill>
                      <a:srgbClr val="FFFFFF"/>
                    </a:solidFill>
                  </a:tcPr>
                </a:tc>
                <a:tc>
                  <a:txBody>
                    <a:bodyPr wrap="square"/>
                    <a:lstStyle/>
                    <a:p>
                      <a:pPr algn="r"/>
                      <a:r>
                        <a:rPr sz="1150" b="0">
                          <a:solidFill>
                            <a:srgbClr val="1B1B1F"/>
                          </a:solidFill>
                          <a:latin typeface="Calibri"/>
                        </a:rPr>
                        <a:t>0.2996</a:t>
                      </a:r>
                    </a:p>
                  </a:txBody>
                  <a:tcPr marL="91440" marR="73152" marT="18288" marB="18288">
                    <a:solidFill>
                      <a:srgbClr val="FFFFFF"/>
                    </a:solidFill>
                  </a:tcPr>
                </a:tc>
              </a:tr>
              <a:tr h="329184">
                <a:tc>
                  <a:txBody>
                    <a:bodyPr wrap="square"/>
                    <a:lstStyle/>
                    <a:p>
                      <a:pPr algn="l"/>
                      <a:r>
                        <a:rPr sz="1150" b="1">
                          <a:solidFill>
                            <a:srgbClr val="1B1B1F"/>
                          </a:solidFill>
                          <a:latin typeface="Calibri"/>
                        </a:rPr>
                        <a:t>Exponentiated Gradient (DP)</a:t>
                      </a:r>
                    </a:p>
                  </a:txBody>
                  <a:tcPr marL="91440" marR="73152" marT="18288" marB="18288">
                    <a:solidFill>
                      <a:srgbClr val="FDF3E2"/>
                    </a:solidFill>
                  </a:tcPr>
                </a:tc>
                <a:tc>
                  <a:txBody>
                    <a:bodyPr wrap="square"/>
                    <a:lstStyle/>
                    <a:p>
                      <a:pPr algn="r"/>
                      <a:r>
                        <a:rPr sz="1150" b="1">
                          <a:solidFill>
                            <a:srgbClr val="1B1B1F"/>
                          </a:solidFill>
                          <a:latin typeface="Calibri"/>
                        </a:rPr>
                        <a:t>0.8282</a:t>
                      </a:r>
                    </a:p>
                  </a:txBody>
                  <a:tcPr marL="91440" marR="73152" marT="18288" marB="18288">
                    <a:solidFill>
                      <a:srgbClr val="FDF3E2"/>
                    </a:solidFill>
                  </a:tcPr>
                </a:tc>
                <a:tc>
                  <a:txBody>
                    <a:bodyPr wrap="square"/>
                    <a:lstStyle/>
                    <a:p>
                      <a:pPr algn="r"/>
                      <a:r>
                        <a:rPr sz="1150" b="1">
                          <a:solidFill>
                            <a:srgbClr val="1B1B1F"/>
                          </a:solidFill>
                          <a:latin typeface="Calibri"/>
                        </a:rPr>
                        <a:t>0.0178</a:t>
                      </a:r>
                    </a:p>
                  </a:txBody>
                  <a:tcPr marL="91440" marR="73152" marT="18288" marB="18288">
                    <a:solidFill>
                      <a:srgbClr val="FDF3E2"/>
                    </a:solidFill>
                  </a:tcPr>
                </a:tc>
                <a:tc>
                  <a:txBody>
                    <a:bodyPr wrap="square"/>
                    <a:lstStyle/>
                    <a:p>
                      <a:pPr algn="r"/>
                      <a:r>
                        <a:rPr sz="1150" b="1">
                          <a:solidFill>
                            <a:srgbClr val="1B1B1F"/>
                          </a:solidFill>
                          <a:latin typeface="Calibri"/>
                        </a:rPr>
                        <a:t>0.2802</a:t>
                      </a:r>
                    </a:p>
                  </a:txBody>
                  <a:tcPr marL="91440" marR="73152" marT="18288" marB="18288">
                    <a:solidFill>
                      <a:srgbClr val="FDF3E2"/>
                    </a:solidFill>
                  </a:tcPr>
                </a:tc>
                <a:tc>
                  <a:txBody>
                    <a:bodyPr wrap="square"/>
                    <a:lstStyle/>
                    <a:p>
                      <a:pPr algn="r"/>
                      <a:r>
                        <a:rPr sz="1150" b="1">
                          <a:solidFill>
                            <a:srgbClr val="1B1B1F"/>
                          </a:solidFill>
                          <a:latin typeface="Calibri"/>
                        </a:rPr>
                        <a:t>0.8951</a:t>
                      </a:r>
                    </a:p>
                  </a:txBody>
                  <a:tcPr marL="91440" marR="73152" marT="18288" marB="18288">
                    <a:solidFill>
                      <a:srgbClr val="FDF3E2"/>
                    </a:solidFill>
                  </a:tcPr>
                </a:tc>
              </a:tr>
              <a:tr h="329184">
                <a:tc>
                  <a:txBody>
                    <a:bodyPr wrap="square"/>
                    <a:lstStyle/>
                    <a:p>
                      <a:pPr algn="l"/>
                      <a:r>
                        <a:rPr sz="1150" b="0">
                          <a:solidFill>
                            <a:srgbClr val="1B1B1F"/>
                          </a:solidFill>
                          <a:latin typeface="Calibri"/>
                        </a:rPr>
                        <a:t>Exponentiated Gradient (EO)</a:t>
                      </a:r>
                    </a:p>
                  </a:txBody>
                  <a:tcPr marL="91440" marR="73152" marT="18288" marB="18288">
                    <a:solidFill>
                      <a:srgbClr val="FFFFFF"/>
                    </a:solidFill>
                  </a:tcPr>
                </a:tc>
                <a:tc>
                  <a:txBody>
                    <a:bodyPr wrap="square"/>
                    <a:lstStyle/>
                    <a:p>
                      <a:pPr algn="r"/>
                      <a:r>
                        <a:rPr sz="1150" b="0">
                          <a:solidFill>
                            <a:srgbClr val="1B1B1F"/>
                          </a:solidFill>
                          <a:latin typeface="Calibri"/>
                        </a:rPr>
                        <a:t>0.8361</a:t>
                      </a:r>
                    </a:p>
                  </a:txBody>
                  <a:tcPr marL="91440" marR="73152" marT="18288" marB="18288">
                    <a:solidFill>
                      <a:srgbClr val="FFFFFF"/>
                    </a:solidFill>
                  </a:tcPr>
                </a:tc>
                <a:tc>
                  <a:txBody>
                    <a:bodyPr wrap="square"/>
                    <a:lstStyle/>
                    <a:p>
                      <a:pPr algn="r"/>
                      <a:r>
                        <a:rPr sz="1150" b="0">
                          <a:solidFill>
                            <a:srgbClr val="1B1B1F"/>
                          </a:solidFill>
                          <a:latin typeface="Calibri"/>
                        </a:rPr>
                        <a:t>0.1072</a:t>
                      </a:r>
                    </a:p>
                  </a:txBody>
                  <a:tcPr marL="91440" marR="73152" marT="18288" marB="18288">
                    <a:solidFill>
                      <a:srgbClr val="FFFFFF"/>
                    </a:solidFill>
                  </a:tcPr>
                </a:tc>
                <a:tc>
                  <a:txBody>
                    <a:bodyPr wrap="square"/>
                    <a:lstStyle/>
                    <a:p>
                      <a:pPr algn="r"/>
                      <a:r>
                        <a:rPr sz="1150" b="0">
                          <a:solidFill>
                            <a:srgbClr val="1B1B1F"/>
                          </a:solidFill>
                          <a:latin typeface="Calibri"/>
                        </a:rPr>
                        <a:t>0.0320</a:t>
                      </a:r>
                    </a:p>
                  </a:txBody>
                  <a:tcPr marL="91440" marR="73152" marT="18288" marB="18288">
                    <a:solidFill>
                      <a:srgbClr val="FFFFFF"/>
                    </a:solidFill>
                  </a:tcPr>
                </a:tc>
                <a:tc>
                  <a:txBody>
                    <a:bodyPr wrap="square"/>
                    <a:lstStyle/>
                    <a:p>
                      <a:pPr algn="r"/>
                      <a:r>
                        <a:rPr sz="1150" b="0">
                          <a:solidFill>
                            <a:srgbClr val="1B1B1F"/>
                          </a:solidFill>
                          <a:latin typeface="Calibri"/>
                        </a:rPr>
                        <a:t>0.5214</a:t>
                      </a:r>
                    </a:p>
                  </a:txBody>
                  <a:tcPr marL="91440" marR="73152" marT="18288" marB="18288">
                    <a:solidFill>
                      <a:srgbClr val="FFFFFF"/>
                    </a:solidFill>
                  </a:tcPr>
                </a:tc>
              </a:tr>
              <a:tr h="329184">
                <a:tc>
                  <a:txBody>
                    <a:bodyPr wrap="square"/>
                    <a:lstStyle/>
                    <a:p>
                      <a:pPr algn="l"/>
                      <a:r>
                        <a:rPr sz="1150" b="0">
                          <a:solidFill>
                            <a:srgbClr val="1B1B1F"/>
                          </a:solidFill>
                          <a:latin typeface="Calibri"/>
                        </a:rPr>
                        <a:t>GridSearch (DP)</a:t>
                      </a:r>
                    </a:p>
                  </a:txBody>
                  <a:tcPr marL="91440" marR="73152" marT="18288" marB="18288">
                    <a:solidFill>
                      <a:srgbClr val="F4F6FA"/>
                    </a:solidFill>
                  </a:tcPr>
                </a:tc>
                <a:tc>
                  <a:txBody>
                    <a:bodyPr wrap="square"/>
                    <a:lstStyle/>
                    <a:p>
                      <a:pPr algn="r"/>
                      <a:r>
                        <a:rPr sz="1150" b="0">
                          <a:solidFill>
                            <a:srgbClr val="1B1B1F"/>
                          </a:solidFill>
                          <a:latin typeface="Calibri"/>
                        </a:rPr>
                        <a:t>0.8265</a:t>
                      </a:r>
                    </a:p>
                  </a:txBody>
                  <a:tcPr marL="91440" marR="73152" marT="18288" marB="18288">
                    <a:solidFill>
                      <a:srgbClr val="F4F6FA"/>
                    </a:solidFill>
                  </a:tcPr>
                </a:tc>
                <a:tc>
                  <a:txBody>
                    <a:bodyPr wrap="square"/>
                    <a:lstStyle/>
                    <a:p>
                      <a:pPr algn="r"/>
                      <a:r>
                        <a:rPr sz="1150" b="0">
                          <a:solidFill>
                            <a:srgbClr val="1B1B1F"/>
                          </a:solidFill>
                          <a:latin typeface="Calibri"/>
                        </a:rPr>
                        <a:t>0.0150</a:t>
                      </a:r>
                    </a:p>
                  </a:txBody>
                  <a:tcPr marL="91440" marR="73152" marT="18288" marB="18288">
                    <a:solidFill>
                      <a:srgbClr val="F4F6FA"/>
                    </a:solidFill>
                  </a:tcPr>
                </a:tc>
                <a:tc>
                  <a:txBody>
                    <a:bodyPr wrap="square"/>
                    <a:lstStyle/>
                    <a:p>
                      <a:pPr algn="r"/>
                      <a:r>
                        <a:rPr sz="1150" b="0">
                          <a:solidFill>
                            <a:srgbClr val="1B1B1F"/>
                          </a:solidFill>
                          <a:latin typeface="Calibri"/>
                        </a:rPr>
                        <a:t>0.3040</a:t>
                      </a:r>
                    </a:p>
                  </a:txBody>
                  <a:tcPr marL="91440" marR="73152" marT="18288" marB="18288">
                    <a:solidFill>
                      <a:srgbClr val="F4F6FA"/>
                    </a:solidFill>
                  </a:tcPr>
                </a:tc>
                <a:tc>
                  <a:txBody>
                    <a:bodyPr wrap="square"/>
                    <a:lstStyle/>
                    <a:p>
                      <a:pPr algn="r"/>
                      <a:r>
                        <a:rPr sz="1150" b="0">
                          <a:solidFill>
                            <a:srgbClr val="1B1B1F"/>
                          </a:solidFill>
                          <a:latin typeface="Calibri"/>
                        </a:rPr>
                        <a:t>0.9859</a:t>
                      </a:r>
                    </a:p>
                  </a:txBody>
                  <a:tcPr marL="91440" marR="73152" marT="18288" marB="18288">
                    <a:solidFill>
                      <a:srgbClr val="F4F6FA"/>
                    </a:solidFill>
                  </a:tcPr>
                </a:tc>
              </a:tr>
              <a:tr h="329184">
                <a:tc>
                  <a:txBody>
                    <a:bodyPr wrap="square"/>
                    <a:lstStyle/>
                    <a:p>
                      <a:pPr algn="l"/>
                      <a:r>
                        <a:rPr sz="1150" b="0">
                          <a:solidFill>
                            <a:srgbClr val="1B1B1F"/>
                          </a:solidFill>
                          <a:latin typeface="Calibri"/>
                        </a:rPr>
                        <a:t>Prejudice Remover</a:t>
                      </a:r>
                    </a:p>
                  </a:txBody>
                  <a:tcPr marL="91440" marR="73152" marT="18288" marB="18288">
                    <a:solidFill>
                      <a:srgbClr val="FFFFFF"/>
                    </a:solidFill>
                  </a:tcPr>
                </a:tc>
                <a:tc>
                  <a:txBody>
                    <a:bodyPr wrap="square"/>
                    <a:lstStyle/>
                    <a:p>
                      <a:pPr algn="r"/>
                      <a:r>
                        <a:rPr sz="1150" b="0">
                          <a:solidFill>
                            <a:srgbClr val="1B1B1F"/>
                          </a:solidFill>
                          <a:latin typeface="Calibri"/>
                        </a:rPr>
                        <a:t>0.8365</a:t>
                      </a:r>
                    </a:p>
                  </a:txBody>
                  <a:tcPr marL="91440" marR="73152" marT="18288" marB="18288">
                    <a:solidFill>
                      <a:srgbClr val="FFFFFF"/>
                    </a:solidFill>
                  </a:tcPr>
                </a:tc>
                <a:tc>
                  <a:txBody>
                    <a:bodyPr wrap="square"/>
                    <a:lstStyle/>
                    <a:p>
                      <a:pPr algn="r"/>
                      <a:r>
                        <a:rPr sz="1150" b="0">
                          <a:solidFill>
                            <a:srgbClr val="1B1B1F"/>
                          </a:solidFill>
                          <a:latin typeface="Calibri"/>
                        </a:rPr>
                        <a:t>0.0645</a:t>
                      </a:r>
                    </a:p>
                  </a:txBody>
                  <a:tcPr marL="91440" marR="73152" marT="18288" marB="18288">
                    <a:solidFill>
                      <a:srgbClr val="FFFFFF"/>
                    </a:solidFill>
                  </a:tcPr>
                </a:tc>
                <a:tc>
                  <a:txBody>
                    <a:bodyPr wrap="square"/>
                    <a:lstStyle/>
                    <a:p>
                      <a:pPr algn="r"/>
                      <a:r>
                        <a:rPr sz="1150" b="0">
                          <a:solidFill>
                            <a:srgbClr val="1B1B1F"/>
                          </a:solidFill>
                          <a:latin typeface="Calibri"/>
                        </a:rPr>
                        <a:t>0.1884</a:t>
                      </a:r>
                    </a:p>
                  </a:txBody>
                  <a:tcPr marL="91440" marR="73152" marT="18288" marB="18288">
                    <a:solidFill>
                      <a:srgbClr val="FFFFFF"/>
                    </a:solidFill>
                  </a:tcPr>
                </a:tc>
                <a:tc>
                  <a:txBody>
                    <a:bodyPr wrap="square"/>
                    <a:lstStyle/>
                    <a:p>
                      <a:pPr algn="r"/>
                      <a:r>
                        <a:rPr sz="1150" b="0">
                          <a:solidFill>
                            <a:srgbClr val="1B1B1F"/>
                          </a:solidFill>
                          <a:latin typeface="Calibri"/>
                        </a:rPr>
                        <a:t>0.6860</a:t>
                      </a:r>
                    </a:p>
                  </a:txBody>
                  <a:tcPr marL="91440" marR="73152" marT="18288" marB="18288">
                    <a:solidFill>
                      <a:srgbClr val="FFFFFF"/>
                    </a:solidFill>
                  </a:tcPr>
                </a:tc>
              </a:tr>
              <a:tr h="329184">
                <a:tc>
                  <a:txBody>
                    <a:bodyPr wrap="square"/>
                    <a:lstStyle/>
                    <a:p>
                      <a:pPr algn="l"/>
                      <a:r>
                        <a:rPr sz="1150" b="0">
                          <a:solidFill>
                            <a:srgbClr val="1B1B1F"/>
                          </a:solidFill>
                          <a:latin typeface="Calibri"/>
                        </a:rPr>
                        <a:t>Adversarial Debiasing</a:t>
                      </a:r>
                    </a:p>
                  </a:txBody>
                  <a:tcPr marL="91440" marR="73152" marT="18288" marB="18288">
                    <a:solidFill>
                      <a:srgbClr val="F4F6FA"/>
                    </a:solidFill>
                  </a:tcPr>
                </a:tc>
                <a:tc>
                  <a:txBody>
                    <a:bodyPr wrap="square"/>
                    <a:lstStyle/>
                    <a:p>
                      <a:pPr algn="r"/>
                      <a:r>
                        <a:rPr sz="1150" b="0">
                          <a:solidFill>
                            <a:srgbClr val="1B1B1F"/>
                          </a:solidFill>
                          <a:latin typeface="Calibri"/>
                        </a:rPr>
                        <a:t>0.8260</a:t>
                      </a:r>
                    </a:p>
                  </a:txBody>
                  <a:tcPr marL="91440" marR="73152" marT="18288" marB="18288">
                    <a:solidFill>
                      <a:srgbClr val="F4F6FA"/>
                    </a:solidFill>
                  </a:tcPr>
                </a:tc>
                <a:tc>
                  <a:txBody>
                    <a:bodyPr wrap="square"/>
                    <a:lstStyle/>
                    <a:p>
                      <a:pPr algn="r"/>
                      <a:r>
                        <a:rPr sz="1150" b="0">
                          <a:solidFill>
                            <a:srgbClr val="1B1B1F"/>
                          </a:solidFill>
                          <a:latin typeface="Calibri"/>
                        </a:rPr>
                        <a:t>0.0202</a:t>
                      </a:r>
                    </a:p>
                  </a:txBody>
                  <a:tcPr marL="91440" marR="73152" marT="18288" marB="18288">
                    <a:solidFill>
                      <a:srgbClr val="F4F6FA"/>
                    </a:solidFill>
                  </a:tcPr>
                </a:tc>
                <a:tc>
                  <a:txBody>
                    <a:bodyPr wrap="square"/>
                    <a:lstStyle/>
                    <a:p>
                      <a:pPr algn="r"/>
                      <a:r>
                        <a:rPr sz="1150" b="0">
                          <a:solidFill>
                            <a:srgbClr val="1B1B1F"/>
                          </a:solidFill>
                          <a:latin typeface="Calibri"/>
                        </a:rPr>
                        <a:t>0.2504</a:t>
                      </a:r>
                    </a:p>
                  </a:txBody>
                  <a:tcPr marL="91440" marR="73152" marT="18288" marB="18288">
                    <a:solidFill>
                      <a:srgbClr val="F4F6FA"/>
                    </a:solidFill>
                  </a:tcPr>
                </a:tc>
                <a:tc>
                  <a:txBody>
                    <a:bodyPr wrap="square"/>
                    <a:lstStyle/>
                    <a:p>
                      <a:pPr algn="r"/>
                      <a:r>
                        <a:rPr sz="1150" b="0">
                          <a:solidFill>
                            <a:srgbClr val="1B1B1F"/>
                          </a:solidFill>
                          <a:latin typeface="Calibri"/>
                        </a:rPr>
                        <a:t>0.8894</a:t>
                      </a:r>
                    </a:p>
                  </a:txBody>
                  <a:tcPr marL="91440" marR="73152" marT="18288" marB="18288">
                    <a:solidFill>
                      <a:srgbClr val="F4F6FA"/>
                    </a:solidFill>
                  </a:tcPr>
                </a:tc>
              </a:tr>
            </a:tbl>
          </a:graphicData>
        </a:graphic>
      </p:graphicFrame>
      <p:sp>
        <p:nvSpPr>
          <p:cNvPr id="5" name="TextBox 4"/>
          <p:cNvSpPr txBox="1"/>
          <p:nvPr/>
        </p:nvSpPr>
        <p:spPr>
          <a:xfrm>
            <a:off x="640080" y="4434840"/>
            <a:ext cx="10881360" cy="310896"/>
          </a:xfrm>
          <a:prstGeom prst="rect">
            <a:avLst/>
          </a:prstGeom>
          <a:noFill/>
        </p:spPr>
        <p:txBody>
          <a:bodyPr wrap="square">
            <a:spAutoFit/>
          </a:bodyPr>
          <a:lstStyle/>
          <a:p>
            <a:pPr algn="l">
              <a:lnSpc>
                <a:spcPct val="100000"/>
              </a:lnSpc>
            </a:pPr>
            <a:r>
              <a:rPr sz="1200" b="1">
                <a:solidFill>
                  <a:srgbClr val="1E2761"/>
                </a:solidFill>
                <a:latin typeface="Calibri"/>
              </a:rPr>
              <a:t>Prejudice Remover and Adversarial Debiasing were implemented from their papers in PyTorch, not taken from a library.</a:t>
            </a:r>
          </a:p>
        </p:txBody>
      </p:sp>
      <p:sp>
        <p:nvSpPr>
          <p:cNvPr id="6" name="Rounded Rectangle 5"/>
          <p:cNvSpPr/>
          <p:nvPr/>
        </p:nvSpPr>
        <p:spPr>
          <a:xfrm>
            <a:off x="640080" y="4800600"/>
            <a:ext cx="10881360" cy="141732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4937760"/>
            <a:ext cx="10332720" cy="1143000"/>
          </a:xfrm>
          <a:prstGeom prst="rect">
            <a:avLst/>
          </a:prstGeom>
          <a:noFill/>
        </p:spPr>
        <p:txBody>
          <a:bodyPr wrap="square">
            <a:spAutoFit/>
          </a:bodyPr>
          <a:lstStyle/>
          <a:p>
            <a:pPr algn="l">
              <a:lnSpc>
                <a:spcPct val="100000"/>
              </a:lnSpc>
            </a:pPr>
            <a:r>
              <a:rPr sz="1350" b="0">
                <a:solidFill>
                  <a:srgbClr val="1B1B1F"/>
                </a:solidFill>
                <a:latin typeface="Calibri"/>
              </a:rPr>
              <a:t>Verified by degenerate cases: with η = 0 the Prejudice Remover penalty vanishes and it must reduce to per-group logistic regression — it reproduces it to 99.88% prediction agreement. Both fairness knobs are checked for monotonicity, which is what would catch a sign error. 4/4 passing.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00000"/>
              </a:lnSpc>
            </a:pPr>
            <a:r>
              <a:rPr sz="2600" b="1">
                <a:solidFill>
                  <a:srgbClr val="1E2761"/>
                </a:solidFill>
                <a:latin typeface="Cambria"/>
              </a:rPr>
              <a:t>Result 4 — Two of Our Own Predictions Were Wrong</a:t>
            </a:r>
          </a:p>
        </p:txBody>
      </p:sp>
      <p:sp>
        <p:nvSpPr>
          <p:cNvPr id="3" name="TextBox 2"/>
          <p:cNvSpPr txBox="1"/>
          <p:nvPr/>
        </p:nvSpPr>
        <p:spPr>
          <a:xfrm>
            <a:off x="640080" y="1033271"/>
            <a:ext cx="10881360" cy="384048"/>
          </a:xfrm>
          <a:prstGeom prst="rect">
            <a:avLst/>
          </a:prstGeom>
          <a:noFill/>
        </p:spPr>
        <p:txBody>
          <a:bodyPr wrap="square">
            <a:spAutoFit/>
          </a:bodyPr>
          <a:lstStyle/>
          <a:p>
            <a:pPr algn="l">
              <a:lnSpc>
                <a:spcPct val="100000"/>
              </a:lnSpc>
            </a:pPr>
            <a:r>
              <a:rPr sz="1350" b="0">
                <a:solidFill>
                  <a:srgbClr val="5A6270"/>
                </a:solidFill>
                <a:latin typeface="Calibri"/>
              </a:rPr>
              <a:t>The three ablation questions, answered against the data rather than against intuition.</a:t>
            </a:r>
          </a:p>
        </p:txBody>
      </p:sp>
      <p:sp>
        <p:nvSpPr>
          <p:cNvPr id="4" name="Rounded Rectangle 3"/>
          <p:cNvSpPr/>
          <p:nvPr/>
        </p:nvSpPr>
        <p:spPr>
          <a:xfrm>
            <a:off x="640080" y="1645920"/>
            <a:ext cx="3429000" cy="210312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783080"/>
            <a:ext cx="2971800" cy="365760"/>
          </a:xfrm>
          <a:prstGeom prst="rect">
            <a:avLst/>
          </a:prstGeom>
          <a:noFill/>
        </p:spPr>
        <p:txBody>
          <a:bodyPr wrap="square">
            <a:spAutoFit/>
          </a:bodyPr>
          <a:lstStyle/>
          <a:p>
            <a:pPr algn="l">
              <a:lnSpc>
                <a:spcPct val="100000"/>
              </a:lnSpc>
            </a:pPr>
            <a:r>
              <a:rPr sz="1500" b="1">
                <a:solidFill>
                  <a:srgbClr val="1E2761"/>
                </a:solidFill>
                <a:latin typeface="Cambria"/>
              </a:rPr>
              <a:t>Q1 · Best value?</a:t>
            </a:r>
          </a:p>
        </p:txBody>
      </p:sp>
      <p:sp>
        <p:nvSpPr>
          <p:cNvPr id="6" name="TextBox 5"/>
          <p:cNvSpPr txBox="1"/>
          <p:nvPr/>
        </p:nvSpPr>
        <p:spPr>
          <a:xfrm>
            <a:off x="868680" y="2194560"/>
            <a:ext cx="2971800" cy="1417320"/>
          </a:xfrm>
          <a:prstGeom prst="rect">
            <a:avLst/>
          </a:prstGeom>
          <a:noFill/>
        </p:spPr>
        <p:txBody>
          <a:bodyPr wrap="square">
            <a:spAutoFit/>
          </a:bodyPr>
          <a:lstStyle/>
          <a:p>
            <a:pPr algn="l">
              <a:lnSpc>
                <a:spcPct val="100000"/>
              </a:lnSpc>
            </a:pPr>
            <a:r>
              <a:rPr sz="1250" b="0">
                <a:solidFill>
                  <a:srgbClr val="1B1B1F"/>
                </a:solidFill>
                <a:latin typeface="Calibri"/>
              </a:rPr>
              <a:t>Prejudice Remover — 11.7 parity points per accuracy point, 30% better than ExpGrad-DP. But it stops at DP 0.065; GridSearch reaches 0.015.</a:t>
            </a:r>
          </a:p>
        </p:txBody>
      </p:sp>
      <p:sp>
        <p:nvSpPr>
          <p:cNvPr id="7" name="Rounded Rectangle 6"/>
          <p:cNvSpPr/>
          <p:nvPr/>
        </p:nvSpPr>
        <p:spPr>
          <a:xfrm>
            <a:off x="4370832" y="1645920"/>
            <a:ext cx="3429000" cy="2103120"/>
          </a:xfrm>
          <a:prstGeom prst="roundRect">
            <a:avLst>
              <a:gd name="adj" fmla="val 4000"/>
            </a:avLst>
          </a:prstGeom>
          <a:solidFill>
            <a:srgbClr val="FDF3E2"/>
          </a:solidFill>
          <a:ln w="952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99432" y="1783080"/>
            <a:ext cx="2971800" cy="365760"/>
          </a:xfrm>
          <a:prstGeom prst="rect">
            <a:avLst/>
          </a:prstGeom>
          <a:noFill/>
        </p:spPr>
        <p:txBody>
          <a:bodyPr wrap="square">
            <a:spAutoFit/>
          </a:bodyPr>
          <a:lstStyle/>
          <a:p>
            <a:pPr algn="l">
              <a:lnSpc>
                <a:spcPct val="100000"/>
              </a:lnSpc>
            </a:pPr>
            <a:r>
              <a:rPr sz="1500" b="1">
                <a:solidFill>
                  <a:srgbClr val="1E2761"/>
                </a:solidFill>
                <a:latin typeface="Cambria"/>
              </a:rPr>
              <a:t>Q2 · Most stable?</a:t>
            </a:r>
          </a:p>
        </p:txBody>
      </p:sp>
      <p:sp>
        <p:nvSpPr>
          <p:cNvPr id="9" name="TextBox 8"/>
          <p:cNvSpPr txBox="1"/>
          <p:nvPr/>
        </p:nvSpPr>
        <p:spPr>
          <a:xfrm>
            <a:off x="4599432" y="2194560"/>
            <a:ext cx="2971800" cy="1417320"/>
          </a:xfrm>
          <a:prstGeom prst="rect">
            <a:avLst/>
          </a:prstGeom>
          <a:noFill/>
        </p:spPr>
        <p:txBody>
          <a:bodyPr wrap="square">
            <a:spAutoFit/>
          </a:bodyPr>
          <a:lstStyle/>
          <a:p>
            <a:pPr algn="l">
              <a:lnSpc>
                <a:spcPct val="100000"/>
              </a:lnSpc>
            </a:pPr>
            <a:r>
              <a:rPr sz="1250" b="0">
                <a:solidFill>
                  <a:srgbClr val="1B1B1F"/>
                </a:solidFill>
                <a:latin typeface="Calibri"/>
              </a:rPr>
              <a:t>Adversarial Debiasing — std 0.0011, the most stable in the study. We predicted it would be the least. GridSearch is 6× worse.</a:t>
            </a:r>
          </a:p>
        </p:txBody>
      </p:sp>
      <p:sp>
        <p:nvSpPr>
          <p:cNvPr id="10" name="Rounded Rectangle 9"/>
          <p:cNvSpPr/>
          <p:nvPr/>
        </p:nvSpPr>
        <p:spPr>
          <a:xfrm>
            <a:off x="8101583" y="1645920"/>
            <a:ext cx="3419856" cy="210312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330183" y="1783080"/>
            <a:ext cx="2962656" cy="365760"/>
          </a:xfrm>
          <a:prstGeom prst="rect">
            <a:avLst/>
          </a:prstGeom>
          <a:noFill/>
        </p:spPr>
        <p:txBody>
          <a:bodyPr wrap="square">
            <a:spAutoFit/>
          </a:bodyPr>
          <a:lstStyle/>
          <a:p>
            <a:pPr algn="l">
              <a:lnSpc>
                <a:spcPct val="100000"/>
              </a:lnSpc>
            </a:pPr>
            <a:r>
              <a:rPr sz="1500" b="1">
                <a:solidFill>
                  <a:srgbClr val="1E2761"/>
                </a:solidFill>
                <a:latin typeface="Cambria"/>
              </a:rPr>
              <a:t>Q3 · Ranking stable?</a:t>
            </a:r>
          </a:p>
        </p:txBody>
      </p:sp>
      <p:sp>
        <p:nvSpPr>
          <p:cNvPr id="12" name="TextBox 11"/>
          <p:cNvSpPr txBox="1"/>
          <p:nvPr/>
        </p:nvSpPr>
        <p:spPr>
          <a:xfrm>
            <a:off x="8330183" y="2194560"/>
            <a:ext cx="2962656" cy="1417320"/>
          </a:xfrm>
          <a:prstGeom prst="rect">
            <a:avLst/>
          </a:prstGeom>
          <a:noFill/>
        </p:spPr>
        <p:txBody>
          <a:bodyPr wrap="square">
            <a:spAutoFit/>
          </a:bodyPr>
          <a:lstStyle/>
          <a:p>
            <a:pPr algn="l">
              <a:lnSpc>
                <a:spcPct val="100000"/>
              </a:lnSpc>
            </a:pPr>
            <a:r>
              <a:rPr sz="1250" b="0">
                <a:solidFill>
                  <a:srgbClr val="1B1B1F"/>
                </a:solidFill>
                <a:latin typeface="Calibri"/>
              </a:rPr>
              <a:t>It inverts. The best DP method is the worst EO method. Four of five mitigations are worse than no mitigation on equalized odds.</a:t>
            </a:r>
          </a:p>
        </p:txBody>
      </p:sp>
      <p:sp>
        <p:nvSpPr>
          <p:cNvPr id="13" name="TextBox 12"/>
          <p:cNvSpPr txBox="1"/>
          <p:nvPr/>
        </p:nvSpPr>
        <p:spPr>
          <a:xfrm>
            <a:off x="640080" y="3931920"/>
            <a:ext cx="10881360" cy="329184"/>
          </a:xfrm>
          <a:prstGeom prst="rect">
            <a:avLst/>
          </a:prstGeom>
          <a:noFill/>
        </p:spPr>
        <p:txBody>
          <a:bodyPr wrap="square">
            <a:spAutoFit/>
          </a:bodyPr>
          <a:lstStyle/>
          <a:p>
            <a:pPr algn="l">
              <a:lnSpc>
                <a:spcPct val="100000"/>
              </a:lnSpc>
            </a:pPr>
            <a:r>
              <a:rPr sz="1500" b="1">
                <a:solidFill>
                  <a:srgbClr val="1E2761"/>
                </a:solidFill>
                <a:latin typeface="Cambria"/>
              </a:rPr>
              <a:t>Why the stability intuition failed</a:t>
            </a:r>
          </a:p>
        </p:txBody>
      </p:sp>
      <p:sp>
        <p:nvSpPr>
          <p:cNvPr id="14" name="TextBox 13"/>
          <p:cNvSpPr txBox="1"/>
          <p:nvPr/>
        </p:nvSpPr>
        <p:spPr>
          <a:xfrm>
            <a:off x="640080" y="4315968"/>
            <a:ext cx="10881360" cy="868680"/>
          </a:xfrm>
          <a:prstGeom prst="rect">
            <a:avLst/>
          </a:prstGeom>
          <a:noFill/>
        </p:spPr>
        <p:txBody>
          <a:bodyPr wrap="square">
            <a:spAutoFit/>
          </a:bodyPr>
          <a:lstStyle/>
          <a:p>
            <a:pPr algn="l">
              <a:lnSpc>
                <a:spcPct val="100000"/>
              </a:lnSpc>
            </a:pPr>
            <a:r>
              <a:rPr sz="1350" b="0">
                <a:solidFill>
                  <a:srgbClr val="1B1B1F"/>
                </a:solidFill>
                <a:latin typeface="Calibri"/>
              </a:rPr>
              <a:t>The variance is across seeds, and a seed changes the train/test split. GridSearch takes a discrete argmax over a coarse 15-point λ grid, so a small change in the data flips which grid point wins and the answer moves discontinuously. Adversarial Debiasing has no selection step. The instability came from model selection, not from stochastic training.</a:t>
            </a:r>
          </a:p>
        </p:txBody>
      </p:sp>
      <p:sp>
        <p:nvSpPr>
          <p:cNvPr id="15" name="Rounded Rectangle 14"/>
          <p:cNvSpPr/>
          <p:nvPr/>
        </p:nvSpPr>
        <p:spPr>
          <a:xfrm>
            <a:off x="640080" y="5349240"/>
            <a:ext cx="10881360" cy="914400"/>
          </a:xfrm>
          <a:prstGeom prst="roundRect">
            <a:avLst>
              <a:gd name="adj" fmla="val 4000"/>
            </a:avLst>
          </a:prstGeom>
          <a:solidFill>
            <a:srgbClr val="FDF3E2"/>
          </a:solidFill>
          <a:ln w="952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5504688"/>
            <a:ext cx="10332720" cy="640080"/>
          </a:xfrm>
          <a:prstGeom prst="rect">
            <a:avLst/>
          </a:prstGeom>
          <a:noFill/>
        </p:spPr>
        <p:txBody>
          <a:bodyPr wrap="square">
            <a:spAutoFit/>
          </a:bodyPr>
          <a:lstStyle/>
          <a:p>
            <a:pPr algn="l">
              <a:lnSpc>
                <a:spcPct val="100000"/>
              </a:lnSpc>
            </a:pPr>
            <a:r>
              <a:rPr sz="1350" b="1">
                <a:solidFill>
                  <a:srgbClr val="1B1B1F"/>
                </a:solidFill>
                <a:latin typeface="Calibri"/>
              </a:rPr>
              <a:t>An engineer deploying GridSearch-DP on its parity score would take equalized odds from 0.095 to 0.304 — 3.2× worse than doing nothing — while the dashboard showed green.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00000"/>
              </a:lnSpc>
            </a:pPr>
            <a:r>
              <a:rPr sz="2600" b="1">
                <a:solidFill>
                  <a:srgbClr val="1E2761"/>
                </a:solidFill>
                <a:latin typeface="Cambria"/>
              </a:rPr>
              <a:t>Contribution 1 — Who Pays for the Fairness Fix?</a:t>
            </a:r>
          </a:p>
        </p:txBody>
      </p:sp>
      <p:sp>
        <p:nvSpPr>
          <p:cNvPr id="3" name="TextBox 2"/>
          <p:cNvSpPr txBox="1"/>
          <p:nvPr/>
        </p:nvSpPr>
        <p:spPr>
          <a:xfrm>
            <a:off x="640080" y="1033271"/>
            <a:ext cx="10881360" cy="384048"/>
          </a:xfrm>
          <a:prstGeom prst="rect">
            <a:avLst/>
          </a:prstGeom>
          <a:noFill/>
        </p:spPr>
        <p:txBody>
          <a:bodyPr wrap="square">
            <a:spAutoFit/>
          </a:bodyPr>
          <a:lstStyle/>
          <a:p>
            <a:pPr algn="l">
              <a:lnSpc>
                <a:spcPct val="100000"/>
              </a:lnSpc>
            </a:pPr>
            <a:r>
              <a:rPr sz="1350" b="0">
                <a:solidFill>
                  <a:srgbClr val="5A6270"/>
                </a:solidFill>
                <a:latin typeface="Calibri"/>
              </a:rPr>
              <a:t>Not in the plan. A gap can close by lifting one group or lowering the other. The metric is identical either way.</a:t>
            </a:r>
          </a:p>
        </p:txBody>
      </p:sp>
      <p:pic>
        <p:nvPicPr>
          <p:cNvPr id="4" name="Picture 3" descr="who_pays_incidence.png"/>
          <p:cNvPicPr>
            <a:picLocks noChangeAspect="1"/>
          </p:cNvPicPr>
          <p:nvPr/>
        </p:nvPicPr>
        <p:blipFill>
          <a:blip r:embed="rId2"/>
          <a:stretch>
            <a:fillRect/>
          </a:stretch>
        </p:blipFill>
        <p:spPr>
          <a:xfrm>
            <a:off x="640080" y="1572768"/>
            <a:ext cx="6720840" cy="3267999"/>
          </a:xfrm>
          <a:prstGeom prst="rect">
            <a:avLst/>
          </a:prstGeom>
        </p:spPr>
      </p:pic>
      <p:sp>
        <p:nvSpPr>
          <p:cNvPr id="5" name="Rounded Rectangle 4"/>
          <p:cNvSpPr/>
          <p:nvPr/>
        </p:nvSpPr>
        <p:spPr>
          <a:xfrm>
            <a:off x="7635240" y="1572768"/>
            <a:ext cx="3886200" cy="416052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63840" y="1737360"/>
            <a:ext cx="3429000" cy="365760"/>
          </a:xfrm>
          <a:prstGeom prst="rect">
            <a:avLst/>
          </a:prstGeom>
          <a:noFill/>
        </p:spPr>
        <p:txBody>
          <a:bodyPr wrap="square">
            <a:spAutoFit/>
          </a:bodyPr>
          <a:lstStyle/>
          <a:p>
            <a:pPr algn="l">
              <a:lnSpc>
                <a:spcPct val="100000"/>
              </a:lnSpc>
            </a:pPr>
            <a:r>
              <a:rPr sz="1500" b="1">
                <a:solidFill>
                  <a:srgbClr val="1E2761"/>
                </a:solidFill>
                <a:latin typeface="Cambria"/>
              </a:rPr>
              <a:t>What the table cannot say</a:t>
            </a:r>
          </a:p>
        </p:txBody>
      </p:sp>
      <p:sp>
        <p:nvSpPr>
          <p:cNvPr id="7" name="TextBox 6"/>
          <p:cNvSpPr txBox="1"/>
          <p:nvPr/>
        </p:nvSpPr>
        <p:spPr>
          <a:xfrm>
            <a:off x="7863840" y="2176272"/>
            <a:ext cx="3429000" cy="3383280"/>
          </a:xfrm>
          <a:prstGeom prst="rect">
            <a:avLst/>
          </a:prstGeom>
          <a:noFill/>
        </p:spPr>
        <p:txBody>
          <a:bodyPr wrap="square">
            <a:spAutoFit/>
          </a:bodyPr>
          <a:lstStyle/>
          <a:p>
            <a:pPr algn="l">
              <a:lnSpc>
                <a:spcPct val="105000"/>
              </a:lnSpc>
            </a:pPr>
            <a:r>
              <a:rPr sz="1300" b="0">
                <a:solidFill>
                  <a:srgbClr val="1B1B1F"/>
                </a:solidFill>
                <a:latin typeface="Calibri"/>
              </a:rPr>
              <a:t>ExpGrad-DP took demographic parity from 0.186 to 0.018.</a:t>
            </a:r>
          </a:p>
          <a:p>
            <a:pPr algn="l">
              <a:lnSpc>
                <a:spcPct val="105000"/>
              </a:lnSpc>
            </a:pPr>
            <a:r>
              <a:rPr sz="1300" b="0">
                <a:solidFill>
                  <a:srgbClr val="1B1B1F"/>
                </a:solidFill>
                <a:latin typeface="Calibri"/>
              </a:rPr>
              <a:t/>
            </a:r>
          </a:p>
          <a:p>
            <a:pPr algn="l">
              <a:lnSpc>
                <a:spcPct val="105000"/>
              </a:lnSpc>
            </a:pPr>
            <a:r>
              <a:rPr sz="1300" b="0">
                <a:solidFill>
                  <a:srgbClr val="1B1B1F"/>
                </a:solidFill>
                <a:latin typeface="Calibri"/>
              </a:rPr>
              <a:t>It did that by taking approval from 909 men so 316 women could gain it — 2.7 lost per 1 gained.</a:t>
            </a:r>
          </a:p>
          <a:p>
            <a:pPr algn="l">
              <a:lnSpc>
                <a:spcPct val="105000"/>
              </a:lnSpc>
            </a:pPr>
            <a:r>
              <a:rPr sz="1300" b="0">
                <a:solidFill>
                  <a:srgbClr val="1B1B1F"/>
                </a:solidFill>
                <a:latin typeface="Calibri"/>
              </a:rPr>
              <a:t/>
            </a:r>
          </a:p>
          <a:p>
            <a:pPr algn="l">
              <a:lnSpc>
                <a:spcPct val="105000"/>
              </a:lnSpc>
            </a:pPr>
            <a:r>
              <a:rPr sz="1300" b="0">
                <a:solidFill>
                  <a:srgbClr val="1B1B1F"/>
                </a:solidFill>
                <a:latin typeface="Calibri"/>
              </a:rPr>
              <a:t>Measured in rates the split looks even (0.57); measured in people it is 0.74, because the privileged group is 2.1× larger.</a:t>
            </a:r>
          </a:p>
          <a:p>
            <a:pPr algn="l">
              <a:lnSpc>
                <a:spcPct val="105000"/>
              </a:lnSpc>
            </a:pPr>
            <a:r>
              <a:rPr sz="1300" b="0">
                <a:solidFill>
                  <a:srgbClr val="1B1B1F"/>
                </a:solidFill>
                <a:latin typeface="Calibri"/>
              </a:rPr>
              <a:t/>
            </a:r>
          </a:p>
          <a:p>
            <a:pPr algn="l">
              <a:lnSpc>
                <a:spcPct val="105000"/>
              </a:lnSpc>
            </a:pPr>
            <a:r>
              <a:rPr sz="1300" b="0">
                <a:solidFill>
                  <a:srgbClr val="1B1B1F"/>
                </a:solidFill>
                <a:latin typeface="Calibri"/>
              </a:rPr>
              <a:t>Every method shrank the total number of favourable decisions. Not one levelled up.</a:t>
            </a:r>
          </a:p>
        </p:txBody>
      </p:sp>
      <p:sp>
        <p:nvSpPr>
          <p:cNvPr id="8" name="Rounded Rectangle 7"/>
          <p:cNvSpPr/>
          <p:nvPr/>
        </p:nvSpPr>
        <p:spPr>
          <a:xfrm>
            <a:off x="640080" y="5870448"/>
            <a:ext cx="10881360" cy="749808"/>
          </a:xfrm>
          <a:prstGeom prst="roundRect">
            <a:avLst>
              <a:gd name="adj" fmla="val 4000"/>
            </a:avLst>
          </a:prstGeom>
          <a:solidFill>
            <a:srgbClr val="FDF3E2"/>
          </a:solidFill>
          <a:ln w="952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5989320"/>
            <a:ext cx="10332720" cy="548640"/>
          </a:xfrm>
          <a:prstGeom prst="rect">
            <a:avLst/>
          </a:prstGeom>
          <a:noFill/>
        </p:spPr>
        <p:txBody>
          <a:bodyPr wrap="square">
            <a:spAutoFit/>
          </a:bodyPr>
          <a:lstStyle/>
          <a:p>
            <a:pPr algn="l">
              <a:lnSpc>
                <a:spcPct val="100000"/>
              </a:lnSpc>
            </a:pPr>
            <a:r>
              <a:rPr sz="1350" b="1">
                <a:solidFill>
                  <a:srgbClr val="1B1B1F"/>
                </a:solidFill>
                <a:latin typeface="Calibri"/>
              </a:rPr>
              <a:t>And 62% of ExpGrad-EO's individual-level effect is not fairness at all — two draws from the same fitted model disagree on 3.2% of people, against a 5.2% total change. The same applicant can apply twice and get two answers.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00000"/>
              </a:lnSpc>
            </a:pPr>
            <a:r>
              <a:rPr sz="2600" b="1">
                <a:solidFill>
                  <a:srgbClr val="1E2761"/>
                </a:solidFill>
                <a:latin typeface="Cambria"/>
              </a:rPr>
              <a:t>Contribution 2 — The Fairest Models Use Sex Proxies MORE</a:t>
            </a:r>
          </a:p>
        </p:txBody>
      </p:sp>
      <p:sp>
        <p:nvSpPr>
          <p:cNvPr id="3" name="TextBox 2"/>
          <p:cNvSpPr txBox="1"/>
          <p:nvPr/>
        </p:nvSpPr>
        <p:spPr>
          <a:xfrm>
            <a:off x="640080" y="1033271"/>
            <a:ext cx="10881360" cy="384048"/>
          </a:xfrm>
          <a:prstGeom prst="rect">
            <a:avLst/>
          </a:prstGeom>
          <a:noFill/>
        </p:spPr>
        <p:txBody>
          <a:bodyPr wrap="square">
            <a:spAutoFit/>
          </a:bodyPr>
          <a:lstStyle/>
          <a:p>
            <a:pPr algn="l">
              <a:lnSpc>
                <a:spcPct val="100000"/>
              </a:lnSpc>
            </a:pPr>
            <a:r>
              <a:rPr sz="1350" b="0">
                <a:solidFill>
                  <a:srgbClr val="5A6270"/>
                </a:solidFill>
                <a:latin typeface="Calibri"/>
              </a:rPr>
              <a:t>Our plan predicted proxy reliance would shrink after mitigation. It grew.</a:t>
            </a:r>
          </a:p>
        </p:txBody>
      </p:sp>
      <p:graphicFrame>
        <p:nvGraphicFramePr>
          <p:cNvPr id="4" name="Table 3"/>
          <p:cNvGraphicFramePr>
            <a:graphicFrameLocks noGrp="1"/>
          </p:cNvGraphicFramePr>
          <p:nvPr/>
        </p:nvGraphicFramePr>
        <p:xfrm>
          <a:off x="640080" y="1691640"/>
          <a:ext cx="10881360" cy="2359152"/>
        </p:xfrm>
        <a:graphic>
          <a:graphicData uri="http://schemas.openxmlformats.org/drawingml/2006/table">
            <a:tbl>
              <a:tblPr firstRow="1">
                <a:tableStyleId>{5C22544A-7EE6-4342-B048-85BDC9FD1C3A}</a:tableStyleId>
              </a:tblPr>
              <a:tblGrid>
                <a:gridCol w="3840480"/>
                <a:gridCol w="2651760"/>
                <a:gridCol w="2011680"/>
                <a:gridCol w="2377440"/>
              </a:tblGrid>
              <a:tr h="384048">
                <a:tc>
                  <a:txBody>
                    <a:bodyPr wrap="square"/>
                    <a:lstStyle/>
                    <a:p>
                      <a:pPr algn="l"/>
                      <a:r>
                        <a:rPr sz="1100" b="1">
                          <a:solidFill>
                            <a:srgbClr val="FFFFFF"/>
                          </a:solidFill>
                          <a:latin typeface="Calibri"/>
                        </a:rPr>
                        <a:t>Model</a:t>
                      </a:r>
                    </a:p>
                  </a:txBody>
                  <a:tcPr marL="91440" marR="73152" marT="18288" marB="18288">
                    <a:solidFill>
                      <a:srgbClr val="1E2761"/>
                    </a:solidFill>
                  </a:tcPr>
                </a:tc>
                <a:tc>
                  <a:txBody>
                    <a:bodyPr wrap="square"/>
                    <a:lstStyle/>
                    <a:p>
                      <a:pPr algn="r"/>
                      <a:r>
                        <a:rPr sz="1100" b="1">
                          <a:solidFill>
                            <a:srgbClr val="FFFFFF"/>
                          </a:solidFill>
                          <a:latin typeface="Calibri"/>
                        </a:rPr>
                        <a:t>Reliance on sex proxies</a:t>
                      </a:r>
                    </a:p>
                  </a:txBody>
                  <a:tcPr marL="91440" marR="73152" marT="18288" marB="18288">
                    <a:solidFill>
                      <a:srgbClr val="1E2761"/>
                    </a:solidFill>
                  </a:tcPr>
                </a:tc>
                <a:tc>
                  <a:txBody>
                    <a:bodyPr wrap="square"/>
                    <a:lstStyle/>
                    <a:p>
                      <a:pPr algn="r"/>
                      <a:r>
                        <a:rPr sz="1100" b="1">
                          <a:solidFill>
                            <a:srgbClr val="FFFFFF"/>
                          </a:solidFill>
                          <a:latin typeface="Calibri"/>
                        </a:rPr>
                        <a:t>vs baseline</a:t>
                      </a:r>
                    </a:p>
                  </a:txBody>
                  <a:tcPr marL="91440" marR="73152" marT="18288" marB="18288">
                    <a:solidFill>
                      <a:srgbClr val="1E2761"/>
                    </a:solidFill>
                  </a:tcPr>
                </a:tc>
                <a:tc>
                  <a:txBody>
                    <a:bodyPr wrap="square"/>
                    <a:lstStyle/>
                    <a:p>
                      <a:pPr algn="r"/>
                      <a:r>
                        <a:rPr sz="1100" b="1">
                          <a:solidFill>
                            <a:srgbClr val="FFFFFF"/>
                          </a:solidFill>
                          <a:latin typeface="Calibri"/>
                        </a:rPr>
                        <a:t>'relationship' alone</a:t>
                      </a:r>
                    </a:p>
                  </a:txBody>
                  <a:tcPr marL="91440" marR="73152" marT="18288" marB="18288">
                    <a:solidFill>
                      <a:srgbClr val="1E2761"/>
                    </a:solidFill>
                  </a:tcPr>
                </a:tc>
              </a:tr>
              <a:tr h="329184">
                <a:tc>
                  <a:txBody>
                    <a:bodyPr wrap="square"/>
                    <a:lstStyle/>
                    <a:p>
                      <a:pPr algn="l"/>
                      <a:r>
                        <a:rPr sz="1150" b="0">
                          <a:solidFill>
                            <a:srgbClr val="1B1B1F"/>
                          </a:solidFill>
                          <a:latin typeface="Calibri"/>
                        </a:rPr>
                        <a:t>Baseline (no mitigation)</a:t>
                      </a:r>
                    </a:p>
                  </a:txBody>
                  <a:tcPr marL="91440" marR="73152" marT="18288" marB="18288">
                    <a:solidFill>
                      <a:srgbClr val="FFFFFF"/>
                    </a:solidFill>
                  </a:tcPr>
                </a:tc>
                <a:tc>
                  <a:txBody>
                    <a:bodyPr wrap="square"/>
                    <a:lstStyle/>
                    <a:p>
                      <a:pPr algn="r"/>
                      <a:r>
                        <a:rPr sz="1150" b="0">
                          <a:solidFill>
                            <a:srgbClr val="1B1B1F"/>
                          </a:solidFill>
                          <a:latin typeface="Calibri"/>
                        </a:rPr>
                        <a:t>0.545</a:t>
                      </a:r>
                    </a:p>
                  </a:txBody>
                  <a:tcPr marL="91440" marR="73152" marT="18288" marB="18288">
                    <a:solidFill>
                      <a:srgbClr val="FFFFFF"/>
                    </a:solidFill>
                  </a:tcPr>
                </a:tc>
                <a:tc>
                  <a:txBody>
                    <a:bodyPr wrap="square"/>
                    <a:lstStyle/>
                    <a:p>
                      <a:pPr algn="r"/>
                      <a:r>
                        <a:rPr sz="1150" b="0">
                          <a:solidFill>
                            <a:srgbClr val="1B1B1F"/>
                          </a:solidFill>
                          <a:latin typeface="Calibri"/>
                        </a:rPr>
                        <a:t>—</a:t>
                      </a:r>
                    </a:p>
                  </a:txBody>
                  <a:tcPr marL="91440" marR="73152" marT="18288" marB="18288">
                    <a:solidFill>
                      <a:srgbClr val="FFFFFF"/>
                    </a:solidFill>
                  </a:tcPr>
                </a:tc>
                <a:tc>
                  <a:txBody>
                    <a:bodyPr wrap="square"/>
                    <a:lstStyle/>
                    <a:p>
                      <a:pPr algn="r"/>
                      <a:r>
                        <a:rPr sz="1150" b="0">
                          <a:solidFill>
                            <a:srgbClr val="1B1B1F"/>
                          </a:solidFill>
                          <a:latin typeface="Calibri"/>
                        </a:rPr>
                        <a:t>0.075</a:t>
                      </a:r>
                    </a:p>
                  </a:txBody>
                  <a:tcPr marL="91440" marR="73152" marT="18288" marB="18288">
                    <a:solidFill>
                      <a:srgbClr val="FFFFFF"/>
                    </a:solidFill>
                  </a:tcPr>
                </a:tc>
              </a:tr>
              <a:tr h="329184">
                <a:tc>
                  <a:txBody>
                    <a:bodyPr wrap="square"/>
                    <a:lstStyle/>
                    <a:p>
                      <a:pPr algn="l"/>
                      <a:r>
                        <a:rPr sz="1150" b="1">
                          <a:solidFill>
                            <a:srgbClr val="1B1B1F"/>
                          </a:solidFill>
                          <a:latin typeface="Calibri"/>
                        </a:rPr>
                        <a:t>ExpGrad (DP)</a:t>
                      </a:r>
                    </a:p>
                  </a:txBody>
                  <a:tcPr marL="91440" marR="73152" marT="18288" marB="18288">
                    <a:solidFill>
                      <a:srgbClr val="FDF3E2"/>
                    </a:solidFill>
                  </a:tcPr>
                </a:tc>
                <a:tc>
                  <a:txBody>
                    <a:bodyPr wrap="square"/>
                    <a:lstStyle/>
                    <a:p>
                      <a:pPr algn="r"/>
                      <a:r>
                        <a:rPr sz="1150" b="1">
                          <a:solidFill>
                            <a:srgbClr val="1B1B1F"/>
                          </a:solidFill>
                          <a:latin typeface="Calibri"/>
                        </a:rPr>
                        <a:t>0.586</a:t>
                      </a:r>
                    </a:p>
                  </a:txBody>
                  <a:tcPr marL="91440" marR="73152" marT="18288" marB="18288">
                    <a:solidFill>
                      <a:srgbClr val="FDF3E2"/>
                    </a:solidFill>
                  </a:tcPr>
                </a:tc>
                <a:tc>
                  <a:txBody>
                    <a:bodyPr wrap="square"/>
                    <a:lstStyle/>
                    <a:p>
                      <a:pPr algn="r"/>
                      <a:r>
                        <a:rPr sz="1150" b="1">
                          <a:solidFill>
                            <a:srgbClr val="1B1B1F"/>
                          </a:solidFill>
                          <a:latin typeface="Calibri"/>
                        </a:rPr>
                        <a:t>+7.6%</a:t>
                      </a:r>
                    </a:p>
                  </a:txBody>
                  <a:tcPr marL="91440" marR="73152" marT="18288" marB="18288">
                    <a:solidFill>
                      <a:srgbClr val="FDF3E2"/>
                    </a:solidFill>
                  </a:tcPr>
                </a:tc>
                <a:tc>
                  <a:txBody>
                    <a:bodyPr wrap="square"/>
                    <a:lstStyle/>
                    <a:p>
                      <a:pPr algn="r"/>
                      <a:r>
                        <a:rPr sz="1150" b="1">
                          <a:solidFill>
                            <a:srgbClr val="1B1B1F"/>
                          </a:solidFill>
                          <a:latin typeface="Calibri"/>
                        </a:rPr>
                        <a:t>0.189</a:t>
                      </a:r>
                    </a:p>
                  </a:txBody>
                  <a:tcPr marL="91440" marR="73152" marT="18288" marB="18288">
                    <a:solidFill>
                      <a:srgbClr val="FDF3E2"/>
                    </a:solidFill>
                  </a:tcPr>
                </a:tc>
              </a:tr>
              <a:tr h="329184">
                <a:tc>
                  <a:txBody>
                    <a:bodyPr wrap="square"/>
                    <a:lstStyle/>
                    <a:p>
                      <a:pPr algn="l"/>
                      <a:r>
                        <a:rPr sz="1150" b="0">
                          <a:solidFill>
                            <a:srgbClr val="1B1B1F"/>
                          </a:solidFill>
                          <a:latin typeface="Calibri"/>
                        </a:rPr>
                        <a:t>GridSearch (DP)</a:t>
                      </a:r>
                    </a:p>
                  </a:txBody>
                  <a:tcPr marL="91440" marR="73152" marT="18288" marB="18288">
                    <a:solidFill>
                      <a:srgbClr val="FFFFFF"/>
                    </a:solidFill>
                  </a:tcPr>
                </a:tc>
                <a:tc>
                  <a:txBody>
                    <a:bodyPr wrap="square"/>
                    <a:lstStyle/>
                    <a:p>
                      <a:pPr algn="r"/>
                      <a:r>
                        <a:rPr sz="1150" b="0">
                          <a:solidFill>
                            <a:srgbClr val="1B1B1F"/>
                          </a:solidFill>
                          <a:latin typeface="Calibri"/>
                        </a:rPr>
                        <a:t>0.586</a:t>
                      </a:r>
                    </a:p>
                  </a:txBody>
                  <a:tcPr marL="91440" marR="73152" marT="18288" marB="18288">
                    <a:solidFill>
                      <a:srgbClr val="FFFFFF"/>
                    </a:solidFill>
                  </a:tcPr>
                </a:tc>
                <a:tc>
                  <a:txBody>
                    <a:bodyPr wrap="square"/>
                    <a:lstStyle/>
                    <a:p>
                      <a:pPr algn="r"/>
                      <a:r>
                        <a:rPr sz="1150" b="0">
                          <a:solidFill>
                            <a:srgbClr val="1B1B1F"/>
                          </a:solidFill>
                          <a:latin typeface="Calibri"/>
                        </a:rPr>
                        <a:t>+7.5%</a:t>
                      </a:r>
                    </a:p>
                  </a:txBody>
                  <a:tcPr marL="91440" marR="73152" marT="18288" marB="18288">
                    <a:solidFill>
                      <a:srgbClr val="FFFFFF"/>
                    </a:solidFill>
                  </a:tcPr>
                </a:tc>
                <a:tc>
                  <a:txBody>
                    <a:bodyPr wrap="square"/>
                    <a:lstStyle/>
                    <a:p>
                      <a:pPr algn="r"/>
                      <a:r>
                        <a:rPr sz="1150" b="0">
                          <a:solidFill>
                            <a:srgbClr val="1B1B1F"/>
                          </a:solidFill>
                          <a:latin typeface="Calibri"/>
                        </a:rPr>
                        <a:t>0.158</a:t>
                      </a:r>
                    </a:p>
                  </a:txBody>
                  <a:tcPr marL="91440" marR="73152" marT="18288" marB="18288">
                    <a:solidFill>
                      <a:srgbClr val="FFFFFF"/>
                    </a:solidFill>
                  </a:tcPr>
                </a:tc>
              </a:tr>
              <a:tr h="329184">
                <a:tc>
                  <a:txBody>
                    <a:bodyPr wrap="square"/>
                    <a:lstStyle/>
                    <a:p>
                      <a:pPr algn="l"/>
                      <a:r>
                        <a:rPr sz="1150" b="0">
                          <a:solidFill>
                            <a:srgbClr val="1B1B1F"/>
                          </a:solidFill>
                          <a:latin typeface="Calibri"/>
                        </a:rPr>
                        <a:t>Prejudice Remover</a:t>
                      </a:r>
                    </a:p>
                  </a:txBody>
                  <a:tcPr marL="91440" marR="73152" marT="18288" marB="18288">
                    <a:solidFill>
                      <a:srgbClr val="F4F6FA"/>
                    </a:solidFill>
                  </a:tcPr>
                </a:tc>
                <a:tc>
                  <a:txBody>
                    <a:bodyPr wrap="square"/>
                    <a:lstStyle/>
                    <a:p>
                      <a:pPr algn="r"/>
                      <a:r>
                        <a:rPr sz="1150" b="0">
                          <a:solidFill>
                            <a:srgbClr val="1B1B1F"/>
                          </a:solidFill>
                          <a:latin typeface="Calibri"/>
                        </a:rPr>
                        <a:t>0.505</a:t>
                      </a:r>
                    </a:p>
                  </a:txBody>
                  <a:tcPr marL="91440" marR="73152" marT="18288" marB="18288">
                    <a:solidFill>
                      <a:srgbClr val="F4F6FA"/>
                    </a:solidFill>
                  </a:tcPr>
                </a:tc>
                <a:tc>
                  <a:txBody>
                    <a:bodyPr wrap="square"/>
                    <a:lstStyle/>
                    <a:p>
                      <a:pPr algn="r"/>
                      <a:r>
                        <a:rPr sz="1150" b="0">
                          <a:solidFill>
                            <a:srgbClr val="1B1B1F"/>
                          </a:solidFill>
                          <a:latin typeface="Calibri"/>
                        </a:rPr>
                        <a:t>-7.3%</a:t>
                      </a:r>
                    </a:p>
                  </a:txBody>
                  <a:tcPr marL="91440" marR="73152" marT="18288" marB="18288">
                    <a:solidFill>
                      <a:srgbClr val="F4F6FA"/>
                    </a:solidFill>
                  </a:tcPr>
                </a:tc>
                <a:tc>
                  <a:txBody>
                    <a:bodyPr wrap="square"/>
                    <a:lstStyle/>
                    <a:p>
                      <a:pPr algn="r"/>
                      <a:r>
                        <a:rPr sz="1150" b="0">
                          <a:solidFill>
                            <a:srgbClr val="1B1B1F"/>
                          </a:solidFill>
                          <a:latin typeface="Calibri"/>
                        </a:rPr>
                        <a:t>0.071</a:t>
                      </a:r>
                    </a:p>
                  </a:txBody>
                  <a:tcPr marL="91440" marR="73152" marT="18288" marB="18288">
                    <a:solidFill>
                      <a:srgbClr val="F4F6FA"/>
                    </a:solidFill>
                  </a:tcPr>
                </a:tc>
              </a:tr>
              <a:tr h="329184">
                <a:tc>
                  <a:txBody>
                    <a:bodyPr wrap="square"/>
                    <a:lstStyle/>
                    <a:p>
                      <a:pPr algn="l"/>
                      <a:r>
                        <a:rPr sz="1150" b="0">
                          <a:solidFill>
                            <a:srgbClr val="1B1B1F"/>
                          </a:solidFill>
                          <a:latin typeface="Calibri"/>
                        </a:rPr>
                        <a:t>ExpGrad (EO)</a:t>
                      </a:r>
                    </a:p>
                  </a:txBody>
                  <a:tcPr marL="91440" marR="73152" marT="18288" marB="18288">
                    <a:solidFill>
                      <a:srgbClr val="FFFFFF"/>
                    </a:solidFill>
                  </a:tcPr>
                </a:tc>
                <a:tc>
                  <a:txBody>
                    <a:bodyPr wrap="square"/>
                    <a:lstStyle/>
                    <a:p>
                      <a:pPr algn="r"/>
                      <a:r>
                        <a:rPr sz="1150" b="0">
                          <a:solidFill>
                            <a:srgbClr val="1B1B1F"/>
                          </a:solidFill>
                          <a:latin typeface="Calibri"/>
                        </a:rPr>
                        <a:t>0.475</a:t>
                      </a:r>
                    </a:p>
                  </a:txBody>
                  <a:tcPr marL="91440" marR="73152" marT="18288" marB="18288">
                    <a:solidFill>
                      <a:srgbClr val="FFFFFF"/>
                    </a:solidFill>
                  </a:tcPr>
                </a:tc>
                <a:tc>
                  <a:txBody>
                    <a:bodyPr wrap="square"/>
                    <a:lstStyle/>
                    <a:p>
                      <a:pPr algn="r"/>
                      <a:r>
                        <a:rPr sz="1150" b="0">
                          <a:solidFill>
                            <a:srgbClr val="1B1B1F"/>
                          </a:solidFill>
                          <a:latin typeface="Calibri"/>
                        </a:rPr>
                        <a:t>-12.8%</a:t>
                      </a:r>
                    </a:p>
                  </a:txBody>
                  <a:tcPr marL="91440" marR="73152" marT="18288" marB="18288">
                    <a:solidFill>
                      <a:srgbClr val="FFFFFF"/>
                    </a:solidFill>
                  </a:tcPr>
                </a:tc>
                <a:tc>
                  <a:txBody>
                    <a:bodyPr wrap="square"/>
                    <a:lstStyle/>
                    <a:p>
                      <a:pPr algn="r"/>
                      <a:r>
                        <a:rPr sz="1150" b="0">
                          <a:solidFill>
                            <a:srgbClr val="1B1B1F"/>
                          </a:solidFill>
                          <a:latin typeface="Calibri"/>
                        </a:rPr>
                        <a:t>0.082</a:t>
                      </a:r>
                    </a:p>
                  </a:txBody>
                  <a:tcPr marL="91440" marR="73152" marT="18288" marB="18288">
                    <a:solidFill>
                      <a:srgbClr val="FFFFFF"/>
                    </a:solidFill>
                  </a:tcPr>
                </a:tc>
              </a:tr>
              <a:tr h="329184">
                <a:tc>
                  <a:txBody>
                    <a:bodyPr wrap="square"/>
                    <a:lstStyle/>
                    <a:p>
                      <a:pPr algn="l"/>
                      <a:r>
                        <a:rPr sz="1150" b="0">
                          <a:solidFill>
                            <a:srgbClr val="1B1B1F"/>
                          </a:solidFill>
                          <a:latin typeface="Calibri"/>
                        </a:rPr>
                        <a:t>Adversarial Debiasing</a:t>
                      </a:r>
                    </a:p>
                  </a:txBody>
                  <a:tcPr marL="91440" marR="73152" marT="18288" marB="18288">
                    <a:solidFill>
                      <a:srgbClr val="F4F6FA"/>
                    </a:solidFill>
                  </a:tcPr>
                </a:tc>
                <a:tc>
                  <a:txBody>
                    <a:bodyPr wrap="square"/>
                    <a:lstStyle/>
                    <a:p>
                      <a:pPr algn="r"/>
                      <a:r>
                        <a:rPr sz="1150" b="0">
                          <a:solidFill>
                            <a:srgbClr val="1B1B1F"/>
                          </a:solidFill>
                          <a:latin typeface="Calibri"/>
                        </a:rPr>
                        <a:t>0.481</a:t>
                      </a:r>
                    </a:p>
                  </a:txBody>
                  <a:tcPr marL="91440" marR="73152" marT="18288" marB="18288">
                    <a:solidFill>
                      <a:srgbClr val="F4F6FA"/>
                    </a:solidFill>
                  </a:tcPr>
                </a:tc>
                <a:tc>
                  <a:txBody>
                    <a:bodyPr wrap="square"/>
                    <a:lstStyle/>
                    <a:p>
                      <a:pPr algn="r"/>
                      <a:r>
                        <a:rPr sz="1150" b="0">
                          <a:solidFill>
                            <a:srgbClr val="1B1B1F"/>
                          </a:solidFill>
                          <a:latin typeface="Calibri"/>
                        </a:rPr>
                        <a:t>-11.7%</a:t>
                      </a:r>
                    </a:p>
                  </a:txBody>
                  <a:tcPr marL="91440" marR="73152" marT="18288" marB="18288">
                    <a:solidFill>
                      <a:srgbClr val="F4F6FA"/>
                    </a:solidFill>
                  </a:tcPr>
                </a:tc>
                <a:tc>
                  <a:txBody>
                    <a:bodyPr wrap="square"/>
                    <a:lstStyle/>
                    <a:p>
                      <a:pPr algn="r"/>
                      <a:r>
                        <a:rPr sz="1150" b="0">
                          <a:solidFill>
                            <a:srgbClr val="1B1B1F"/>
                          </a:solidFill>
                          <a:latin typeface="Calibri"/>
                        </a:rPr>
                        <a:t>0.098</a:t>
                      </a:r>
                    </a:p>
                  </a:txBody>
                  <a:tcPr marL="91440" marR="73152" marT="18288" marB="18288">
                    <a:solidFill>
                      <a:srgbClr val="F4F6FA"/>
                    </a:solidFill>
                  </a:tcPr>
                </a:tc>
              </a:tr>
            </a:tbl>
          </a:graphicData>
        </a:graphic>
      </p:graphicFrame>
      <p:sp>
        <p:nvSpPr>
          <p:cNvPr id="5" name="TextBox 4"/>
          <p:cNvSpPr txBox="1"/>
          <p:nvPr/>
        </p:nvSpPr>
        <p:spPr>
          <a:xfrm>
            <a:off x="640080" y="3977639"/>
            <a:ext cx="10881360" cy="329184"/>
          </a:xfrm>
          <a:prstGeom prst="rect">
            <a:avLst/>
          </a:prstGeom>
          <a:noFill/>
        </p:spPr>
        <p:txBody>
          <a:bodyPr wrap="square">
            <a:spAutoFit/>
          </a:bodyPr>
          <a:lstStyle/>
          <a:p>
            <a:pPr algn="l">
              <a:lnSpc>
                <a:spcPct val="100000"/>
              </a:lnSpc>
            </a:pPr>
            <a:r>
              <a:rPr sz="1500" b="1">
                <a:solidFill>
                  <a:srgbClr val="1E2761"/>
                </a:solidFill>
                <a:latin typeface="Cambria"/>
              </a:rPr>
              <a:t>Sex is not in the feature matrix. At all.</a:t>
            </a:r>
          </a:p>
        </p:txBody>
      </p:sp>
      <p:sp>
        <p:nvSpPr>
          <p:cNvPr id="6" name="TextBox 5"/>
          <p:cNvSpPr txBox="1"/>
          <p:nvPr/>
        </p:nvSpPr>
        <p:spPr>
          <a:xfrm>
            <a:off x="640080" y="4352544"/>
            <a:ext cx="10881360" cy="1097280"/>
          </a:xfrm>
          <a:prstGeom prst="rect">
            <a:avLst/>
          </a:prstGeom>
          <a:noFill/>
        </p:spPr>
        <p:txBody>
          <a:bodyPr wrap="square">
            <a:spAutoFit/>
          </a:bodyPr>
          <a:lstStyle/>
          <a:p>
            <a:pPr algn="l">
              <a:lnSpc>
                <a:spcPct val="100000"/>
              </a:lnSpc>
            </a:pPr>
            <a:r>
              <a:rPr sz="1350" b="0">
                <a:solidFill>
                  <a:srgbClr val="1B1B1F"/>
                </a:solidFill>
                <a:latin typeface="Calibri"/>
              </a:rPr>
              <a:t>Yet the two methods with the best demographic parity scores lean on sex proxies harder than the model with no fairness fix, and both more than doubled their use of 'relationship' — a feature whose values are literally Husband and Wife.</a:t>
            </a:r>
          </a:p>
          <a:p>
            <a:pPr algn="l">
              <a:lnSpc>
                <a:spcPct val="100000"/>
              </a:lnSpc>
            </a:pPr>
            <a:r>
              <a:rPr sz="1350" b="0">
                <a:solidFill>
                  <a:srgbClr val="1B1B1F"/>
                </a:solidFill>
                <a:latin typeface="Calibri"/>
              </a:rPr>
              <a:t>To equalise selection rates across sex while forbidden to read sex, the model must first work out who is a woman. The constraint gives it a reason to become a better sex-detector.</a:t>
            </a:r>
          </a:p>
        </p:txBody>
      </p:sp>
      <p:sp>
        <p:nvSpPr>
          <p:cNvPr id="7" name="Rounded Rectangle 6"/>
          <p:cNvSpPr/>
          <p:nvPr/>
        </p:nvSpPr>
        <p:spPr>
          <a:xfrm>
            <a:off x="640080" y="5532120"/>
            <a:ext cx="5349240" cy="100584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5650992"/>
            <a:ext cx="4892040" cy="777240"/>
          </a:xfrm>
          <a:prstGeom prst="rect">
            <a:avLst/>
          </a:prstGeom>
          <a:noFill/>
        </p:spPr>
        <p:txBody>
          <a:bodyPr wrap="square">
            <a:spAutoFit/>
          </a:bodyPr>
          <a:lstStyle/>
          <a:p>
            <a:pPr algn="l">
              <a:lnSpc>
                <a:spcPct val="100000"/>
              </a:lnSpc>
            </a:pPr>
            <a:r>
              <a:rPr sz="1250" b="0">
                <a:solidFill>
                  <a:srgbClr val="1B1B1F"/>
                </a:solidFill>
                <a:latin typeface="Calibri"/>
              </a:rPr>
              <a:t>Not an artifact: ExpGrad's figure is sampled, but GridSearch's is exact linear SHAP and agrees. Two estimators, same conclusion.</a:t>
            </a:r>
          </a:p>
        </p:txBody>
      </p:sp>
      <p:sp>
        <p:nvSpPr>
          <p:cNvPr id="9" name="Rounded Rectangle 8"/>
          <p:cNvSpPr/>
          <p:nvPr/>
        </p:nvSpPr>
        <p:spPr>
          <a:xfrm>
            <a:off x="6172200" y="5532120"/>
            <a:ext cx="5349240" cy="100584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0" y="5650992"/>
            <a:ext cx="4892040" cy="777240"/>
          </a:xfrm>
          <a:prstGeom prst="rect">
            <a:avLst/>
          </a:prstGeom>
          <a:noFill/>
        </p:spPr>
        <p:txBody>
          <a:bodyPr wrap="square">
            <a:spAutoFit/>
          </a:bodyPr>
          <a:lstStyle/>
          <a:p>
            <a:pPr algn="l">
              <a:lnSpc>
                <a:spcPct val="100000"/>
              </a:lnSpc>
            </a:pPr>
            <a:r>
              <a:rPr sz="1250" b="0">
                <a:solidFill>
                  <a:srgbClr val="1B1B1F"/>
                </a:solidFill>
                <a:latin typeface="Calibri"/>
              </a:rPr>
              <a:t>The one method that does reduce proxy reliance is Adversarial Debiasing — the only one whose objective is to destroy sex information. Theory predicted the ranking.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00000"/>
              </a:lnSpc>
            </a:pPr>
            <a:r>
              <a:rPr sz="2600" b="1">
                <a:solidFill>
                  <a:srgbClr val="1E2761"/>
                </a:solidFill>
                <a:latin typeface="Cambria"/>
              </a:rPr>
              <a:t>Contribution 3 — Fixing Sex Leaves Sex × Race Behind</a:t>
            </a:r>
          </a:p>
        </p:txBody>
      </p:sp>
      <p:sp>
        <p:nvSpPr>
          <p:cNvPr id="3" name="TextBox 2"/>
          <p:cNvSpPr txBox="1"/>
          <p:nvPr/>
        </p:nvSpPr>
        <p:spPr>
          <a:xfrm>
            <a:off x="640080" y="1033271"/>
            <a:ext cx="10881360" cy="384048"/>
          </a:xfrm>
          <a:prstGeom prst="rect">
            <a:avLst/>
          </a:prstGeom>
          <a:noFill/>
        </p:spPr>
        <p:txBody>
          <a:bodyPr wrap="square">
            <a:spAutoFit/>
          </a:bodyPr>
          <a:lstStyle/>
          <a:p>
            <a:pPr algn="l">
              <a:lnSpc>
                <a:spcPct val="100000"/>
              </a:lnSpc>
            </a:pPr>
            <a:r>
              <a:rPr sz="1350" b="0">
                <a:solidFill>
                  <a:srgbClr val="5A6270"/>
                </a:solidFill>
                <a:latin typeface="Calibri"/>
              </a:rPr>
              <a:t>Every method so far constrains one binary attribute. That is the field's default, and it has a blind spot.</a:t>
            </a:r>
          </a:p>
        </p:txBody>
      </p:sp>
      <p:graphicFrame>
        <p:nvGraphicFramePr>
          <p:cNvPr id="4" name="Table 3"/>
          <p:cNvGraphicFramePr>
            <a:graphicFrameLocks noGrp="1"/>
          </p:cNvGraphicFramePr>
          <p:nvPr/>
        </p:nvGraphicFramePr>
        <p:xfrm>
          <a:off x="640080" y="1664208"/>
          <a:ext cx="10881358" cy="1371600"/>
        </p:xfrm>
        <a:graphic>
          <a:graphicData uri="http://schemas.openxmlformats.org/drawingml/2006/table">
            <a:tbl>
              <a:tblPr firstRow="1">
                <a:tableStyleId>{5C22544A-7EE6-4342-B048-85BDC9FD1C3A}</a:tableStyleId>
              </a:tblPr>
              <a:tblGrid>
                <a:gridCol w="3159104"/>
                <a:gridCol w="1579552"/>
                <a:gridCol w="1579552"/>
                <a:gridCol w="2018316"/>
                <a:gridCol w="2544834"/>
              </a:tblGrid>
              <a:tr h="384048">
                <a:tc>
                  <a:txBody>
                    <a:bodyPr wrap="square"/>
                    <a:lstStyle/>
                    <a:p>
                      <a:pPr algn="l"/>
                      <a:r>
                        <a:rPr sz="1100" b="1">
                          <a:solidFill>
                            <a:srgbClr val="FFFFFF"/>
                          </a:solidFill>
                          <a:latin typeface="Calibri"/>
                        </a:rPr>
                        <a:t>Arm</a:t>
                      </a:r>
                    </a:p>
                  </a:txBody>
                  <a:tcPr marL="91440" marR="73152" marT="18288" marB="18288">
                    <a:solidFill>
                      <a:srgbClr val="1E2761"/>
                    </a:solidFill>
                  </a:tcPr>
                </a:tc>
                <a:tc>
                  <a:txBody>
                    <a:bodyPr wrap="square"/>
                    <a:lstStyle/>
                    <a:p>
                      <a:pPr algn="r"/>
                      <a:r>
                        <a:rPr sz="1100" b="1">
                          <a:solidFill>
                            <a:srgbClr val="FFFFFF"/>
                          </a:solidFill>
                          <a:latin typeface="Calibri"/>
                        </a:rPr>
                        <a:t>Accuracy</a:t>
                      </a:r>
                    </a:p>
                  </a:txBody>
                  <a:tcPr marL="91440" marR="73152" marT="18288" marB="18288">
                    <a:solidFill>
                      <a:srgbClr val="1E2761"/>
                    </a:solidFill>
                  </a:tcPr>
                </a:tc>
                <a:tc>
                  <a:txBody>
                    <a:bodyPr wrap="square"/>
                    <a:lstStyle/>
                    <a:p>
                      <a:pPr algn="r"/>
                      <a:r>
                        <a:rPr sz="1100" b="1">
                          <a:solidFill>
                            <a:srgbClr val="FFFFFF"/>
                          </a:solidFill>
                          <a:latin typeface="Calibri"/>
                        </a:rPr>
                        <a:t>Sex gap</a:t>
                      </a:r>
                    </a:p>
                  </a:txBody>
                  <a:tcPr marL="91440" marR="73152" marT="18288" marB="18288">
                    <a:solidFill>
                      <a:srgbClr val="1E2761"/>
                    </a:solidFill>
                  </a:tcPr>
                </a:tc>
                <a:tc>
                  <a:txBody>
                    <a:bodyPr wrap="square"/>
                    <a:lstStyle/>
                    <a:p>
                      <a:pPr algn="r"/>
                      <a:r>
                        <a:rPr sz="1100" b="1">
                          <a:solidFill>
                            <a:srgbClr val="FFFFFF"/>
                          </a:solidFill>
                          <a:latin typeface="Calibri"/>
                        </a:rPr>
                        <a:t>Sex × Race gap</a:t>
                      </a:r>
                    </a:p>
                  </a:txBody>
                  <a:tcPr marL="91440" marR="73152" marT="18288" marB="18288">
                    <a:solidFill>
                      <a:srgbClr val="1E2761"/>
                    </a:solidFill>
                  </a:tcPr>
                </a:tc>
                <a:tc>
                  <a:txBody>
                    <a:bodyPr wrap="square"/>
                    <a:lstStyle/>
                    <a:p>
                      <a:pPr algn="r"/>
                      <a:r>
                        <a:rPr sz="1100" b="1">
                          <a:solidFill>
                            <a:srgbClr val="FFFFFF"/>
                          </a:solidFill>
                          <a:latin typeface="Calibri"/>
                        </a:rPr>
                        <a:t>Worst-off subgroup</a:t>
                      </a:r>
                    </a:p>
                  </a:txBody>
                  <a:tcPr marL="91440" marR="73152" marT="18288" marB="18288">
                    <a:solidFill>
                      <a:srgbClr val="1E2761"/>
                    </a:solidFill>
                  </a:tcPr>
                </a:tc>
              </a:tr>
              <a:tr h="329184">
                <a:tc>
                  <a:txBody>
                    <a:bodyPr wrap="square"/>
                    <a:lstStyle/>
                    <a:p>
                      <a:pPr algn="l"/>
                      <a:r>
                        <a:rPr sz="1150" b="0">
                          <a:solidFill>
                            <a:srgbClr val="1B1B1F"/>
                          </a:solidFill>
                          <a:latin typeface="Calibri"/>
                        </a:rPr>
                        <a:t>No constraint</a:t>
                      </a:r>
                    </a:p>
                  </a:txBody>
                  <a:tcPr marL="91440" marR="73152" marT="18288" marB="18288">
                    <a:solidFill>
                      <a:srgbClr val="FFFFFF"/>
                    </a:solidFill>
                  </a:tcPr>
                </a:tc>
                <a:tc>
                  <a:txBody>
                    <a:bodyPr wrap="square"/>
                    <a:lstStyle/>
                    <a:p>
                      <a:pPr algn="r"/>
                      <a:r>
                        <a:rPr sz="1150" b="0">
                          <a:solidFill>
                            <a:srgbClr val="1B1B1F"/>
                          </a:solidFill>
                          <a:latin typeface="Calibri"/>
                        </a:rPr>
                        <a:t>0.8465</a:t>
                      </a:r>
                    </a:p>
                  </a:txBody>
                  <a:tcPr marL="91440" marR="73152" marT="18288" marB="18288">
                    <a:solidFill>
                      <a:srgbClr val="FFFFFF"/>
                    </a:solidFill>
                  </a:tcPr>
                </a:tc>
                <a:tc>
                  <a:txBody>
                    <a:bodyPr wrap="square"/>
                    <a:lstStyle/>
                    <a:p>
                      <a:pPr algn="r"/>
                      <a:r>
                        <a:rPr sz="1150" b="0">
                          <a:solidFill>
                            <a:srgbClr val="1B1B1F"/>
                          </a:solidFill>
                          <a:latin typeface="Calibri"/>
                        </a:rPr>
                        <a:t>0.1897</a:t>
                      </a:r>
                    </a:p>
                  </a:txBody>
                  <a:tcPr marL="91440" marR="73152" marT="18288" marB="18288">
                    <a:solidFill>
                      <a:srgbClr val="FFFFFF"/>
                    </a:solidFill>
                  </a:tcPr>
                </a:tc>
                <a:tc>
                  <a:txBody>
                    <a:bodyPr wrap="square"/>
                    <a:lstStyle/>
                    <a:p>
                      <a:pPr algn="r"/>
                      <a:r>
                        <a:rPr sz="1150" b="0">
                          <a:solidFill>
                            <a:srgbClr val="1B1B1F"/>
                          </a:solidFill>
                          <a:latin typeface="Calibri"/>
                        </a:rPr>
                        <a:t>0.3145</a:t>
                      </a:r>
                    </a:p>
                  </a:txBody>
                  <a:tcPr marL="91440" marR="73152" marT="18288" marB="18288">
                    <a:solidFill>
                      <a:srgbClr val="FFFFFF"/>
                    </a:solidFill>
                  </a:tcPr>
                </a:tc>
                <a:tc>
                  <a:txBody>
                    <a:bodyPr wrap="square"/>
                    <a:lstStyle/>
                    <a:p>
                      <a:pPr algn="r"/>
                      <a:r>
                        <a:rPr sz="1150" b="0">
                          <a:solidFill>
                            <a:srgbClr val="1B1B1F"/>
                          </a:solidFill>
                          <a:latin typeface="Calibri"/>
                        </a:rPr>
                        <a:t>Female x Black</a:t>
                      </a:r>
                    </a:p>
                  </a:txBody>
                  <a:tcPr marL="91440" marR="73152" marT="18288" marB="18288">
                    <a:solidFill>
                      <a:srgbClr val="FFFFFF"/>
                    </a:solidFill>
                  </a:tcPr>
                </a:tc>
              </a:tr>
              <a:tr h="329184">
                <a:tc>
                  <a:txBody>
                    <a:bodyPr wrap="square"/>
                    <a:lstStyle/>
                    <a:p>
                      <a:pPr algn="l"/>
                      <a:r>
                        <a:rPr sz="1150" b="1">
                          <a:solidFill>
                            <a:srgbClr val="1B1B1F"/>
                          </a:solidFill>
                          <a:latin typeface="Calibri"/>
                        </a:rPr>
                        <a:t>ExpGrad-DP on Sex</a:t>
                      </a:r>
                    </a:p>
                  </a:txBody>
                  <a:tcPr marL="91440" marR="73152" marT="18288" marB="18288">
                    <a:solidFill>
                      <a:srgbClr val="FDF3E2"/>
                    </a:solidFill>
                  </a:tcPr>
                </a:tc>
                <a:tc>
                  <a:txBody>
                    <a:bodyPr wrap="square"/>
                    <a:lstStyle/>
                    <a:p>
                      <a:pPr algn="r"/>
                      <a:r>
                        <a:rPr sz="1150" b="1">
                          <a:solidFill>
                            <a:srgbClr val="1B1B1F"/>
                          </a:solidFill>
                          <a:latin typeface="Calibri"/>
                        </a:rPr>
                        <a:t>0.8295</a:t>
                      </a:r>
                    </a:p>
                  </a:txBody>
                  <a:tcPr marL="91440" marR="73152" marT="18288" marB="18288">
                    <a:solidFill>
                      <a:srgbClr val="FDF3E2"/>
                    </a:solidFill>
                  </a:tcPr>
                </a:tc>
                <a:tc>
                  <a:txBody>
                    <a:bodyPr wrap="square"/>
                    <a:lstStyle/>
                    <a:p>
                      <a:pPr algn="r"/>
                      <a:r>
                        <a:rPr sz="1150" b="1">
                          <a:solidFill>
                            <a:srgbClr val="1B1B1F"/>
                          </a:solidFill>
                          <a:latin typeface="Calibri"/>
                        </a:rPr>
                        <a:t>0.0197</a:t>
                      </a:r>
                    </a:p>
                  </a:txBody>
                  <a:tcPr marL="91440" marR="73152" marT="18288" marB="18288">
                    <a:solidFill>
                      <a:srgbClr val="FDF3E2"/>
                    </a:solidFill>
                  </a:tcPr>
                </a:tc>
                <a:tc>
                  <a:txBody>
                    <a:bodyPr wrap="square"/>
                    <a:lstStyle/>
                    <a:p>
                      <a:pPr algn="r"/>
                      <a:r>
                        <a:rPr sz="1150" b="1">
                          <a:solidFill>
                            <a:srgbClr val="1B1B1F"/>
                          </a:solidFill>
                          <a:latin typeface="Calibri"/>
                        </a:rPr>
                        <a:t>0.1776</a:t>
                      </a:r>
                    </a:p>
                  </a:txBody>
                  <a:tcPr marL="91440" marR="73152" marT="18288" marB="18288">
                    <a:solidFill>
                      <a:srgbClr val="FDF3E2"/>
                    </a:solidFill>
                  </a:tcPr>
                </a:tc>
                <a:tc>
                  <a:txBody>
                    <a:bodyPr wrap="square"/>
                    <a:lstStyle/>
                    <a:p>
                      <a:pPr algn="r"/>
                      <a:r>
                        <a:rPr sz="1150" b="1">
                          <a:solidFill>
                            <a:srgbClr val="1B1B1F"/>
                          </a:solidFill>
                          <a:latin typeface="Calibri"/>
                        </a:rPr>
                        <a:t>Male x Black</a:t>
                      </a:r>
                    </a:p>
                  </a:txBody>
                  <a:tcPr marL="91440" marR="73152" marT="18288" marB="18288">
                    <a:solidFill>
                      <a:srgbClr val="FDF3E2"/>
                    </a:solidFill>
                  </a:tcPr>
                </a:tc>
              </a:tr>
              <a:tr h="329184">
                <a:tc>
                  <a:txBody>
                    <a:bodyPr wrap="square"/>
                    <a:lstStyle/>
                    <a:p>
                      <a:pPr algn="l"/>
                      <a:r>
                        <a:rPr sz="1150" b="0">
                          <a:solidFill>
                            <a:srgbClr val="1B1B1F"/>
                          </a:solidFill>
                          <a:latin typeface="Calibri"/>
                        </a:rPr>
                        <a:t>ExpGrad-DP on Sex × Race</a:t>
                      </a:r>
                    </a:p>
                  </a:txBody>
                  <a:tcPr marL="91440" marR="73152" marT="18288" marB="18288">
                    <a:solidFill>
                      <a:srgbClr val="FFFFFF"/>
                    </a:solidFill>
                  </a:tcPr>
                </a:tc>
                <a:tc>
                  <a:txBody>
                    <a:bodyPr wrap="square"/>
                    <a:lstStyle/>
                    <a:p>
                      <a:pPr algn="r"/>
                      <a:r>
                        <a:rPr sz="1150" b="0">
                          <a:solidFill>
                            <a:srgbClr val="1B1B1F"/>
                          </a:solidFill>
                          <a:latin typeface="Calibri"/>
                        </a:rPr>
                        <a:t>0.8129</a:t>
                      </a:r>
                    </a:p>
                  </a:txBody>
                  <a:tcPr marL="91440" marR="73152" marT="18288" marB="18288">
                    <a:solidFill>
                      <a:srgbClr val="FFFFFF"/>
                    </a:solidFill>
                  </a:tcPr>
                </a:tc>
                <a:tc>
                  <a:txBody>
                    <a:bodyPr wrap="square"/>
                    <a:lstStyle/>
                    <a:p>
                      <a:pPr algn="r"/>
                      <a:r>
                        <a:rPr sz="1150" b="0">
                          <a:solidFill>
                            <a:srgbClr val="1B1B1F"/>
                          </a:solidFill>
                          <a:latin typeface="Calibri"/>
                        </a:rPr>
                        <a:t>0.0164</a:t>
                      </a:r>
                    </a:p>
                  </a:txBody>
                  <a:tcPr marL="91440" marR="73152" marT="18288" marB="18288">
                    <a:solidFill>
                      <a:srgbClr val="FFFFFF"/>
                    </a:solidFill>
                  </a:tcPr>
                </a:tc>
                <a:tc>
                  <a:txBody>
                    <a:bodyPr wrap="square"/>
                    <a:lstStyle/>
                    <a:p>
                      <a:pPr algn="r"/>
                      <a:r>
                        <a:rPr sz="1150" b="0">
                          <a:solidFill>
                            <a:srgbClr val="1B1B1F"/>
                          </a:solidFill>
                          <a:latin typeface="Calibri"/>
                        </a:rPr>
                        <a:t>0.0481</a:t>
                      </a:r>
                    </a:p>
                  </a:txBody>
                  <a:tcPr marL="91440" marR="73152" marT="18288" marB="18288">
                    <a:solidFill>
                      <a:srgbClr val="FFFFFF"/>
                    </a:solidFill>
                  </a:tcPr>
                </a:tc>
                <a:tc>
                  <a:txBody>
                    <a:bodyPr wrap="square"/>
                    <a:lstStyle/>
                    <a:p>
                      <a:pPr algn="r"/>
                      <a:r>
                        <a:rPr sz="1150" b="0">
                          <a:solidFill>
                            <a:srgbClr val="1B1B1F"/>
                          </a:solidFill>
                          <a:latin typeface="Calibri"/>
                        </a:rPr>
                        <a:t>Female x White</a:t>
                      </a:r>
                    </a:p>
                  </a:txBody>
                  <a:tcPr marL="91440" marR="73152" marT="18288" marB="18288">
                    <a:solidFill>
                      <a:srgbClr val="FFFFFF"/>
                    </a:solidFill>
                  </a:tcPr>
                </a:tc>
              </a:tr>
            </a:tbl>
          </a:graphicData>
        </a:graphic>
      </p:graphicFrame>
      <p:sp>
        <p:nvSpPr>
          <p:cNvPr id="5" name="TextBox 4"/>
          <p:cNvSpPr txBox="1"/>
          <p:nvPr/>
        </p:nvSpPr>
        <p:spPr>
          <a:xfrm>
            <a:off x="640080" y="3246120"/>
            <a:ext cx="3291840" cy="566928"/>
          </a:xfrm>
          <a:prstGeom prst="rect">
            <a:avLst/>
          </a:prstGeom>
          <a:noFill/>
        </p:spPr>
        <p:txBody>
          <a:bodyPr wrap="square">
            <a:spAutoFit/>
          </a:bodyPr>
          <a:lstStyle/>
          <a:p>
            <a:pPr algn="ctr">
              <a:lnSpc>
                <a:spcPct val="100000"/>
              </a:lnSpc>
            </a:pPr>
            <a:r>
              <a:rPr sz="3000" b="1">
                <a:solidFill>
                  <a:srgbClr val="EB6834"/>
                </a:solidFill>
                <a:latin typeface="Cambria"/>
              </a:rPr>
              <a:t>9×</a:t>
            </a:r>
          </a:p>
        </p:txBody>
      </p:sp>
      <p:sp>
        <p:nvSpPr>
          <p:cNvPr id="6" name="TextBox 5"/>
          <p:cNvSpPr txBox="1"/>
          <p:nvPr/>
        </p:nvSpPr>
        <p:spPr>
          <a:xfrm>
            <a:off x="640080" y="3813048"/>
            <a:ext cx="3291840" cy="685800"/>
          </a:xfrm>
          <a:prstGeom prst="rect">
            <a:avLst/>
          </a:prstGeom>
          <a:noFill/>
        </p:spPr>
        <p:txBody>
          <a:bodyPr wrap="square">
            <a:spAutoFit/>
          </a:bodyPr>
          <a:lstStyle/>
          <a:p>
            <a:pPr algn="ctr">
              <a:lnSpc>
                <a:spcPct val="95000"/>
              </a:lnSpc>
            </a:pPr>
            <a:r>
              <a:rPr sz="1100" b="0">
                <a:solidFill>
                  <a:srgbClr val="5A6270"/>
                </a:solidFill>
                <a:latin typeface="Calibri"/>
              </a:rPr>
              <a:t>larger gap at Sex × Race than on</a:t>
            </a:r>
          </a:p>
          <a:p>
            <a:pPr algn="ctr">
              <a:lnSpc>
                <a:spcPct val="95000"/>
              </a:lnSpc>
            </a:pPr>
            <a:r>
              <a:rPr sz="1100" b="0">
                <a:solidFill>
                  <a:srgbClr val="5A6270"/>
                </a:solidFill>
                <a:latin typeface="Calibri"/>
              </a:rPr>
              <a:t>the attribute it was constrained on</a:t>
            </a:r>
          </a:p>
        </p:txBody>
      </p:sp>
      <p:sp>
        <p:nvSpPr>
          <p:cNvPr id="7" name="TextBox 6"/>
          <p:cNvSpPr txBox="1"/>
          <p:nvPr/>
        </p:nvSpPr>
        <p:spPr>
          <a:xfrm>
            <a:off x="4434840" y="3246120"/>
            <a:ext cx="3291840" cy="566928"/>
          </a:xfrm>
          <a:prstGeom prst="rect">
            <a:avLst/>
          </a:prstGeom>
          <a:noFill/>
        </p:spPr>
        <p:txBody>
          <a:bodyPr wrap="square">
            <a:spAutoFit/>
          </a:bodyPr>
          <a:lstStyle/>
          <a:p>
            <a:pPr algn="ctr">
              <a:lnSpc>
                <a:spcPct val="100000"/>
              </a:lnSpc>
            </a:pPr>
            <a:r>
              <a:rPr sz="3000" b="1">
                <a:solidFill>
                  <a:srgbClr val="EB6834"/>
                </a:solidFill>
                <a:latin typeface="Cambria"/>
              </a:rPr>
              <a:t>3.3×</a:t>
            </a:r>
          </a:p>
        </p:txBody>
      </p:sp>
      <p:sp>
        <p:nvSpPr>
          <p:cNvPr id="8" name="TextBox 7"/>
          <p:cNvSpPr txBox="1"/>
          <p:nvPr/>
        </p:nvSpPr>
        <p:spPr>
          <a:xfrm>
            <a:off x="4434840" y="3813048"/>
            <a:ext cx="3291840" cy="685800"/>
          </a:xfrm>
          <a:prstGeom prst="rect">
            <a:avLst/>
          </a:prstGeom>
          <a:noFill/>
        </p:spPr>
        <p:txBody>
          <a:bodyPr wrap="square">
            <a:spAutoFit/>
          </a:bodyPr>
          <a:lstStyle/>
          <a:p>
            <a:pPr algn="ctr">
              <a:lnSpc>
                <a:spcPct val="95000"/>
              </a:lnSpc>
            </a:pPr>
            <a:r>
              <a:rPr sz="1100" b="0">
                <a:solidFill>
                  <a:srgbClr val="5A6270"/>
                </a:solidFill>
                <a:latin typeface="Calibri"/>
              </a:rPr>
              <a:t>Asian men vs Black men selection</a:t>
            </a:r>
          </a:p>
          <a:p>
            <a:pPr algn="ctr">
              <a:lnSpc>
                <a:spcPct val="95000"/>
              </a:lnSpc>
            </a:pPr>
            <a:r>
              <a:rPr sz="1100" b="0">
                <a:solidFill>
                  <a:srgbClr val="5A6270"/>
                </a:solidFill>
                <a:latin typeface="Calibri"/>
              </a:rPr>
              <a:t>rate — after 'fixing' sex</a:t>
            </a:r>
          </a:p>
        </p:txBody>
      </p:sp>
      <p:sp>
        <p:nvSpPr>
          <p:cNvPr id="9" name="TextBox 8"/>
          <p:cNvSpPr txBox="1"/>
          <p:nvPr/>
        </p:nvSpPr>
        <p:spPr>
          <a:xfrm>
            <a:off x="8229600" y="3246120"/>
            <a:ext cx="3291840" cy="566928"/>
          </a:xfrm>
          <a:prstGeom prst="rect">
            <a:avLst/>
          </a:prstGeom>
          <a:noFill/>
        </p:spPr>
        <p:txBody>
          <a:bodyPr wrap="square">
            <a:spAutoFit/>
          </a:bodyPr>
          <a:lstStyle/>
          <a:p>
            <a:pPr algn="ctr">
              <a:lnSpc>
                <a:spcPct val="100000"/>
              </a:lnSpc>
            </a:pPr>
            <a:r>
              <a:rPr sz="3000" b="1">
                <a:solidFill>
                  <a:srgbClr val="1E2761"/>
                </a:solidFill>
                <a:latin typeface="Cambria"/>
              </a:rPr>
              <a:t>5 of 10</a:t>
            </a:r>
          </a:p>
        </p:txBody>
      </p:sp>
      <p:sp>
        <p:nvSpPr>
          <p:cNvPr id="10" name="TextBox 9"/>
          <p:cNvSpPr txBox="1"/>
          <p:nvPr/>
        </p:nvSpPr>
        <p:spPr>
          <a:xfrm>
            <a:off x="8229600" y="3813048"/>
            <a:ext cx="3291840" cy="685800"/>
          </a:xfrm>
          <a:prstGeom prst="rect">
            <a:avLst/>
          </a:prstGeom>
          <a:noFill/>
        </p:spPr>
        <p:txBody>
          <a:bodyPr wrap="square">
            <a:spAutoFit/>
          </a:bodyPr>
          <a:lstStyle/>
          <a:p>
            <a:pPr algn="ctr">
              <a:lnSpc>
                <a:spcPct val="95000"/>
              </a:lnSpc>
            </a:pPr>
            <a:r>
              <a:rPr sz="1100" b="0">
                <a:solidFill>
                  <a:srgbClr val="5A6270"/>
                </a:solidFill>
                <a:latin typeface="Calibri"/>
              </a:rPr>
              <a:t>subgroups too small to measure.</a:t>
            </a:r>
          </a:p>
          <a:p>
            <a:pPr algn="ctr">
              <a:lnSpc>
                <a:spcPct val="95000"/>
              </a:lnSpc>
            </a:pPr>
            <a:r>
              <a:rPr sz="1100" b="0">
                <a:solidFill>
                  <a:srgbClr val="5A6270"/>
                </a:solidFill>
                <a:latin typeface="Calibri"/>
              </a:rPr>
              <a:t>One has zero positive labels.</a:t>
            </a:r>
          </a:p>
        </p:txBody>
      </p:sp>
      <p:sp>
        <p:nvSpPr>
          <p:cNvPr id="11" name="Rounded Rectangle 10"/>
          <p:cNvSpPr/>
          <p:nvPr/>
        </p:nvSpPr>
        <p:spPr>
          <a:xfrm>
            <a:off x="640080" y="4709160"/>
            <a:ext cx="5349240" cy="1783080"/>
          </a:xfrm>
          <a:prstGeom prst="roundRect">
            <a:avLst>
              <a:gd name="adj" fmla="val 4000"/>
            </a:avLst>
          </a:prstGeom>
          <a:solidFill>
            <a:srgbClr val="FDF3E2"/>
          </a:solidFill>
          <a:ln w="952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68680" y="4864608"/>
            <a:ext cx="4892040" cy="1508760"/>
          </a:xfrm>
          <a:prstGeom prst="rect">
            <a:avLst/>
          </a:prstGeom>
          <a:noFill/>
        </p:spPr>
        <p:txBody>
          <a:bodyPr wrap="square">
            <a:spAutoFit/>
          </a:bodyPr>
          <a:lstStyle/>
          <a:p>
            <a:pPr algn="l">
              <a:lnSpc>
                <a:spcPct val="105000"/>
              </a:lnSpc>
            </a:pPr>
            <a:r>
              <a:rPr sz="1300" b="0">
                <a:solidFill>
                  <a:srgbClr val="1B1B1F"/>
                </a:solidFill>
                <a:latin typeface="Calibri"/>
              </a:rPr>
              <a:t>The sex constraint moved the worst-off subgroup from Black women to Black men.</a:t>
            </a:r>
          </a:p>
          <a:p>
            <a:pPr algn="l">
              <a:lnSpc>
                <a:spcPct val="105000"/>
              </a:lnSpc>
            </a:pPr>
            <a:r>
              <a:rPr sz="1300" b="0">
                <a:solidFill>
                  <a:srgbClr val="1B1B1F"/>
                </a:solidFill>
                <a:latin typeface="Calibri"/>
              </a:rPr>
              <a:t/>
            </a:r>
          </a:p>
          <a:p>
            <a:pPr algn="l">
              <a:lnSpc>
                <a:spcPct val="105000"/>
              </a:lnSpc>
            </a:pPr>
            <a:r>
              <a:rPr sz="1300" b="0">
                <a:solidFill>
                  <a:srgbClr val="1B1B1F"/>
                </a:solidFill>
                <a:latin typeface="Calibri"/>
              </a:rPr>
              <a:t>Nothing was done to them. The constraint simply had nothing to say about them, and equalising the sex marginal while race went unconstrained left them as the residual.</a:t>
            </a:r>
          </a:p>
        </p:txBody>
      </p:sp>
      <p:sp>
        <p:nvSpPr>
          <p:cNvPr id="13" name="Rounded Rectangle 12"/>
          <p:cNvSpPr/>
          <p:nvPr/>
        </p:nvSpPr>
        <p:spPr>
          <a:xfrm>
            <a:off x="6172200" y="4709160"/>
            <a:ext cx="5349240" cy="178308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0" y="4864608"/>
            <a:ext cx="4892040" cy="1508760"/>
          </a:xfrm>
          <a:prstGeom prst="rect">
            <a:avLst/>
          </a:prstGeom>
          <a:noFill/>
        </p:spPr>
        <p:txBody>
          <a:bodyPr wrap="square">
            <a:spAutoFit/>
          </a:bodyPr>
          <a:lstStyle/>
          <a:p>
            <a:pPr algn="l">
              <a:lnSpc>
                <a:spcPct val="105000"/>
              </a:lnSpc>
            </a:pPr>
            <a:r>
              <a:rPr sz="1300" b="0">
                <a:solidFill>
                  <a:srgbClr val="1B1B1F"/>
                </a:solidFill>
                <a:latin typeface="Calibri"/>
              </a:rPr>
              <a:t>Half of any Sex × Race heatmap on Adult is noise. Female × Other has 21 people and no positive labels — its TPR is 0÷0.</a:t>
            </a:r>
          </a:p>
          <a:p>
            <a:pPr algn="l">
              <a:lnSpc>
                <a:spcPct val="105000"/>
              </a:lnSpc>
            </a:pPr>
            <a:r>
              <a:rPr sz="1300" b="0">
                <a:solidFill>
                  <a:srgbClr val="1B1B1F"/>
                </a:solidFill>
                <a:latin typeface="Calibri"/>
              </a:rPr>
              <a:t/>
            </a:r>
          </a:p>
          <a:p>
            <a:pPr algn="l">
              <a:lnSpc>
                <a:spcPct val="105000"/>
              </a:lnSpc>
            </a:pPr>
            <a:r>
              <a:rPr sz="1300" b="0">
                <a:solidFill>
                  <a:srgbClr val="1B1B1F"/>
                </a:solidFill>
                <a:latin typeface="Calibri"/>
              </a:rPr>
              <a:t>70% of the intersectional arm's apparent gap comes from cells too small to measure. We report Wilson intervals and gate on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640080"/>
          </a:xfrm>
          <a:prstGeom prst="rect">
            <a:avLst/>
          </a:prstGeom>
          <a:noFill/>
        </p:spPr>
        <p:txBody>
          <a:bodyPr wrap="square">
            <a:spAutoFit/>
          </a:bodyPr>
          <a:lstStyle/>
          <a:p>
            <a:pPr algn="l">
              <a:lnSpc>
                <a:spcPct val="100000"/>
              </a:lnSpc>
            </a:pPr>
            <a:r>
              <a:rPr sz="2600" b="1">
                <a:solidFill>
                  <a:srgbClr val="1E2761"/>
                </a:solidFill>
                <a:latin typeface="Cambria"/>
              </a:rPr>
              <a:t>Verdict — What We Confirmed, Extended, and Refuted</a:t>
            </a:r>
          </a:p>
        </p:txBody>
      </p:sp>
      <p:sp>
        <p:nvSpPr>
          <p:cNvPr id="3" name="TextBox 2"/>
          <p:cNvSpPr txBox="1"/>
          <p:nvPr/>
        </p:nvSpPr>
        <p:spPr>
          <a:xfrm>
            <a:off x="640080" y="1033271"/>
            <a:ext cx="10881360" cy="384048"/>
          </a:xfrm>
          <a:prstGeom prst="rect">
            <a:avLst/>
          </a:prstGeom>
          <a:noFill/>
        </p:spPr>
        <p:txBody>
          <a:bodyPr wrap="square">
            <a:spAutoFit/>
          </a:bodyPr>
          <a:lstStyle/>
          <a:p>
            <a:pPr algn="l">
              <a:lnSpc>
                <a:spcPct val="100000"/>
              </a:lnSpc>
            </a:pPr>
            <a:r>
              <a:rPr sz="1350" b="0">
                <a:solidFill>
                  <a:srgbClr val="5A6270"/>
                </a:solidFill>
                <a:latin typeface="Calibri"/>
              </a:rPr>
              <a:t>The distinction matters. It is easy to present an extension as a refutation.</a:t>
            </a:r>
          </a:p>
        </p:txBody>
      </p:sp>
      <p:sp>
        <p:nvSpPr>
          <p:cNvPr id="4" name="Rounded Rectangle 3"/>
          <p:cNvSpPr/>
          <p:nvPr/>
        </p:nvSpPr>
        <p:spPr>
          <a:xfrm>
            <a:off x="640080" y="1645920"/>
            <a:ext cx="3429000" cy="370332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68680" y="1801368"/>
            <a:ext cx="2971800" cy="384048"/>
          </a:xfrm>
          <a:prstGeom prst="rect">
            <a:avLst/>
          </a:prstGeom>
          <a:noFill/>
        </p:spPr>
        <p:txBody>
          <a:bodyPr wrap="square">
            <a:spAutoFit/>
          </a:bodyPr>
          <a:lstStyle/>
          <a:p>
            <a:pPr algn="l">
              <a:lnSpc>
                <a:spcPct val="100000"/>
              </a:lnSpc>
            </a:pPr>
            <a:r>
              <a:rPr sz="1700" b="1">
                <a:solidFill>
                  <a:srgbClr val="1BAF7A"/>
                </a:solidFill>
                <a:latin typeface="Cambria"/>
              </a:rPr>
              <a:t>Confirmed</a:t>
            </a:r>
          </a:p>
        </p:txBody>
      </p:sp>
      <p:sp>
        <p:nvSpPr>
          <p:cNvPr id="6" name="TextBox 5"/>
          <p:cNvSpPr txBox="1"/>
          <p:nvPr/>
        </p:nvSpPr>
        <p:spPr>
          <a:xfrm>
            <a:off x="868680" y="2267712"/>
            <a:ext cx="2971800" cy="2926080"/>
          </a:xfrm>
          <a:prstGeom prst="rect">
            <a:avLst/>
          </a:prstGeom>
          <a:noFill/>
        </p:spPr>
        <p:txBody>
          <a:bodyPr wrap="square">
            <a:spAutoFit/>
          </a:bodyPr>
          <a:lstStyle/>
          <a:p>
            <a:pPr algn="l">
              <a:lnSpc>
                <a:spcPct val="108000"/>
              </a:lnSpc>
            </a:pPr>
            <a:r>
              <a:rPr sz="1250" b="0">
                <a:solidFill>
                  <a:srgbClr val="1B1B1F"/>
                </a:solidFill>
                <a:latin typeface="Calibri"/>
              </a:rPr>
              <a:t>Everything the base paper claims.</a:t>
            </a:r>
          </a:p>
          <a:p>
            <a:pPr algn="l">
              <a:lnSpc>
                <a:spcPct val="108000"/>
              </a:lnSpc>
            </a:pPr>
            <a:r>
              <a:rPr sz="1250" b="0">
                <a:solidFill>
                  <a:srgbClr val="1B1B1F"/>
                </a:solidFill>
                <a:latin typeface="Calibri"/>
              </a:rPr>
              <a:t/>
            </a:r>
          </a:p>
          <a:p>
            <a:pPr algn="l">
              <a:lnSpc>
                <a:spcPct val="108000"/>
              </a:lnSpc>
            </a:pPr>
            <a:r>
              <a:rPr sz="1250" b="0">
                <a:solidFill>
                  <a:srgbClr val="1B1B1F"/>
                </a:solidFill>
                <a:latin typeface="Calibri"/>
              </a:rPr>
              <a:t>• 88% violation reduction for 1.5 accuracy points</a:t>
            </a:r>
          </a:p>
          <a:p>
            <a:pPr algn="l">
              <a:lnSpc>
                <a:spcPct val="108000"/>
              </a:lnSpc>
            </a:pPr>
            <a:r>
              <a:rPr sz="1250" b="0">
                <a:solidFill>
                  <a:srgbClr val="1B1B1F"/>
                </a:solidFill>
                <a:latin typeface="Calibri"/>
              </a:rPr>
              <a:t>• Works as a black box on a tree and on logistic regression</a:t>
            </a:r>
          </a:p>
          <a:p>
            <a:pPr algn="l">
              <a:lnSpc>
                <a:spcPct val="108000"/>
              </a:lnSpc>
            </a:pPr>
            <a:r>
              <a:rPr sz="1250" b="0">
                <a:solidFill>
                  <a:srgbClr val="1B1B1F"/>
                </a:solidFill>
                <a:latin typeface="Calibri"/>
              </a:rPr>
              <a:t>• Training data never modified</a:t>
            </a:r>
          </a:p>
          <a:p>
            <a:pPr algn="l">
              <a:lnSpc>
                <a:spcPct val="108000"/>
              </a:lnSpc>
            </a:pPr>
            <a:r>
              <a:rPr sz="1250" b="0">
                <a:solidFill>
                  <a:srgbClr val="1B1B1F"/>
                </a:solidFill>
                <a:latin typeface="Calibri"/>
              </a:rPr>
              <a:t>• GridSearch traces a usable frontier</a:t>
            </a:r>
          </a:p>
          <a:p>
            <a:pPr algn="l">
              <a:lnSpc>
                <a:spcPct val="108000"/>
              </a:lnSpc>
            </a:pPr>
            <a:r>
              <a:rPr sz="1250" b="0">
                <a:solidFill>
                  <a:srgbClr val="1B1B1F"/>
                </a:solidFill>
                <a:latin typeface="Calibri"/>
              </a:rPr>
              <a:t/>
            </a:r>
          </a:p>
          <a:p>
            <a:pPr algn="l">
              <a:lnSpc>
                <a:spcPct val="108000"/>
              </a:lnSpc>
            </a:pPr>
            <a:r>
              <a:rPr sz="1250" b="0">
                <a:solidFill>
                  <a:srgbClr val="1B1B1F"/>
                </a:solidFill>
                <a:latin typeface="Calibri"/>
              </a:rPr>
              <a:t>The method works.</a:t>
            </a:r>
          </a:p>
        </p:txBody>
      </p:sp>
      <p:sp>
        <p:nvSpPr>
          <p:cNvPr id="7" name="Rounded Rectangle 6"/>
          <p:cNvSpPr/>
          <p:nvPr/>
        </p:nvSpPr>
        <p:spPr>
          <a:xfrm>
            <a:off x="4370832" y="1645920"/>
            <a:ext cx="3429000" cy="3703320"/>
          </a:xfrm>
          <a:prstGeom prst="roundRect">
            <a:avLst>
              <a:gd name="adj" fmla="val 4000"/>
            </a:avLst>
          </a:prstGeom>
          <a:solidFill>
            <a:srgbClr val="F4F6FA"/>
          </a:solidFill>
          <a:ln w="9525">
            <a:solidFill>
              <a:srgbClr val="D8DD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99432" y="1801368"/>
            <a:ext cx="2971800" cy="384048"/>
          </a:xfrm>
          <a:prstGeom prst="rect">
            <a:avLst/>
          </a:prstGeom>
          <a:noFill/>
        </p:spPr>
        <p:txBody>
          <a:bodyPr wrap="square">
            <a:spAutoFit/>
          </a:bodyPr>
          <a:lstStyle/>
          <a:p>
            <a:pPr algn="l">
              <a:lnSpc>
                <a:spcPct val="100000"/>
              </a:lnSpc>
            </a:pPr>
            <a:r>
              <a:rPr sz="1700" b="1">
                <a:solidFill>
                  <a:srgbClr val="1E2761"/>
                </a:solidFill>
                <a:latin typeface="Cambria"/>
              </a:rPr>
              <a:t>Extended</a:t>
            </a:r>
          </a:p>
        </p:txBody>
      </p:sp>
      <p:sp>
        <p:nvSpPr>
          <p:cNvPr id="9" name="TextBox 8"/>
          <p:cNvSpPr txBox="1"/>
          <p:nvPr/>
        </p:nvSpPr>
        <p:spPr>
          <a:xfrm>
            <a:off x="4599432" y="2267712"/>
            <a:ext cx="2971800" cy="2926080"/>
          </a:xfrm>
          <a:prstGeom prst="rect">
            <a:avLst/>
          </a:prstGeom>
          <a:noFill/>
        </p:spPr>
        <p:txBody>
          <a:bodyPr wrap="square">
            <a:spAutoFit/>
          </a:bodyPr>
          <a:lstStyle/>
          <a:p>
            <a:pPr algn="l">
              <a:lnSpc>
                <a:spcPct val="108000"/>
              </a:lnSpc>
            </a:pPr>
            <a:r>
              <a:rPr sz="1250" b="0">
                <a:solidFill>
                  <a:srgbClr val="1B1B1F"/>
                </a:solidFill>
                <a:latin typeface="Calibri"/>
              </a:rPr>
              <a:t>Four questions the paper's frame does not ask.</a:t>
            </a:r>
          </a:p>
          <a:p>
            <a:pPr algn="l">
              <a:lnSpc>
                <a:spcPct val="108000"/>
              </a:lnSpc>
            </a:pPr>
            <a:r>
              <a:rPr sz="1250" b="0">
                <a:solidFill>
                  <a:srgbClr val="1B1B1F"/>
                </a:solidFill>
                <a:latin typeface="Calibri"/>
              </a:rPr>
              <a:t/>
            </a:r>
          </a:p>
          <a:p>
            <a:pPr algn="l">
              <a:lnSpc>
                <a:spcPct val="108000"/>
              </a:lnSpc>
            </a:pPr>
            <a:r>
              <a:rPr sz="1250" b="0">
                <a:solidFill>
                  <a:srgbClr val="1B1B1F"/>
                </a:solidFill>
                <a:latin typeface="Calibri"/>
              </a:rPr>
              <a:t>• Who was moved to satisfy the constraint</a:t>
            </a:r>
          </a:p>
          <a:p>
            <a:pPr algn="l">
              <a:lnSpc>
                <a:spcPct val="108000"/>
              </a:lnSpc>
            </a:pPr>
            <a:r>
              <a:rPr sz="1250" b="0">
                <a:solidFill>
                  <a:srgbClr val="1B1B1F"/>
                </a:solidFill>
                <a:latin typeface="Calibri"/>
              </a:rPr>
              <a:t>• Whether the total number of approvals fell</a:t>
            </a:r>
          </a:p>
          <a:p>
            <a:pPr algn="l">
              <a:lnSpc>
                <a:spcPct val="108000"/>
              </a:lnSpc>
            </a:pPr>
            <a:r>
              <a:rPr sz="1250" b="0">
                <a:solidFill>
                  <a:srgbClr val="1B1B1F"/>
                </a:solidFill>
                <a:latin typeface="Calibri"/>
              </a:rPr>
              <a:t>• What randomization costs an individual</a:t>
            </a:r>
          </a:p>
          <a:p>
            <a:pPr algn="l">
              <a:lnSpc>
                <a:spcPct val="108000"/>
              </a:lnSpc>
            </a:pPr>
            <a:r>
              <a:rPr sz="1250" b="0">
                <a:solidFill>
                  <a:srgbClr val="1B1B1F"/>
                </a:solidFill>
                <a:latin typeface="Calibri"/>
              </a:rPr>
              <a:t>• What the constrained model leans on</a:t>
            </a:r>
          </a:p>
          <a:p>
            <a:pPr algn="l">
              <a:lnSpc>
                <a:spcPct val="108000"/>
              </a:lnSpc>
            </a:pPr>
            <a:r>
              <a:rPr sz="1250" b="0">
                <a:solidFill>
                  <a:srgbClr val="1B1B1F"/>
                </a:solidFill>
                <a:latin typeface="Calibri"/>
              </a:rPr>
              <a:t/>
            </a:r>
          </a:p>
          <a:p>
            <a:pPr algn="l">
              <a:lnSpc>
                <a:spcPct val="108000"/>
              </a:lnSpc>
            </a:pPr>
            <a:r>
              <a:rPr sz="1250" b="0">
                <a:solidFill>
                  <a:srgbClr val="1B1B1F"/>
                </a:solidFill>
                <a:latin typeface="Calibri"/>
              </a:rPr>
              <a:t>None of these contradict it.</a:t>
            </a:r>
          </a:p>
        </p:txBody>
      </p:sp>
      <p:sp>
        <p:nvSpPr>
          <p:cNvPr id="10" name="Rounded Rectangle 9"/>
          <p:cNvSpPr/>
          <p:nvPr/>
        </p:nvSpPr>
        <p:spPr>
          <a:xfrm>
            <a:off x="8101583" y="1645920"/>
            <a:ext cx="3419856" cy="3703320"/>
          </a:xfrm>
          <a:prstGeom prst="roundRect">
            <a:avLst>
              <a:gd name="adj" fmla="val 4000"/>
            </a:avLst>
          </a:prstGeom>
          <a:solidFill>
            <a:srgbClr val="FDF3E2"/>
          </a:solidFill>
          <a:ln w="9525">
            <a:solidFill>
              <a:srgbClr val="E8A3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330183" y="1801368"/>
            <a:ext cx="2962656" cy="384048"/>
          </a:xfrm>
          <a:prstGeom prst="rect">
            <a:avLst/>
          </a:prstGeom>
          <a:noFill/>
        </p:spPr>
        <p:txBody>
          <a:bodyPr wrap="square">
            <a:spAutoFit/>
          </a:bodyPr>
          <a:lstStyle/>
          <a:p>
            <a:pPr algn="l">
              <a:lnSpc>
                <a:spcPct val="100000"/>
              </a:lnSpc>
            </a:pPr>
            <a:r>
              <a:rPr sz="1700" b="1">
                <a:solidFill>
                  <a:srgbClr val="EB6834"/>
                </a:solidFill>
                <a:latin typeface="Cambria"/>
              </a:rPr>
              <a:t>Refuted</a:t>
            </a:r>
          </a:p>
        </p:txBody>
      </p:sp>
      <p:sp>
        <p:nvSpPr>
          <p:cNvPr id="12" name="TextBox 11"/>
          <p:cNvSpPr txBox="1"/>
          <p:nvPr/>
        </p:nvSpPr>
        <p:spPr>
          <a:xfrm>
            <a:off x="8330183" y="2267712"/>
            <a:ext cx="2962656" cy="2926080"/>
          </a:xfrm>
          <a:prstGeom prst="rect">
            <a:avLst/>
          </a:prstGeom>
          <a:noFill/>
        </p:spPr>
        <p:txBody>
          <a:bodyPr wrap="square">
            <a:spAutoFit/>
          </a:bodyPr>
          <a:lstStyle/>
          <a:p>
            <a:pPr algn="l">
              <a:lnSpc>
                <a:spcPct val="108000"/>
              </a:lnSpc>
            </a:pPr>
            <a:r>
              <a:rPr sz="1250" b="0">
                <a:solidFill>
                  <a:srgbClr val="1B1B1F"/>
                </a:solidFill>
                <a:latin typeface="Calibri"/>
              </a:rPr>
              <a:t>Nothing in the base paper.</a:t>
            </a:r>
          </a:p>
          <a:p>
            <a:pPr algn="l">
              <a:lnSpc>
                <a:spcPct val="108000"/>
              </a:lnSpc>
            </a:pPr>
            <a:r>
              <a:rPr sz="1250" b="0">
                <a:solidFill>
                  <a:srgbClr val="1B1B1F"/>
                </a:solidFill>
                <a:latin typeface="Calibri"/>
              </a:rPr>
              <a:t/>
            </a:r>
          </a:p>
          <a:p>
            <a:pPr algn="l">
              <a:lnSpc>
                <a:spcPct val="108000"/>
              </a:lnSpc>
            </a:pPr>
            <a:r>
              <a:rPr sz="1250" b="0">
                <a:solidFill>
                  <a:srgbClr val="1B1B1F"/>
                </a:solidFill>
                <a:latin typeface="Calibri"/>
              </a:rPr>
              <a:t>Two predictions from our own plan deck:</a:t>
            </a:r>
          </a:p>
          <a:p>
            <a:pPr algn="l">
              <a:lnSpc>
                <a:spcPct val="108000"/>
              </a:lnSpc>
            </a:pPr>
            <a:r>
              <a:rPr sz="1250" b="0">
                <a:solidFill>
                  <a:srgbClr val="1B1B1F"/>
                </a:solidFill>
                <a:latin typeface="Calibri"/>
              </a:rPr>
              <a:t/>
            </a:r>
          </a:p>
          <a:p>
            <a:pPr algn="l">
              <a:lnSpc>
                <a:spcPct val="108000"/>
              </a:lnSpc>
            </a:pPr>
            <a:r>
              <a:rPr sz="1250" b="0">
                <a:solidFill>
                  <a:srgbClr val="1B1B1F"/>
                </a:solidFill>
                <a:latin typeface="Calibri"/>
              </a:rPr>
              <a:t>• 'Adversarial training is higher-variance' — inverted</a:t>
            </a:r>
          </a:p>
          <a:p>
            <a:pPr algn="l">
              <a:lnSpc>
                <a:spcPct val="108000"/>
              </a:lnSpc>
            </a:pPr>
            <a:r>
              <a:rPr sz="1250" b="0">
                <a:solidFill>
                  <a:srgbClr val="1B1B1F"/>
                </a:solidFill>
                <a:latin typeface="Calibri"/>
              </a:rPr>
              <a:t>• 'SHAP will show proxy reliance shrinking' — it grew</a:t>
            </a:r>
          </a:p>
          <a:p>
            <a:pPr algn="l">
              <a:lnSpc>
                <a:spcPct val="108000"/>
              </a:lnSpc>
            </a:pPr>
            <a:r>
              <a:rPr sz="1250" b="0">
                <a:solidFill>
                  <a:srgbClr val="1B1B1F"/>
                </a:solidFill>
                <a:latin typeface="Calibri"/>
              </a:rPr>
              <a:t/>
            </a:r>
          </a:p>
          <a:p>
            <a:pPr algn="l">
              <a:lnSpc>
                <a:spcPct val="108000"/>
              </a:lnSpc>
            </a:pPr>
            <a:r>
              <a:rPr sz="1250" b="0">
                <a:solidFill>
                  <a:srgbClr val="1B1B1F"/>
                </a:solidFill>
                <a:latin typeface="Calibri"/>
              </a:rPr>
              <a:t>We published our own wrong guesses.</a:t>
            </a:r>
          </a:p>
        </p:txBody>
      </p:sp>
      <p:sp>
        <p:nvSpPr>
          <p:cNvPr id="13" name="Rounded Rectangle 12"/>
          <p:cNvSpPr/>
          <p:nvPr/>
        </p:nvSpPr>
        <p:spPr>
          <a:xfrm>
            <a:off x="640080" y="5532120"/>
            <a:ext cx="10881360" cy="1005840"/>
          </a:xfrm>
          <a:prstGeom prst="roundRect">
            <a:avLst>
              <a:gd name="adj" fmla="val 4000"/>
            </a:avLst>
          </a:prstGeom>
          <a:solidFill>
            <a:srgbClr val="1E2761"/>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5669280"/>
            <a:ext cx="10332720" cy="777240"/>
          </a:xfrm>
          <a:prstGeom prst="rect">
            <a:avLst/>
          </a:prstGeom>
          <a:noFill/>
        </p:spPr>
        <p:txBody>
          <a:bodyPr wrap="square">
            <a:spAutoFit/>
          </a:bodyPr>
          <a:lstStyle/>
          <a:p>
            <a:pPr algn="l">
              <a:lnSpc>
                <a:spcPct val="105000"/>
              </a:lnSpc>
            </a:pPr>
            <a:r>
              <a:rPr sz="1400" b="1">
                <a:solidFill>
                  <a:srgbClr val="FFFFFF"/>
                </a:solidFill>
                <a:latin typeface="Calibri"/>
              </a:rPr>
              <a:t>The base paper's method works as claimed. This project confirms it, then measures what it does not tell you: the gap closes mostly by withdrawing approvals from the advantaged group, and the constrained model relies on proxies for the protected attribute more than the unconstrained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1097</Words>
  <Application>Microsoft Office PowerPoint</Application>
  <PresentationFormat>Widescreen</PresentationFormat>
  <Paragraphs>149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Dheirav Prakash</cp:lastModifiedBy>
  <cp:revision>2</cp:revision>
  <dcterms:created xsi:type="dcterms:W3CDTF">2026-08-11T07:36:30Z</dcterms:created>
  <dcterms:modified xsi:type="dcterms:W3CDTF">2026-08-11T08:43:30Z</dcterms:modified>
</cp:coreProperties>
</file>